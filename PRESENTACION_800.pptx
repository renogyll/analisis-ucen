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B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93" r:id="rId6"/>
    <p:sldId id="267" r:id="rId7"/>
    <p:sldId id="260" r:id="rId8"/>
    <p:sldId id="264" r:id="rId9"/>
    <p:sldId id="262" r:id="rId10"/>
    <p:sldId id="272" r:id="rId11"/>
    <p:sldId id="261" r:id="rId12"/>
    <p:sldId id="263" r:id="rId13"/>
    <p:sldId id="271" r:id="rId14"/>
    <p:sldId id="273" r:id="rId15"/>
    <p:sldId id="274" r:id="rId16"/>
    <p:sldId id="266" r:id="rId17"/>
    <p:sldId id="268" r:id="rId18"/>
    <p:sldId id="269" r:id="rId19"/>
    <p:sldId id="270" r:id="rId20"/>
    <p:sldId id="276" r:id="rId21"/>
    <p:sldId id="281" r:id="rId22"/>
    <p:sldId id="275" r:id="rId23"/>
    <p:sldId id="278" r:id="rId24"/>
    <p:sldId id="280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2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DDB102D-7329-939D-DE83-0589266BB995}" name="Daniela Prieto" initials="DP" userId="6ea9a3ad0f1c58a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5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omments/modernComment_10B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593ACAC-1CEA-4007-BAF1-6D29FA8145B7}" authorId="{5DDB102D-7329-939D-DE83-0589266BB995}" created="2026-07-18T19:43:50.561">
    <pc:sldMkLst xmlns:pc="http://schemas.microsoft.com/office/powerpoint/2013/main/command">
      <pc:docMk/>
      <pc:sldMk cId="0" sldId="267"/>
    </pc:sldMkLst>
    <p188:txBody>
      <a:bodyPr/>
      <a:lstStyle/>
      <a:p>
        <a:r>
          <a:rPr lang="es-CL"/>
          <a:t>Reemplazar taller por inicitaiva de formación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B_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01_di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581" y="2440000"/>
            <a:ext cx="10599174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Resultados del Perfeccionamiento Docente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581" y="2980000"/>
            <a:ext cx="10599174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700" dirty="0">
                <a:solidFill>
                  <a:srgbClr val="C8DCF0"/>
                </a:solidFill>
              </a:rPr>
              <a:t>Análisis de Incidencia: Satisfacción, Rendimiento y Desempeño Docente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581" y="3440000"/>
            <a:ext cx="105991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 dirty="0" err="1">
                <a:solidFill>
                  <a:srgbClr val="C8DCF0"/>
                </a:solidFill>
              </a:rPr>
              <a:t>Período</a:t>
            </a:r>
            <a:r>
              <a:rPr sz="1200" b="0" i="1" dirty="0">
                <a:solidFill>
                  <a:srgbClr val="C8DCF0"/>
                </a:solidFill>
              </a:rPr>
              <a:t> 2022–2025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581" y="5200000"/>
            <a:ext cx="105991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</a:rPr>
              <a:t>Universidad Central de Chile  |  </a:t>
            </a:r>
            <a:r>
              <a:rPr sz="1200" b="1" i="0" dirty="0" err="1">
                <a:solidFill>
                  <a:srgbClr val="FFFFFF"/>
                </a:solidFill>
              </a:rPr>
              <a:t>Producto</a:t>
            </a:r>
            <a:r>
              <a:rPr sz="1200" b="1" i="0" dirty="0">
                <a:solidFill>
                  <a:srgbClr val="FFFFFF"/>
                </a:solidFill>
              </a:rPr>
              <a:t> 3: </a:t>
            </a:r>
            <a:r>
              <a:rPr sz="1200" b="1" i="0" dirty="0" err="1">
                <a:solidFill>
                  <a:srgbClr val="FFFFFF"/>
                </a:solidFill>
              </a:rPr>
              <a:t>Análisis</a:t>
            </a:r>
            <a:r>
              <a:rPr sz="1200" b="1" i="0" dirty="0">
                <a:solidFill>
                  <a:srgbClr val="FFFFFF"/>
                </a:solidFill>
              </a:rPr>
              <a:t> de </a:t>
            </a:r>
            <a:r>
              <a:rPr sz="1200" b="1" i="0" dirty="0" err="1">
                <a:solidFill>
                  <a:srgbClr val="FFFFFF"/>
                </a:solidFill>
              </a:rPr>
              <a:t>Formación</a:t>
            </a:r>
            <a:r>
              <a:rPr sz="1200" b="1" i="0" dirty="0">
                <a:solidFill>
                  <a:srgbClr val="FFFFFF"/>
                </a:solidFill>
              </a:rPr>
              <a:t> e </a:t>
            </a:r>
            <a:r>
              <a:rPr sz="1200" b="1" i="0" dirty="0" err="1">
                <a:solidFill>
                  <a:srgbClr val="FFFFFF"/>
                </a:solidFill>
              </a:rPr>
              <a:t>Innovación</a:t>
            </a:r>
            <a:endParaRPr lang="es-CL" sz="1200" b="1" i="0" dirty="0">
              <a:solidFill>
                <a:srgbClr val="FFFFFF"/>
              </a:solidFill>
            </a:endParaRPr>
          </a:p>
          <a:p>
            <a:pPr algn="ctr"/>
            <a:r>
              <a:rPr lang="es-CL" sz="1200" b="1" dirty="0">
                <a:solidFill>
                  <a:srgbClr val="FFFFFF"/>
                </a:solidFill>
              </a:rPr>
              <a:t>Julio 2026</a:t>
            </a:r>
            <a:endParaRPr sz="1200" b="1" i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6581" y="185000"/>
            <a:ext cx="10599174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Universo de </a:t>
            </a:r>
            <a:r>
              <a:rPr sz="2000" b="1" i="0" dirty="0" err="1">
                <a:solidFill>
                  <a:srgbClr val="FFFFFF"/>
                </a:solidFill>
              </a:rPr>
              <a:t>Análisis</a:t>
            </a:r>
            <a:r>
              <a:rPr sz="2000" b="1" i="0" dirty="0">
                <a:solidFill>
                  <a:srgbClr val="FFFFFF"/>
                </a:solidFill>
              </a:rPr>
              <a:t> y </a:t>
            </a:r>
            <a:r>
              <a:rPr sz="2000" b="1" i="0" dirty="0" err="1">
                <a:solidFill>
                  <a:srgbClr val="FFFFFF"/>
                </a:solidFill>
              </a:rPr>
              <a:t>Metodología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86581" y="845000"/>
            <a:ext cx="900000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8DCF0"/>
                </a:solidFill>
              </a:rPr>
              <a:t>Universo base: 941 docentes jerarquizados UCEN  ·  los 210 Aptos P3 son el subconjunto analizado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926581" y="1405000"/>
            <a:ext cx="5119587" cy="1660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6581" y="1443000"/>
            <a:ext cx="5039587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ABC4"/>
                </a:solidFill>
              </a:rPr>
              <a:t>1. Universo Aptos P3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6581" y="1765000"/>
            <a:ext cx="5039587" cy="1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941 docentes jerarquizados UCEN (universo base)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FFFFF"/>
                </a:solidFill>
              </a:rPr>
              <a:t>• 419 participaron en ≥1 iniciativa de formación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FFFFF"/>
                </a:solidFill>
              </a:rPr>
              <a:t>• 210 Aptos P3: SAT válido en baseline y resultado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FFFFF"/>
                </a:solidFill>
              </a:rPr>
              <a:t>• Todos los 210 son formados (no hay control interno)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168" y="1405000"/>
            <a:ext cx="5119587" cy="1660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66168" y="1443000"/>
            <a:ext cx="5039587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ABC4"/>
                </a:solidFill>
              </a:rPr>
              <a:t>2. Marco Metodológico — Z-score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66168" y="1765000"/>
            <a:ext cx="5039587" cy="1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z = (SAT docente − media facultad-período) / DE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FFFFF"/>
                </a:solidFill>
              </a:rPr>
              <a:t>• z = 0 → promedio exacto de su facultad ese semestre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FFFFF"/>
                </a:solidFill>
              </a:rPr>
              <a:t>• z &gt; 0 → sobre el promedio   ·   z &lt; 0 → bajo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FFFFF"/>
                </a:solidFill>
              </a:rPr>
              <a:t>• Compara docentes entre facultades distintas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6581" y="3115000"/>
            <a:ext cx="5119587" cy="1660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6581" y="3153000"/>
            <a:ext cx="5039587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ABC4"/>
                </a:solidFill>
              </a:rPr>
              <a:t>3. Métricas de Evaluación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6581" y="3475000"/>
            <a:ext cx="5039587" cy="1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SAT Nota (1–7) estandarizada como z-score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FFFFF"/>
                </a:solidFill>
              </a:rPr>
              <a:t>• SAT % Recomendación: ¿recomendaría a este docente?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FFFFF"/>
                </a:solidFill>
              </a:rPr>
              <a:t>• EDD: Evaluación de Desempeño Docente (escala 0–1)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FFFFF"/>
                </a:solidFill>
              </a:rPr>
              <a:t>• Notas y aprobación alumnos: % nota ≥ 4.0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168" y="3115000"/>
            <a:ext cx="5119587" cy="1660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66168" y="3153000"/>
            <a:ext cx="5039587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ABC4"/>
                </a:solidFill>
              </a:rPr>
              <a:t>4. Tipos de Formación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6168" y="3475000"/>
            <a:ext cx="5039587" cy="1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Taller (corta duración, 1 semestre)  n=154 puros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FFFFF"/>
                </a:solidFill>
              </a:rPr>
              <a:t>• Diplomado (larga duración, 2+ semestres)  n=27 puros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FFFFF"/>
                </a:solidFill>
              </a:rPr>
              <a:t>• Proyecto de Innovación Docente  n=3 puros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FFFFF"/>
                </a:solidFill>
              </a:rPr>
              <a:t>• Participación Mixta (T+D, T+P): 13 docentes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3820" y="10456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6581" y="185000"/>
            <a:ext cx="10599174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Índice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581" y="975440"/>
            <a:ext cx="90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 err="1">
                <a:solidFill>
                  <a:schemeClr val="bg1"/>
                </a:solidFill>
              </a:rPr>
              <a:t>Estructura</a:t>
            </a:r>
            <a:r>
              <a:rPr sz="1200" b="0" i="1" dirty="0">
                <a:solidFill>
                  <a:schemeClr val="bg1"/>
                </a:solidFill>
              </a:rPr>
              <a:t> del </a:t>
            </a:r>
            <a:r>
              <a:rPr lang="es-CL" sz="1200" i="1" dirty="0">
                <a:solidFill>
                  <a:schemeClr val="bg1"/>
                </a:solidFill>
              </a:rPr>
              <a:t>I</a:t>
            </a:r>
            <a:r>
              <a:rPr sz="1200" b="0" i="1" dirty="0" err="1">
                <a:solidFill>
                  <a:schemeClr val="bg1"/>
                </a:solidFill>
              </a:rPr>
              <a:t>nforme</a:t>
            </a:r>
            <a:r>
              <a:rPr sz="1200" b="0" i="1" dirty="0">
                <a:solidFill>
                  <a:schemeClr val="bg1"/>
                </a:solidFill>
              </a:rPr>
              <a:t> — 34 </a:t>
            </a:r>
            <a:r>
              <a:rPr sz="1200" b="0" i="1" dirty="0" err="1">
                <a:solidFill>
                  <a:schemeClr val="bg1"/>
                </a:solidFill>
              </a:rPr>
              <a:t>diapositivas</a:t>
            </a:r>
            <a:endParaRPr sz="1200" b="0" i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96121" y="2050760"/>
            <a:ext cx="10519174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</a:rPr>
              <a:t>I.    Clasificación del Cuerpo </a:t>
            </a:r>
            <a:r>
              <a:rPr sz="1400" b="0" i="0" dirty="0" err="1">
                <a:solidFill>
                  <a:srgbClr val="FFFFFF"/>
                </a:solidFill>
              </a:rPr>
              <a:t>Académico</a:t>
            </a:r>
            <a:r>
              <a:rPr sz="1400" b="0" i="0" dirty="0">
                <a:solidFill>
                  <a:srgbClr val="FFFFFF"/>
                </a:solidFill>
              </a:rPr>
              <a:t>  —  edad, </a:t>
            </a:r>
            <a:r>
              <a:rPr sz="1400" b="0" i="0" dirty="0" err="1">
                <a:solidFill>
                  <a:srgbClr val="FFFFFF"/>
                </a:solidFill>
              </a:rPr>
              <a:t>sexo</a:t>
            </a:r>
            <a:r>
              <a:rPr sz="1400" b="0" i="0" dirty="0">
                <a:solidFill>
                  <a:srgbClr val="FFFFFF"/>
                </a:solidFill>
              </a:rPr>
              <a:t>, </a:t>
            </a:r>
            <a:r>
              <a:rPr sz="1400" b="0" i="0" dirty="0" err="1">
                <a:solidFill>
                  <a:srgbClr val="FFFFFF"/>
                </a:solidFill>
              </a:rPr>
              <a:t>facultad</a:t>
            </a:r>
            <a:r>
              <a:rPr sz="1400" b="0" i="0" dirty="0">
                <a:solidFill>
                  <a:srgbClr val="FFFFFF"/>
                </a:solidFill>
              </a:rPr>
              <a:t>, </a:t>
            </a:r>
            <a:r>
              <a:rPr sz="1400" b="0" i="0" dirty="0" err="1">
                <a:solidFill>
                  <a:srgbClr val="FFFFFF"/>
                </a:solidFill>
              </a:rPr>
              <a:t>jerarquía</a:t>
            </a:r>
            <a:r>
              <a:rPr sz="1400" b="0" i="0" dirty="0">
                <a:solidFill>
                  <a:srgbClr val="FFFFFF"/>
                </a:solidFill>
              </a:rPr>
              <a:t>, </a:t>
            </a:r>
            <a:r>
              <a:rPr sz="1400" b="0" i="0" dirty="0" err="1">
                <a:solidFill>
                  <a:srgbClr val="FFFFFF"/>
                </a:solidFill>
              </a:rPr>
              <a:t>grado</a:t>
            </a:r>
            <a:r>
              <a:rPr sz="1400" b="0" i="0" dirty="0">
                <a:solidFill>
                  <a:srgbClr val="FFFFFF"/>
                </a:solidFill>
              </a:rPr>
              <a:t>  (n=210)</a:t>
            </a:r>
          </a:p>
          <a:p>
            <a:pPr algn="l">
              <a:spcBef>
                <a:spcPts val="600"/>
              </a:spcBef>
            </a:pPr>
            <a:r>
              <a:rPr sz="1400" b="0" i="0" dirty="0">
                <a:solidFill>
                  <a:srgbClr val="FFFFFF"/>
                </a:solidFill>
              </a:rPr>
              <a:t>II.   </a:t>
            </a:r>
            <a:r>
              <a:rPr sz="1400" b="0" i="0" dirty="0" err="1">
                <a:solidFill>
                  <a:srgbClr val="FFFFFF"/>
                </a:solidFill>
              </a:rPr>
              <a:t>Evaluación</a:t>
            </a:r>
            <a:r>
              <a:rPr sz="1400" b="0" i="0" dirty="0">
                <a:solidFill>
                  <a:srgbClr val="FFFFFF"/>
                </a:solidFill>
              </a:rPr>
              <a:t> </a:t>
            </a:r>
            <a:r>
              <a:rPr sz="1400" b="0" i="0" dirty="0" err="1">
                <a:solidFill>
                  <a:srgbClr val="FFFFFF"/>
                </a:solidFill>
              </a:rPr>
              <a:t>Docente</a:t>
            </a:r>
            <a:r>
              <a:rPr sz="1400" b="0" i="0" dirty="0">
                <a:solidFill>
                  <a:srgbClr val="FFFFFF"/>
                </a:solidFill>
              </a:rPr>
              <a:t> SAT — Antes y </a:t>
            </a:r>
            <a:r>
              <a:rPr sz="1400" b="0" i="0" dirty="0" err="1">
                <a:solidFill>
                  <a:srgbClr val="FFFFFF"/>
                </a:solidFill>
              </a:rPr>
              <a:t>Después</a:t>
            </a:r>
            <a:r>
              <a:rPr sz="1400" b="0" i="0" dirty="0">
                <a:solidFill>
                  <a:srgbClr val="FFFFFF"/>
                </a:solidFill>
              </a:rPr>
              <a:t>  (n=210 </a:t>
            </a:r>
            <a:r>
              <a:rPr sz="1400" b="0" i="0" dirty="0" err="1">
                <a:solidFill>
                  <a:srgbClr val="FFFFFF"/>
                </a:solidFill>
              </a:rPr>
              <a:t>formados</a:t>
            </a:r>
            <a:r>
              <a:rPr sz="1400" b="0" i="0" dirty="0">
                <a:solidFill>
                  <a:srgbClr val="FFFFFF"/>
                </a:solidFill>
              </a:rPr>
              <a:t>  ·  control </a:t>
            </a:r>
            <a:r>
              <a:rPr sz="1400" b="0" i="0" dirty="0" err="1">
                <a:solidFill>
                  <a:srgbClr val="FFFFFF"/>
                </a:solidFill>
              </a:rPr>
              <a:t>externo</a:t>
            </a:r>
            <a:r>
              <a:rPr sz="1400" b="0" i="0" dirty="0">
                <a:solidFill>
                  <a:srgbClr val="FFFFFF"/>
                </a:solidFill>
              </a:rPr>
              <a:t>)</a:t>
            </a:r>
          </a:p>
          <a:p>
            <a:pPr algn="l">
              <a:spcBef>
                <a:spcPts val="600"/>
              </a:spcBef>
            </a:pPr>
            <a:r>
              <a:rPr sz="1400" b="0" i="0" dirty="0">
                <a:solidFill>
                  <a:srgbClr val="FFFFFF"/>
                </a:solidFill>
              </a:rPr>
              <a:t>      2.1  Caracterización de la </a:t>
            </a:r>
            <a:r>
              <a:rPr sz="1400" b="0" i="0" dirty="0" err="1">
                <a:solidFill>
                  <a:srgbClr val="FFFFFF"/>
                </a:solidFill>
              </a:rPr>
              <a:t>formación</a:t>
            </a:r>
            <a:r>
              <a:rPr sz="1400" b="0" i="0" dirty="0">
                <a:solidFill>
                  <a:srgbClr val="FFFFFF"/>
                </a:solidFill>
              </a:rPr>
              <a:t>  (</a:t>
            </a:r>
            <a:r>
              <a:rPr sz="1400" b="0" i="0" dirty="0" err="1">
                <a:solidFill>
                  <a:srgbClr val="FFFFFF"/>
                </a:solidFill>
              </a:rPr>
              <a:t>tipo</a:t>
            </a:r>
            <a:r>
              <a:rPr sz="1400" b="0" i="0" dirty="0">
                <a:solidFill>
                  <a:srgbClr val="FFFFFF"/>
                </a:solidFill>
              </a:rPr>
              <a:t>, </a:t>
            </a:r>
            <a:r>
              <a:rPr sz="1400" b="0" i="0" dirty="0" err="1">
                <a:solidFill>
                  <a:srgbClr val="FFFFFF"/>
                </a:solidFill>
              </a:rPr>
              <a:t>jerarquía</a:t>
            </a:r>
            <a:r>
              <a:rPr sz="1400" b="0" i="0" dirty="0">
                <a:solidFill>
                  <a:srgbClr val="FFFFFF"/>
                </a:solidFill>
              </a:rPr>
              <a:t>, </a:t>
            </a:r>
            <a:r>
              <a:rPr sz="1400" b="0" i="0" dirty="0" err="1">
                <a:solidFill>
                  <a:srgbClr val="FFFFFF"/>
                </a:solidFill>
              </a:rPr>
              <a:t>antigüedad</a:t>
            </a:r>
            <a:r>
              <a:rPr sz="1400" b="0" i="0" dirty="0">
                <a:solidFill>
                  <a:srgbClr val="FFFFFF"/>
                </a:solidFill>
              </a:rPr>
              <a:t>, </a:t>
            </a:r>
            <a:r>
              <a:rPr sz="1400" b="0" i="0" dirty="0" err="1">
                <a:solidFill>
                  <a:srgbClr val="FFFFFF"/>
                </a:solidFill>
              </a:rPr>
              <a:t>intensidad</a:t>
            </a:r>
            <a:r>
              <a:rPr sz="1400" b="0" i="0" dirty="0">
                <a:solidFill>
                  <a:srgbClr val="FFFFFF"/>
                </a:solidFill>
              </a:rPr>
              <a:t>)</a:t>
            </a:r>
          </a:p>
          <a:p>
            <a:pPr algn="l">
              <a:spcBef>
                <a:spcPts val="600"/>
              </a:spcBef>
            </a:pPr>
            <a:r>
              <a:rPr sz="1400" b="0" i="0" dirty="0">
                <a:solidFill>
                  <a:srgbClr val="FFFFFF"/>
                </a:solidFill>
              </a:rPr>
              <a:t>      2.2  Impacto </a:t>
            </a:r>
            <a:r>
              <a:rPr sz="1400" b="0" i="0" dirty="0" err="1">
                <a:solidFill>
                  <a:srgbClr val="FFFFFF"/>
                </a:solidFill>
              </a:rPr>
              <a:t>en</a:t>
            </a:r>
            <a:r>
              <a:rPr sz="1400" b="0" i="0" dirty="0">
                <a:solidFill>
                  <a:srgbClr val="FFFFFF"/>
                </a:solidFill>
              </a:rPr>
              <a:t> SAT z-score (6 </a:t>
            </a:r>
            <a:r>
              <a:rPr sz="1400" b="0" i="0" dirty="0" err="1">
                <a:solidFill>
                  <a:srgbClr val="FFFFFF"/>
                </a:solidFill>
              </a:rPr>
              <a:t>períodos</a:t>
            </a:r>
            <a:r>
              <a:rPr sz="1400" b="0" i="0" dirty="0">
                <a:solidFill>
                  <a:srgbClr val="FFFFFF"/>
                </a:solidFill>
              </a:rPr>
              <a:t>)  ·  </a:t>
            </a:r>
            <a:r>
              <a:rPr sz="1400" b="0" i="0" dirty="0" err="1">
                <a:solidFill>
                  <a:srgbClr val="FFFFFF"/>
                </a:solidFill>
              </a:rPr>
              <a:t>Formados</a:t>
            </a:r>
            <a:r>
              <a:rPr sz="1400" b="0" i="0" dirty="0">
                <a:solidFill>
                  <a:srgbClr val="FFFFFF"/>
                </a:solidFill>
              </a:rPr>
              <a:t> vs Control</a:t>
            </a:r>
          </a:p>
          <a:p>
            <a:pPr algn="l">
              <a:spcBef>
                <a:spcPts val="600"/>
              </a:spcBef>
            </a:pPr>
            <a:r>
              <a:rPr sz="1400" b="0" i="0" dirty="0">
                <a:solidFill>
                  <a:srgbClr val="FFFFFF"/>
                </a:solidFill>
              </a:rPr>
              <a:t>      2.3  SAT </a:t>
            </a:r>
            <a:r>
              <a:rPr sz="1400" b="0" i="0" dirty="0" err="1">
                <a:solidFill>
                  <a:srgbClr val="FFFFFF"/>
                </a:solidFill>
              </a:rPr>
              <a:t>por</a:t>
            </a:r>
            <a:r>
              <a:rPr sz="1400" b="0" i="0" dirty="0">
                <a:solidFill>
                  <a:srgbClr val="FFFFFF"/>
                </a:solidFill>
              </a:rPr>
              <a:t> </a:t>
            </a:r>
            <a:r>
              <a:rPr sz="1400" b="0" i="0" dirty="0" err="1">
                <a:solidFill>
                  <a:srgbClr val="FFFFFF"/>
                </a:solidFill>
              </a:rPr>
              <a:t>Facultad</a:t>
            </a:r>
            <a:r>
              <a:rPr sz="1400" b="0" i="0" dirty="0">
                <a:solidFill>
                  <a:srgbClr val="FFFFFF"/>
                </a:solidFill>
              </a:rPr>
              <a:t>  ·  </a:t>
            </a:r>
            <a:r>
              <a:rPr sz="1400" b="0" i="0" dirty="0" err="1">
                <a:solidFill>
                  <a:srgbClr val="FFFFFF"/>
                </a:solidFill>
              </a:rPr>
              <a:t>Histograma</a:t>
            </a:r>
            <a:r>
              <a:rPr sz="1400" b="0" i="0" dirty="0">
                <a:solidFill>
                  <a:srgbClr val="FFFFFF"/>
                </a:solidFill>
              </a:rPr>
              <a:t> </a:t>
            </a:r>
            <a:r>
              <a:rPr sz="1400" b="0" i="0" dirty="0" err="1">
                <a:solidFill>
                  <a:srgbClr val="FFFFFF"/>
                </a:solidFill>
              </a:rPr>
              <a:t>Δz</a:t>
            </a:r>
            <a:r>
              <a:rPr sz="1400" b="0" i="0" dirty="0">
                <a:solidFill>
                  <a:srgbClr val="FFFFFF"/>
                </a:solidFill>
              </a:rPr>
              <a:t>  ·  Cambio × </a:t>
            </a:r>
            <a:r>
              <a:rPr sz="1400" b="0" i="0" dirty="0" err="1">
                <a:solidFill>
                  <a:srgbClr val="FFFFFF"/>
                </a:solidFill>
              </a:rPr>
              <a:t>Antigüedad</a:t>
            </a:r>
            <a:endParaRPr sz="1400" b="0" i="0" dirty="0">
              <a:solidFill>
                <a:srgbClr val="FFFFFF"/>
              </a:solidFill>
            </a:endParaRPr>
          </a:p>
          <a:p>
            <a:pPr algn="l">
              <a:spcBef>
                <a:spcPts val="600"/>
              </a:spcBef>
            </a:pPr>
            <a:r>
              <a:rPr sz="1400" b="0" i="0" dirty="0">
                <a:solidFill>
                  <a:srgbClr val="FFFFFF"/>
                </a:solidFill>
              </a:rPr>
              <a:t>III.  </a:t>
            </a:r>
            <a:r>
              <a:rPr sz="1400" b="0" i="0" dirty="0" err="1">
                <a:solidFill>
                  <a:srgbClr val="FFFFFF"/>
                </a:solidFill>
              </a:rPr>
              <a:t>Aprobación</a:t>
            </a:r>
            <a:r>
              <a:rPr sz="1400" b="0" i="0" dirty="0">
                <a:solidFill>
                  <a:srgbClr val="FFFFFF"/>
                </a:solidFill>
              </a:rPr>
              <a:t> de </a:t>
            </a:r>
            <a:r>
              <a:rPr sz="1400" b="0" i="0" dirty="0" err="1">
                <a:solidFill>
                  <a:srgbClr val="FFFFFF"/>
                </a:solidFill>
              </a:rPr>
              <a:t>Alumnos</a:t>
            </a:r>
            <a:r>
              <a:rPr sz="1400" b="0" i="0" dirty="0">
                <a:solidFill>
                  <a:srgbClr val="FFFFFF"/>
                </a:solidFill>
              </a:rPr>
              <a:t>  —  </a:t>
            </a:r>
            <a:r>
              <a:rPr sz="1400" b="0" i="0" dirty="0" err="1">
                <a:solidFill>
                  <a:srgbClr val="FFFFFF"/>
                </a:solidFill>
              </a:rPr>
              <a:t>formados</a:t>
            </a:r>
            <a:r>
              <a:rPr sz="1400" b="0" i="0" dirty="0">
                <a:solidFill>
                  <a:srgbClr val="FFFFFF"/>
                </a:solidFill>
              </a:rPr>
              <a:t> vs control  ·  </a:t>
            </a:r>
            <a:r>
              <a:rPr sz="1400" b="0" i="0" dirty="0" err="1">
                <a:solidFill>
                  <a:srgbClr val="FFFFFF"/>
                </a:solidFill>
              </a:rPr>
              <a:t>evolución</a:t>
            </a:r>
            <a:r>
              <a:rPr sz="1400" b="0" i="0" dirty="0">
                <a:solidFill>
                  <a:srgbClr val="FFFFFF"/>
                </a:solidFill>
              </a:rPr>
              <a:t>  ·  </a:t>
            </a:r>
            <a:r>
              <a:rPr sz="1400" b="0" i="0" dirty="0" err="1">
                <a:solidFill>
                  <a:srgbClr val="FFFFFF"/>
                </a:solidFill>
              </a:rPr>
              <a:t>perfil</a:t>
            </a:r>
            <a:r>
              <a:rPr sz="1400" b="0" i="0" dirty="0">
                <a:solidFill>
                  <a:srgbClr val="FFFFFF"/>
                </a:solidFill>
              </a:rPr>
              <a:t>  ·  </a:t>
            </a:r>
            <a:r>
              <a:rPr sz="1400" b="0" i="0" dirty="0" err="1">
                <a:solidFill>
                  <a:srgbClr val="FFFFFF"/>
                </a:solidFill>
              </a:rPr>
              <a:t>efecto</a:t>
            </a:r>
            <a:r>
              <a:rPr sz="1400" b="0" i="0" dirty="0">
                <a:solidFill>
                  <a:srgbClr val="FFFFFF"/>
                </a:solidFill>
              </a:rPr>
              <a:t> </a:t>
            </a:r>
            <a:r>
              <a:rPr sz="1400" b="0" i="0" dirty="0" err="1">
                <a:solidFill>
                  <a:srgbClr val="FFFFFF"/>
                </a:solidFill>
              </a:rPr>
              <a:t>acum</a:t>
            </a:r>
            <a:r>
              <a:rPr sz="1400" b="0" i="0" dirty="0">
                <a:solidFill>
                  <a:srgbClr val="FFFFFF"/>
                </a:solidFill>
              </a:rPr>
              <a:t>.</a:t>
            </a:r>
          </a:p>
          <a:p>
            <a:pPr algn="l">
              <a:spcBef>
                <a:spcPts val="600"/>
              </a:spcBef>
            </a:pPr>
            <a:r>
              <a:rPr sz="1400" b="0" i="0" dirty="0">
                <a:solidFill>
                  <a:srgbClr val="FFFFFF"/>
                </a:solidFill>
              </a:rPr>
              <a:t>IV.   </a:t>
            </a:r>
            <a:r>
              <a:rPr sz="1400" b="0" i="0" dirty="0" err="1">
                <a:solidFill>
                  <a:srgbClr val="FFFFFF"/>
                </a:solidFill>
              </a:rPr>
              <a:t>Evaluación</a:t>
            </a:r>
            <a:r>
              <a:rPr sz="1400" b="0" i="0" dirty="0">
                <a:solidFill>
                  <a:srgbClr val="FFFFFF"/>
                </a:solidFill>
              </a:rPr>
              <a:t> de </a:t>
            </a:r>
            <a:r>
              <a:rPr sz="1400" b="0" i="0" dirty="0" err="1">
                <a:solidFill>
                  <a:srgbClr val="FFFFFF"/>
                </a:solidFill>
              </a:rPr>
              <a:t>Desempeño</a:t>
            </a:r>
            <a:r>
              <a:rPr sz="1400" b="0" i="0" dirty="0">
                <a:solidFill>
                  <a:srgbClr val="FFFFFF"/>
                </a:solidFill>
              </a:rPr>
              <a:t> </a:t>
            </a:r>
            <a:r>
              <a:rPr sz="1400" b="0" i="0" dirty="0" err="1">
                <a:solidFill>
                  <a:srgbClr val="FFFFFF"/>
                </a:solidFill>
              </a:rPr>
              <a:t>Docente</a:t>
            </a:r>
            <a:r>
              <a:rPr sz="1400" b="0" i="0" dirty="0">
                <a:solidFill>
                  <a:srgbClr val="FFFFFF"/>
                </a:solidFill>
              </a:rPr>
              <a:t> (EDD)  —  </a:t>
            </a:r>
            <a:r>
              <a:rPr sz="1400" b="0" i="0" dirty="0" err="1">
                <a:solidFill>
                  <a:srgbClr val="FFFFFF"/>
                </a:solidFill>
              </a:rPr>
              <a:t>formados</a:t>
            </a:r>
            <a:r>
              <a:rPr sz="1400" b="0" i="0" dirty="0">
                <a:solidFill>
                  <a:srgbClr val="FFFFFF"/>
                </a:solidFill>
              </a:rPr>
              <a:t> vs control  ·  </a:t>
            </a:r>
            <a:r>
              <a:rPr sz="1400" b="0" i="0" dirty="0" err="1">
                <a:solidFill>
                  <a:srgbClr val="FFFFFF"/>
                </a:solidFill>
              </a:rPr>
              <a:t>evolución</a:t>
            </a:r>
            <a:r>
              <a:rPr sz="1400" b="0" i="0" dirty="0">
                <a:solidFill>
                  <a:srgbClr val="FFFFFF"/>
                </a:solidFill>
              </a:rPr>
              <a:t>  ·  </a:t>
            </a:r>
            <a:r>
              <a:rPr sz="1400" b="0" i="0" dirty="0" err="1">
                <a:solidFill>
                  <a:srgbClr val="FFFFFF"/>
                </a:solidFill>
              </a:rPr>
              <a:t>por</a:t>
            </a:r>
            <a:r>
              <a:rPr sz="1400" b="0" i="0" dirty="0">
                <a:solidFill>
                  <a:srgbClr val="FFFFFF"/>
                </a:solidFill>
              </a:rPr>
              <a:t> </a:t>
            </a:r>
            <a:r>
              <a:rPr sz="1400" b="0" i="0" dirty="0" err="1">
                <a:solidFill>
                  <a:srgbClr val="FFFFFF"/>
                </a:solidFill>
              </a:rPr>
              <a:t>tipo</a:t>
            </a:r>
            <a:endParaRPr sz="1400" b="0" i="0" dirty="0">
              <a:solidFill>
                <a:srgbClr val="FFFFFF"/>
              </a:solidFill>
            </a:endParaRPr>
          </a:p>
          <a:p>
            <a:pPr algn="l">
              <a:spcBef>
                <a:spcPts val="600"/>
              </a:spcBef>
            </a:pPr>
            <a:r>
              <a:rPr sz="1400" b="0" i="0" dirty="0">
                <a:solidFill>
                  <a:srgbClr val="FFFFFF"/>
                </a:solidFill>
              </a:rPr>
              <a:t>V. </a:t>
            </a:r>
            <a:r>
              <a:rPr lang="es-CL" sz="1400" dirty="0">
                <a:solidFill>
                  <a:srgbClr val="FFFFFF"/>
                </a:solidFill>
              </a:rPr>
              <a:t>   </a:t>
            </a:r>
            <a:r>
              <a:rPr sz="1400" b="0" i="0" dirty="0" err="1">
                <a:solidFill>
                  <a:srgbClr val="FFFFFF"/>
                </a:solidFill>
              </a:rPr>
              <a:t>Recomendaciones</a:t>
            </a:r>
            <a:endParaRPr sz="1400" b="0" i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6581" y="185000"/>
            <a:ext cx="10599174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BLOQUE I — Clasificación del Cuerpo Académico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581" y="845000"/>
            <a:ext cx="900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chemeClr val="bg1"/>
                </a:solidFill>
              </a:rPr>
              <a:t>Universo: 210 Aptos P3  ·  </a:t>
            </a:r>
            <a:r>
              <a:rPr lang="es-CL" sz="900" b="0" i="1" dirty="0">
                <a:solidFill>
                  <a:schemeClr val="bg1"/>
                </a:solidFill>
              </a:rPr>
              <a:t>T</a:t>
            </a:r>
            <a:r>
              <a:rPr sz="900" b="0" i="1" dirty="0" err="1">
                <a:solidFill>
                  <a:schemeClr val="bg1"/>
                </a:solidFill>
              </a:rPr>
              <a:t>odos</a:t>
            </a:r>
            <a:r>
              <a:rPr sz="900" b="0" i="1" dirty="0">
                <a:solidFill>
                  <a:schemeClr val="bg1"/>
                </a:solidFill>
              </a:rPr>
              <a:t> </a:t>
            </a:r>
            <a:r>
              <a:rPr lang="es-CL" sz="900" b="0" i="1" dirty="0">
                <a:solidFill>
                  <a:schemeClr val="bg1"/>
                </a:solidFill>
              </a:rPr>
              <a:t>F</a:t>
            </a:r>
            <a:r>
              <a:rPr sz="900" b="0" i="1" dirty="0" err="1">
                <a:solidFill>
                  <a:schemeClr val="bg1"/>
                </a:solidFill>
              </a:rPr>
              <a:t>ormados</a:t>
            </a:r>
            <a:r>
              <a:rPr sz="900" b="0" i="1" dirty="0">
                <a:solidFill>
                  <a:schemeClr val="bg1"/>
                </a:solidFill>
              </a:rPr>
              <a:t>  ·  Per</a:t>
            </a:r>
            <a:r>
              <a:rPr lang="es-CL" sz="900" i="1" dirty="0">
                <a:solidFill>
                  <a:schemeClr val="bg1"/>
                </a:solidFill>
              </a:rPr>
              <a:t>í</a:t>
            </a:r>
            <a:r>
              <a:rPr sz="900" b="0" i="1" dirty="0" err="1">
                <a:solidFill>
                  <a:schemeClr val="bg1"/>
                </a:solidFill>
              </a:rPr>
              <a:t>odo</a:t>
            </a:r>
            <a:r>
              <a:rPr sz="900" b="0" i="1" dirty="0">
                <a:solidFill>
                  <a:schemeClr val="bg1"/>
                </a:solidFill>
              </a:rPr>
              <a:t> 2022–2025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581" y="1685000"/>
            <a:ext cx="4593117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</a:rPr>
              <a:t>•   </a:t>
            </a:r>
            <a:r>
              <a:rPr sz="1400" b="0" i="0" dirty="0" err="1">
                <a:solidFill>
                  <a:srgbClr val="FFFFFF"/>
                </a:solidFill>
              </a:rPr>
              <a:t>Diapo</a:t>
            </a:r>
            <a:r>
              <a:rPr sz="1400" b="0" i="0" dirty="0">
                <a:solidFill>
                  <a:srgbClr val="FFFFFF"/>
                </a:solidFill>
              </a:rPr>
              <a:t> 05:   </a:t>
            </a:r>
            <a:r>
              <a:rPr sz="1400" b="0" i="0" dirty="0" err="1">
                <a:solidFill>
                  <a:srgbClr val="FFFFFF"/>
                </a:solidFill>
              </a:rPr>
              <a:t>Tramo</a:t>
            </a:r>
            <a:r>
              <a:rPr sz="1400" b="0" i="0" dirty="0">
                <a:solidFill>
                  <a:srgbClr val="FFFFFF"/>
                </a:solidFill>
              </a:rPr>
              <a:t> de Edad y </a:t>
            </a:r>
            <a:r>
              <a:rPr sz="1400" b="0" i="0" dirty="0" err="1">
                <a:solidFill>
                  <a:srgbClr val="FFFFFF"/>
                </a:solidFill>
              </a:rPr>
              <a:t>Sexo</a:t>
            </a:r>
            <a:r>
              <a:rPr sz="1400" b="0" i="0" dirty="0">
                <a:solidFill>
                  <a:srgbClr val="FFFFFF"/>
                </a:solidFill>
              </a:rPr>
              <a:t>  (</a:t>
            </a:r>
            <a:r>
              <a:rPr lang="es-CL" sz="1400" b="0" i="0" dirty="0" err="1">
                <a:solidFill>
                  <a:srgbClr val="FFFFFF"/>
                </a:solidFill>
              </a:rPr>
              <a:t>N°</a:t>
            </a:r>
            <a:r>
              <a:rPr sz="1400" b="0" i="0" dirty="0">
                <a:solidFill>
                  <a:srgbClr val="FFFFFF"/>
                </a:solidFill>
              </a:rPr>
              <a:t>=210)</a:t>
            </a:r>
          </a:p>
          <a:p>
            <a:pPr>
              <a:spcBef>
                <a:spcPts val="600"/>
              </a:spcBef>
            </a:pPr>
            <a:r>
              <a:rPr sz="1400" b="0" i="0" dirty="0">
                <a:solidFill>
                  <a:srgbClr val="FFFFFF"/>
                </a:solidFill>
              </a:rPr>
              <a:t>•   </a:t>
            </a:r>
            <a:r>
              <a:rPr sz="1400" b="0" i="0" dirty="0" err="1">
                <a:solidFill>
                  <a:srgbClr val="FFFFFF"/>
                </a:solidFill>
              </a:rPr>
              <a:t>Diapo</a:t>
            </a:r>
            <a:r>
              <a:rPr sz="1400" b="0" i="0" dirty="0">
                <a:solidFill>
                  <a:srgbClr val="FFFFFF"/>
                </a:solidFill>
              </a:rPr>
              <a:t> 06:   </a:t>
            </a:r>
            <a:r>
              <a:rPr sz="1400" b="0" i="0" dirty="0" err="1">
                <a:solidFill>
                  <a:srgbClr val="FFFFFF"/>
                </a:solidFill>
              </a:rPr>
              <a:t>Distribución</a:t>
            </a:r>
            <a:r>
              <a:rPr sz="1400" b="0" i="0" dirty="0">
                <a:solidFill>
                  <a:srgbClr val="FFFFFF"/>
                </a:solidFill>
              </a:rPr>
              <a:t> </a:t>
            </a:r>
            <a:r>
              <a:rPr sz="1400" b="0" i="0" dirty="0" err="1">
                <a:solidFill>
                  <a:srgbClr val="FFFFFF"/>
                </a:solidFill>
              </a:rPr>
              <a:t>por</a:t>
            </a:r>
            <a:r>
              <a:rPr sz="1400" b="0" i="0" dirty="0">
                <a:solidFill>
                  <a:srgbClr val="FFFFFF"/>
                </a:solidFill>
              </a:rPr>
              <a:t> </a:t>
            </a:r>
            <a:r>
              <a:rPr sz="1400" b="0" i="0" dirty="0" err="1">
                <a:solidFill>
                  <a:srgbClr val="FFFFFF"/>
                </a:solidFill>
              </a:rPr>
              <a:t>Facultad</a:t>
            </a:r>
            <a:r>
              <a:rPr sz="1400" b="0" i="0" dirty="0">
                <a:solidFill>
                  <a:srgbClr val="FFFFFF"/>
                </a:solidFill>
              </a:rPr>
              <a:t>/Unidad  (</a:t>
            </a:r>
            <a:r>
              <a:rPr lang="es-CL" sz="1400" dirty="0" err="1">
                <a:solidFill>
                  <a:srgbClr val="FFFFFF"/>
                </a:solidFill>
              </a:rPr>
              <a:t>N°</a:t>
            </a:r>
            <a:r>
              <a:rPr lang="es-CL" sz="1400" dirty="0">
                <a:solidFill>
                  <a:srgbClr val="FFFFFF"/>
                </a:solidFill>
              </a:rPr>
              <a:t> </a:t>
            </a:r>
            <a:r>
              <a:rPr sz="1400" b="0" i="0" dirty="0">
                <a:solidFill>
                  <a:srgbClr val="FFFFFF"/>
                </a:solidFill>
              </a:rPr>
              <a:t>=210)</a:t>
            </a:r>
          </a:p>
          <a:p>
            <a:pPr>
              <a:spcBef>
                <a:spcPts val="600"/>
              </a:spcBef>
            </a:pPr>
            <a:r>
              <a:rPr sz="1400" b="0" i="0" dirty="0">
                <a:solidFill>
                  <a:srgbClr val="FFFFFF"/>
                </a:solidFill>
              </a:rPr>
              <a:t>•   </a:t>
            </a:r>
            <a:r>
              <a:rPr sz="1400" b="0" i="0" dirty="0" err="1">
                <a:solidFill>
                  <a:srgbClr val="FFFFFF"/>
                </a:solidFill>
              </a:rPr>
              <a:t>Diapo</a:t>
            </a:r>
            <a:r>
              <a:rPr sz="1400" b="0" i="0" dirty="0">
                <a:solidFill>
                  <a:srgbClr val="FFFFFF"/>
                </a:solidFill>
              </a:rPr>
              <a:t> 07:   </a:t>
            </a:r>
            <a:r>
              <a:rPr sz="1400" b="0" i="0" dirty="0" err="1">
                <a:solidFill>
                  <a:srgbClr val="FFFFFF"/>
                </a:solidFill>
              </a:rPr>
              <a:t>Antigüedad</a:t>
            </a:r>
            <a:r>
              <a:rPr sz="1400" b="0" i="0" dirty="0">
                <a:solidFill>
                  <a:srgbClr val="FFFFFF"/>
                </a:solidFill>
              </a:rPr>
              <a:t> </a:t>
            </a:r>
            <a:r>
              <a:rPr sz="1400" b="0" i="0" dirty="0" err="1">
                <a:solidFill>
                  <a:srgbClr val="FFFFFF"/>
                </a:solidFill>
              </a:rPr>
              <a:t>en</a:t>
            </a:r>
            <a:r>
              <a:rPr sz="1400" b="0" i="0" dirty="0">
                <a:solidFill>
                  <a:srgbClr val="FFFFFF"/>
                </a:solidFill>
              </a:rPr>
              <a:t> la </a:t>
            </a:r>
            <a:r>
              <a:rPr sz="1400" b="0" i="0" dirty="0" err="1">
                <a:solidFill>
                  <a:srgbClr val="FFFFFF"/>
                </a:solidFill>
              </a:rPr>
              <a:t>Institución</a:t>
            </a:r>
            <a:r>
              <a:rPr sz="1400" b="0" i="0" dirty="0">
                <a:solidFill>
                  <a:srgbClr val="FFFFFF"/>
                </a:solidFill>
              </a:rPr>
              <a:t>  (</a:t>
            </a:r>
            <a:r>
              <a:rPr lang="es-CL" sz="1400" dirty="0" err="1">
                <a:solidFill>
                  <a:srgbClr val="FFFFFF"/>
                </a:solidFill>
              </a:rPr>
              <a:t>N°</a:t>
            </a:r>
            <a:r>
              <a:rPr sz="1400" b="0" i="0" dirty="0">
                <a:solidFill>
                  <a:srgbClr val="FFFFFF"/>
                </a:solidFill>
              </a:rPr>
              <a:t>=210)</a:t>
            </a:r>
          </a:p>
          <a:p>
            <a:pPr algn="l">
              <a:spcBef>
                <a:spcPts val="600"/>
              </a:spcBef>
            </a:pPr>
            <a:r>
              <a:rPr sz="1400" b="0" i="0" dirty="0">
                <a:solidFill>
                  <a:srgbClr val="FFFFFF"/>
                </a:solidFill>
              </a:rPr>
              <a:t>•   </a:t>
            </a:r>
            <a:r>
              <a:rPr sz="1400" b="0" i="0" dirty="0" err="1">
                <a:solidFill>
                  <a:srgbClr val="FFFFFF"/>
                </a:solidFill>
              </a:rPr>
              <a:t>Diapo</a:t>
            </a:r>
            <a:r>
              <a:rPr sz="1400" b="0" i="0" dirty="0">
                <a:solidFill>
                  <a:srgbClr val="FFFFFF"/>
                </a:solidFill>
              </a:rPr>
              <a:t> 08:   </a:t>
            </a:r>
            <a:r>
              <a:rPr sz="1400" b="0" i="0" dirty="0" err="1">
                <a:solidFill>
                  <a:srgbClr val="FFFFFF"/>
                </a:solidFill>
              </a:rPr>
              <a:t>Distribución</a:t>
            </a:r>
            <a:r>
              <a:rPr sz="1400" b="0" i="0" dirty="0">
                <a:solidFill>
                  <a:srgbClr val="FFFFFF"/>
                </a:solidFill>
              </a:rPr>
              <a:t> de </a:t>
            </a:r>
            <a:r>
              <a:rPr sz="1400" b="0" i="0" dirty="0" err="1">
                <a:solidFill>
                  <a:srgbClr val="FFFFFF"/>
                </a:solidFill>
              </a:rPr>
              <a:t>Jerarquía</a:t>
            </a:r>
            <a:r>
              <a:rPr sz="1400" b="0" i="0" dirty="0">
                <a:solidFill>
                  <a:srgbClr val="FFFFFF"/>
                </a:solidFill>
              </a:rPr>
              <a:t> </a:t>
            </a:r>
            <a:r>
              <a:rPr sz="1400" b="0" i="0" dirty="0" err="1">
                <a:solidFill>
                  <a:srgbClr val="FFFFFF"/>
                </a:solidFill>
              </a:rPr>
              <a:t>Académica</a:t>
            </a:r>
            <a:r>
              <a:rPr sz="1400" b="0" i="0" dirty="0">
                <a:solidFill>
                  <a:srgbClr val="FFFFFF"/>
                </a:solidFill>
              </a:rPr>
              <a:t>  (</a:t>
            </a:r>
            <a:r>
              <a:rPr lang="es-CL" sz="1400" b="0" i="0" dirty="0" err="1">
                <a:solidFill>
                  <a:srgbClr val="FFFFFF"/>
                </a:solidFill>
              </a:rPr>
              <a:t>N°</a:t>
            </a:r>
            <a:r>
              <a:rPr sz="1400" b="0" i="0" dirty="0">
                <a:solidFill>
                  <a:srgbClr val="FFFFFF"/>
                </a:solidFill>
              </a:rPr>
              <a:t>=210)</a:t>
            </a:r>
          </a:p>
          <a:p>
            <a:pPr algn="l">
              <a:spcBef>
                <a:spcPts val="600"/>
              </a:spcBef>
            </a:pPr>
            <a:r>
              <a:rPr sz="1400" b="0" i="0" dirty="0">
                <a:solidFill>
                  <a:srgbClr val="FFFFFF"/>
                </a:solidFill>
              </a:rPr>
              <a:t>•   </a:t>
            </a:r>
            <a:r>
              <a:rPr sz="1400" b="0" i="0" dirty="0" err="1">
                <a:solidFill>
                  <a:srgbClr val="FFFFFF"/>
                </a:solidFill>
              </a:rPr>
              <a:t>Diapo</a:t>
            </a:r>
            <a:r>
              <a:rPr sz="1400" b="0" i="0" dirty="0">
                <a:solidFill>
                  <a:srgbClr val="FFFFFF"/>
                </a:solidFill>
              </a:rPr>
              <a:t> 09:   Grado </a:t>
            </a:r>
            <a:r>
              <a:rPr sz="1400" b="0" i="0" dirty="0" err="1">
                <a:solidFill>
                  <a:srgbClr val="FFFFFF"/>
                </a:solidFill>
              </a:rPr>
              <a:t>Académico</a:t>
            </a:r>
            <a:r>
              <a:rPr sz="1400" b="0" i="0" dirty="0">
                <a:solidFill>
                  <a:srgbClr val="FFFFFF"/>
                </a:solidFill>
              </a:rPr>
              <a:t> </a:t>
            </a:r>
            <a:r>
              <a:rPr sz="1400" b="0" i="0" dirty="0" err="1">
                <a:solidFill>
                  <a:srgbClr val="FFFFFF"/>
                </a:solidFill>
              </a:rPr>
              <a:t>Reconocido</a:t>
            </a:r>
            <a:r>
              <a:rPr sz="1400" b="0" i="0" dirty="0">
                <a:solidFill>
                  <a:srgbClr val="FFFFFF"/>
                </a:solidFill>
              </a:rPr>
              <a:t>  (</a:t>
            </a:r>
            <a:r>
              <a:rPr lang="es-CL" sz="1400" dirty="0" err="1">
                <a:solidFill>
                  <a:srgbClr val="FFFFFF"/>
                </a:solidFill>
              </a:rPr>
              <a:t>N°</a:t>
            </a:r>
            <a:r>
              <a:rPr lang="es-CL" sz="1400" dirty="0">
                <a:solidFill>
                  <a:srgbClr val="FFFFFF"/>
                </a:solidFill>
              </a:rPr>
              <a:t>=</a:t>
            </a:r>
            <a:r>
              <a:rPr sz="1400" b="0" i="0" dirty="0">
                <a:solidFill>
                  <a:srgbClr val="FFFFFF"/>
                </a:solidFill>
              </a:rPr>
              <a:t> </a:t>
            </a:r>
            <a:r>
              <a:rPr sz="1400" b="0" i="0" dirty="0" err="1">
                <a:solidFill>
                  <a:srgbClr val="FFFFFF"/>
                </a:solidFill>
              </a:rPr>
              <a:t>varía</a:t>
            </a:r>
            <a:r>
              <a:rPr sz="1400" b="0" i="0" dirty="0">
                <a:solidFill>
                  <a:srgbClr val="FFFFFF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858FF08-7CC8-00C7-0519-A72CA04E47B6}"/>
              </a:ext>
            </a:extLst>
          </p:cNvPr>
          <p:cNvSpPr txBox="1"/>
          <p:nvPr/>
        </p:nvSpPr>
        <p:spPr>
          <a:xfrm>
            <a:off x="2933700" y="1021080"/>
            <a:ext cx="69418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INSERTAR UN VENN CON LOS NUEVOS NUMEROS, CUYOS UNIVERSOS CORRESPONDAN A CADA UNO, O SEA 1144 DESTACANDO QUE SON HONORARIO JORNADA, DENTRO DE ESO, APTOS P3, DENTRO DE ESO UNIVERSO DE SATISFACCIÓN, LUEGO UNIVERSO DE RENDIMIENTO ANTERIOR A APROBADOS, UNIVERSO DE EVALUACION DE DESEMPEÑO.</a:t>
            </a:r>
          </a:p>
        </p:txBody>
      </p:sp>
    </p:spTree>
    <p:extLst>
      <p:ext uri="{BB962C8B-B14F-4D97-AF65-F5344CB8AC3E}">
        <p14:creationId xmlns:p14="http://schemas.microsoft.com/office/powerpoint/2010/main" val="3921161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12_ven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581" y="185000"/>
            <a:ext cx="10599174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Tipos de Formación — Diagrama de Venn (n=210 Aptos P3)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581" y="845000"/>
            <a:ext cx="900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chemeClr val="bg1"/>
                </a:solidFill>
              </a:rPr>
              <a:t>Universo: 210 Aptos P3  ·  </a:t>
            </a:r>
            <a:r>
              <a:rPr lang="es-CL" sz="900" i="1" dirty="0">
                <a:solidFill>
                  <a:schemeClr val="bg1"/>
                </a:solidFill>
              </a:rPr>
              <a:t>T</a:t>
            </a:r>
            <a:r>
              <a:rPr sz="900" b="0" i="1" dirty="0" err="1">
                <a:solidFill>
                  <a:schemeClr val="bg1"/>
                </a:solidFill>
              </a:rPr>
              <a:t>odos</a:t>
            </a:r>
            <a:r>
              <a:rPr sz="900" b="0" i="1" dirty="0">
                <a:solidFill>
                  <a:schemeClr val="bg1"/>
                </a:solidFill>
              </a:rPr>
              <a:t> </a:t>
            </a:r>
            <a:r>
              <a:rPr lang="es-CL" sz="900" i="1" dirty="0">
                <a:solidFill>
                  <a:schemeClr val="bg1"/>
                </a:solidFill>
              </a:rPr>
              <a:t>F</a:t>
            </a:r>
            <a:r>
              <a:rPr sz="900" b="0" i="1" dirty="0" err="1">
                <a:solidFill>
                  <a:schemeClr val="bg1"/>
                </a:solidFill>
              </a:rPr>
              <a:t>ormados</a:t>
            </a:r>
            <a:r>
              <a:rPr sz="900" b="0" i="1" dirty="0">
                <a:solidFill>
                  <a:schemeClr val="bg1"/>
                </a:solidFill>
              </a:rPr>
              <a:t>  ·  Per</a:t>
            </a:r>
            <a:r>
              <a:rPr lang="es-CL" sz="900" b="0" i="1" dirty="0">
                <a:solidFill>
                  <a:schemeClr val="bg1"/>
                </a:solidFill>
              </a:rPr>
              <a:t>í</a:t>
            </a:r>
            <a:r>
              <a:rPr sz="900" b="0" i="1" dirty="0" err="1">
                <a:solidFill>
                  <a:schemeClr val="bg1"/>
                </a:solidFill>
              </a:rPr>
              <a:t>odo</a:t>
            </a:r>
            <a:r>
              <a:rPr lang="es-CL" sz="900" b="0" i="1" dirty="0">
                <a:solidFill>
                  <a:schemeClr val="bg1"/>
                </a:solidFill>
              </a:rPr>
              <a:t> </a:t>
            </a:r>
            <a:r>
              <a:rPr sz="900" b="0" i="1" dirty="0">
                <a:solidFill>
                  <a:schemeClr val="bg1"/>
                </a:solidFill>
              </a:rPr>
              <a:t>2022–2025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1541" y="1163000"/>
            <a:ext cx="92580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000" b="0" i="0" dirty="0">
                <a:solidFill>
                  <a:srgbClr val="FFFFFF"/>
                </a:solidFill>
              </a:rPr>
              <a:t>Los </a:t>
            </a:r>
            <a:r>
              <a:rPr sz="1000" b="0" i="0" dirty="0">
                <a:solidFill>
                  <a:srgbClr val="FFFFFF"/>
                </a:solidFill>
              </a:rPr>
              <a:t>210 </a:t>
            </a:r>
            <a:r>
              <a:rPr lang="es-CL" sz="1000" b="0" i="0" dirty="0">
                <a:solidFill>
                  <a:srgbClr val="FFFFFF"/>
                </a:solidFill>
              </a:rPr>
              <a:t>docentes </a:t>
            </a:r>
            <a:r>
              <a:rPr lang="es-CL" sz="1000" dirty="0">
                <a:solidFill>
                  <a:srgbClr val="FFFFFF"/>
                </a:solidFill>
              </a:rPr>
              <a:t>están </a:t>
            </a:r>
            <a:r>
              <a:rPr sz="1000" b="0" i="0" dirty="0" err="1">
                <a:solidFill>
                  <a:srgbClr val="FFFFFF"/>
                </a:solidFill>
              </a:rPr>
              <a:t>formados</a:t>
            </a:r>
            <a:r>
              <a:rPr sz="1000" b="0" i="0" dirty="0">
                <a:solidFill>
                  <a:srgbClr val="FFFFFF"/>
                </a:solidFill>
              </a:rPr>
              <a:t>  ·  </a:t>
            </a:r>
            <a:r>
              <a:rPr lang="es-CL" sz="1000" b="0" i="0" dirty="0">
                <a:solidFill>
                  <a:srgbClr val="FFFFFF"/>
                </a:solidFill>
              </a:rPr>
              <a:t>Oferta Formativa</a:t>
            </a:r>
            <a:r>
              <a:rPr sz="1000" b="0" i="0" dirty="0">
                <a:solidFill>
                  <a:srgbClr val="FFFFFF"/>
                </a:solidFill>
              </a:rPr>
              <a:t>: 177  ·  </a:t>
            </a:r>
            <a:r>
              <a:rPr sz="1000" b="0" i="0" dirty="0" err="1">
                <a:solidFill>
                  <a:srgbClr val="FFFFFF"/>
                </a:solidFill>
              </a:rPr>
              <a:t>Diplomado</a:t>
            </a:r>
            <a:r>
              <a:rPr sz="1000" b="0" i="0" dirty="0">
                <a:solidFill>
                  <a:srgbClr val="FFFFFF"/>
                </a:solidFill>
              </a:rPr>
              <a:t>: 39  ·  Proyecto: 7  ·  </a:t>
            </a:r>
            <a:r>
              <a:rPr sz="1000" b="0" i="0" dirty="0" err="1">
                <a:solidFill>
                  <a:srgbClr val="FFFFFF"/>
                </a:solidFill>
              </a:rPr>
              <a:t>Participación</a:t>
            </a:r>
            <a:r>
              <a:rPr sz="1000" b="0" i="0" dirty="0">
                <a:solidFill>
                  <a:srgbClr val="FFFFFF"/>
                </a:solidFill>
              </a:rPr>
              <a:t> Mixta: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581" y="4870000"/>
            <a:ext cx="10599174" cy="992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dirty="0">
                <a:solidFill>
                  <a:srgbClr val="FFFFFF"/>
                </a:solidFill>
              </a:rPr>
              <a:t>1.  </a:t>
            </a:r>
            <a:r>
              <a:rPr lang="es-CL" sz="1150" dirty="0">
                <a:solidFill>
                  <a:srgbClr val="FFFFFF"/>
                </a:solidFill>
              </a:rPr>
              <a:t>La oferta formativa </a:t>
            </a:r>
            <a:r>
              <a:rPr sz="1150" dirty="0">
                <a:solidFill>
                  <a:srgbClr val="FFFFFF"/>
                </a:solidFill>
              </a:rPr>
              <a:t>es la </a:t>
            </a:r>
            <a:r>
              <a:rPr sz="1150" dirty="0" err="1">
                <a:solidFill>
                  <a:srgbClr val="FFFFFF"/>
                </a:solidFill>
              </a:rPr>
              <a:t>modalidad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más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frecuente</a:t>
            </a:r>
            <a:r>
              <a:rPr sz="1150" dirty="0">
                <a:solidFill>
                  <a:srgbClr val="FFFFFF"/>
                </a:solidFill>
              </a:rPr>
              <a:t> (177 docentes, 84%), </a:t>
            </a:r>
            <a:r>
              <a:rPr sz="1150" dirty="0" err="1">
                <a:solidFill>
                  <a:srgbClr val="FFFFFF"/>
                </a:solidFill>
              </a:rPr>
              <a:t>seguido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por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Diplomado</a:t>
            </a:r>
            <a:r>
              <a:rPr sz="1150" dirty="0">
                <a:solidFill>
                  <a:srgbClr val="FFFFFF"/>
                </a:solidFill>
              </a:rPr>
              <a:t> (39) y Proyecto de </a:t>
            </a:r>
            <a:r>
              <a:rPr sz="1150" dirty="0" err="1">
                <a:solidFill>
                  <a:srgbClr val="FFFFFF"/>
                </a:solidFill>
              </a:rPr>
              <a:t>Innovación</a:t>
            </a:r>
            <a:r>
              <a:rPr sz="1150" dirty="0">
                <a:solidFill>
                  <a:srgbClr val="FFFFFF"/>
                </a:solidFill>
              </a:rPr>
              <a:t> (7).</a:t>
            </a:r>
          </a:p>
          <a:p>
            <a:pPr algn="l">
              <a:spcAft>
                <a:spcPts val="500"/>
              </a:spcAft>
            </a:pPr>
            <a:r>
              <a:rPr sz="1150" dirty="0">
                <a:solidFill>
                  <a:srgbClr val="FFFFFF"/>
                </a:solidFill>
              </a:rPr>
              <a:t>2.  164 docentes </a:t>
            </a:r>
            <a:r>
              <a:rPr lang="es-CL" sz="1150" dirty="0">
                <a:solidFill>
                  <a:srgbClr val="FFFFFF"/>
                </a:solidFill>
              </a:rPr>
              <a:t>cursaron</a:t>
            </a:r>
            <a:r>
              <a:rPr sz="1150" dirty="0">
                <a:solidFill>
                  <a:srgbClr val="FFFFFF"/>
                </a:solidFill>
              </a:rPr>
              <a:t> s</a:t>
            </a:r>
            <a:r>
              <a:rPr lang="es-CL" sz="1150" dirty="0" err="1">
                <a:solidFill>
                  <a:srgbClr val="FFFFFF"/>
                </a:solidFill>
              </a:rPr>
              <a:t>ó</a:t>
            </a:r>
            <a:r>
              <a:rPr sz="1150" dirty="0">
                <a:solidFill>
                  <a:srgbClr val="FFFFFF"/>
                </a:solidFill>
              </a:rPr>
              <a:t>lo </a:t>
            </a:r>
            <a:r>
              <a:rPr lang="es-CL" sz="1150" dirty="0">
                <a:solidFill>
                  <a:srgbClr val="FFFFFF"/>
                </a:solidFill>
              </a:rPr>
              <a:t>Oferta Formativa </a:t>
            </a:r>
            <a:r>
              <a:rPr sz="1150" dirty="0">
                <a:solidFill>
                  <a:srgbClr val="FFFFFF"/>
                </a:solidFill>
              </a:rPr>
              <a:t>·  30 s</a:t>
            </a:r>
            <a:r>
              <a:rPr lang="es-CL" sz="1150" dirty="0" err="1">
                <a:solidFill>
                  <a:srgbClr val="FFFFFF"/>
                </a:solidFill>
              </a:rPr>
              <a:t>ó</a:t>
            </a:r>
            <a:r>
              <a:rPr sz="1150" dirty="0">
                <a:solidFill>
                  <a:srgbClr val="FFFFFF"/>
                </a:solidFill>
              </a:rPr>
              <a:t>lo </a:t>
            </a:r>
            <a:r>
              <a:rPr sz="1150" dirty="0" err="1">
                <a:solidFill>
                  <a:srgbClr val="FFFFFF"/>
                </a:solidFill>
              </a:rPr>
              <a:t>Diplomado</a:t>
            </a:r>
            <a:r>
              <a:rPr sz="1150" dirty="0">
                <a:solidFill>
                  <a:srgbClr val="FFFFFF"/>
                </a:solidFill>
              </a:rPr>
              <a:t>  ·  3 s</a:t>
            </a:r>
            <a:r>
              <a:rPr lang="es-CL" sz="1150" dirty="0" err="1">
                <a:solidFill>
                  <a:srgbClr val="FFFFFF"/>
                </a:solidFill>
              </a:rPr>
              <a:t>ó</a:t>
            </a:r>
            <a:r>
              <a:rPr sz="1150" dirty="0">
                <a:solidFill>
                  <a:srgbClr val="FFFFFF"/>
                </a:solidFill>
              </a:rPr>
              <a:t>lo Proyecto. </a:t>
            </a:r>
            <a:endParaRPr lang="es-CL" sz="1150" dirty="0">
              <a:solidFill>
                <a:srgbClr val="FFFFFF"/>
              </a:solidFill>
            </a:endParaRPr>
          </a:p>
          <a:p>
            <a:pPr algn="l">
              <a:spcAft>
                <a:spcPts val="500"/>
              </a:spcAft>
            </a:pPr>
            <a:r>
              <a:rPr lang="es-CL" sz="1150" dirty="0">
                <a:solidFill>
                  <a:srgbClr val="FFFFFF"/>
                </a:solidFill>
              </a:rPr>
              <a:t>3.  </a:t>
            </a:r>
            <a:r>
              <a:rPr sz="1150" dirty="0">
                <a:solidFill>
                  <a:srgbClr val="FFFFFF"/>
                </a:solidFill>
              </a:rPr>
              <a:t>Las </a:t>
            </a:r>
            <a:r>
              <a:rPr sz="1150" dirty="0" err="1">
                <a:solidFill>
                  <a:srgbClr val="FFFFFF"/>
                </a:solidFill>
              </a:rPr>
              <a:t>combinaciones</a:t>
            </a:r>
            <a:r>
              <a:rPr sz="1150" dirty="0">
                <a:solidFill>
                  <a:srgbClr val="FFFFFF"/>
                </a:solidFill>
              </a:rPr>
              <a:t> (T+D=9, T+P=4) </a:t>
            </a:r>
            <a:r>
              <a:rPr sz="1150" dirty="0" err="1">
                <a:solidFill>
                  <a:srgbClr val="FFFFFF"/>
                </a:solidFill>
              </a:rPr>
              <a:t>representan</a:t>
            </a:r>
            <a:r>
              <a:rPr sz="1150" dirty="0">
                <a:solidFill>
                  <a:srgbClr val="FFFFFF"/>
                </a:solidFill>
              </a:rPr>
              <a:t> 13 docentes con </a:t>
            </a:r>
            <a:r>
              <a:rPr sz="1150" dirty="0" err="1">
                <a:solidFill>
                  <a:srgbClr val="FFFFFF"/>
                </a:solidFill>
              </a:rPr>
              <a:t>Participación</a:t>
            </a:r>
            <a:r>
              <a:rPr sz="1150" dirty="0">
                <a:solidFill>
                  <a:srgbClr val="FFFFFF"/>
                </a:solidFill>
              </a:rPr>
              <a:t> Mixta.</a:t>
            </a:r>
          </a:p>
          <a:p>
            <a:pPr algn="l">
              <a:spcAft>
                <a:spcPts val="500"/>
              </a:spcAft>
            </a:pPr>
            <a:endParaRPr sz="115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05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581" y="185000"/>
            <a:ext cx="105991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2000" b="1" dirty="0">
                <a:solidFill>
                  <a:srgbClr val="FFFFFF"/>
                </a:solidFill>
              </a:rPr>
              <a:t>Distribución de los docentes de la muestra según T</a:t>
            </a:r>
            <a:r>
              <a:rPr sz="2000" b="1" i="0" dirty="0" err="1">
                <a:solidFill>
                  <a:srgbClr val="FFFFFF"/>
                </a:solidFill>
              </a:rPr>
              <a:t>ramo</a:t>
            </a:r>
            <a:r>
              <a:rPr sz="2000" b="1" i="0" dirty="0">
                <a:solidFill>
                  <a:srgbClr val="FFFFFF"/>
                </a:solidFill>
              </a:rPr>
              <a:t> de </a:t>
            </a:r>
            <a:r>
              <a:rPr lang="es-CL" sz="2000" b="1" i="0" dirty="0">
                <a:solidFill>
                  <a:srgbClr val="FFFFFF"/>
                </a:solidFill>
              </a:rPr>
              <a:t>E</a:t>
            </a:r>
            <a:r>
              <a:rPr sz="2000" b="1" i="0" dirty="0">
                <a:solidFill>
                  <a:srgbClr val="FFFFFF"/>
                </a:solidFill>
              </a:rPr>
              <a:t>dad y </a:t>
            </a:r>
            <a:r>
              <a:rPr lang="es-CL" sz="2000" b="1" i="0" dirty="0">
                <a:solidFill>
                  <a:srgbClr val="FFFFFF"/>
                </a:solidFill>
              </a:rPr>
              <a:t>S</a:t>
            </a:r>
            <a:r>
              <a:rPr sz="2000" b="1" i="0" dirty="0" err="1">
                <a:solidFill>
                  <a:srgbClr val="FFFFFF"/>
                </a:solidFill>
              </a:rPr>
              <a:t>exo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6581" y="845000"/>
            <a:ext cx="900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chemeClr val="bg1"/>
                </a:solidFill>
              </a:rPr>
              <a:t>Universo: 210 Aptos P3  ·  </a:t>
            </a:r>
            <a:r>
              <a:rPr lang="es-CL" sz="900" i="1" dirty="0">
                <a:solidFill>
                  <a:schemeClr val="bg1"/>
                </a:solidFill>
              </a:rPr>
              <a:t>T</a:t>
            </a:r>
            <a:r>
              <a:rPr sz="900" b="0" i="1" dirty="0" err="1">
                <a:solidFill>
                  <a:schemeClr val="bg1"/>
                </a:solidFill>
              </a:rPr>
              <a:t>odos</a:t>
            </a:r>
            <a:r>
              <a:rPr sz="900" b="0" i="1" dirty="0">
                <a:solidFill>
                  <a:schemeClr val="bg1"/>
                </a:solidFill>
              </a:rPr>
              <a:t> </a:t>
            </a:r>
            <a:r>
              <a:rPr lang="es-CL" sz="900" i="1" dirty="0">
                <a:solidFill>
                  <a:schemeClr val="bg1"/>
                </a:solidFill>
              </a:rPr>
              <a:t>F</a:t>
            </a:r>
            <a:r>
              <a:rPr sz="900" b="0" i="1" dirty="0" err="1">
                <a:solidFill>
                  <a:schemeClr val="bg1"/>
                </a:solidFill>
              </a:rPr>
              <a:t>ormados</a:t>
            </a:r>
            <a:r>
              <a:rPr sz="900" b="0" i="1" dirty="0">
                <a:solidFill>
                  <a:schemeClr val="bg1"/>
                </a:solidFill>
              </a:rPr>
              <a:t>  ·  Per</a:t>
            </a:r>
            <a:r>
              <a:rPr lang="es-CL" sz="900" i="1" dirty="0" err="1">
                <a:solidFill>
                  <a:schemeClr val="bg1"/>
                </a:solidFill>
              </a:rPr>
              <a:t>ío</a:t>
            </a:r>
            <a:r>
              <a:rPr sz="900" b="0" i="1" dirty="0">
                <a:solidFill>
                  <a:schemeClr val="bg1"/>
                </a:solidFill>
              </a:rPr>
              <a:t>do 2022–2025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1541" y="1163000"/>
            <a:ext cx="92580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 dirty="0" err="1">
                <a:solidFill>
                  <a:srgbClr val="FFFFFF"/>
                </a:solidFill>
              </a:rPr>
              <a:t>Tramo</a:t>
            </a:r>
            <a:r>
              <a:rPr sz="1000" b="0" i="0" dirty="0">
                <a:solidFill>
                  <a:srgbClr val="FFFFFF"/>
                </a:solidFill>
              </a:rPr>
              <a:t> de edad  (</a:t>
            </a:r>
            <a:r>
              <a:rPr lang="es-CL" sz="1000" dirty="0" err="1">
                <a:solidFill>
                  <a:srgbClr val="FFFFFF"/>
                </a:solidFill>
              </a:rPr>
              <a:t>N°</a:t>
            </a:r>
            <a:r>
              <a:rPr sz="1000" b="0" i="0" dirty="0">
                <a:solidFill>
                  <a:srgbClr val="FFFFFF"/>
                </a:solidFill>
              </a:rPr>
              <a:t>=129 con </a:t>
            </a:r>
            <a:r>
              <a:rPr sz="1000" b="0" i="0" dirty="0" err="1">
                <a:solidFill>
                  <a:srgbClr val="FFFFFF"/>
                </a:solidFill>
              </a:rPr>
              <a:t>dato</a:t>
            </a:r>
            <a:r>
              <a:rPr sz="1000" b="0" i="0" dirty="0">
                <a:solidFill>
                  <a:srgbClr val="FFFFFF"/>
                </a:solidFill>
              </a:rPr>
              <a:t>)  ·  </a:t>
            </a:r>
            <a:r>
              <a:rPr sz="1000" b="0" i="0" dirty="0" err="1">
                <a:solidFill>
                  <a:srgbClr val="FFFFFF"/>
                </a:solidFill>
              </a:rPr>
              <a:t>Sexo</a:t>
            </a:r>
            <a:r>
              <a:rPr sz="1000" b="0" i="0" dirty="0">
                <a:solidFill>
                  <a:srgbClr val="FFFFFF"/>
                </a:solidFill>
              </a:rPr>
              <a:t>  (</a:t>
            </a:r>
            <a:r>
              <a:rPr lang="es-CL" sz="1000" dirty="0" err="1">
                <a:solidFill>
                  <a:srgbClr val="FFFFFF"/>
                </a:solidFill>
              </a:rPr>
              <a:t>N°</a:t>
            </a:r>
            <a:r>
              <a:rPr lang="es-CL" sz="1000" dirty="0">
                <a:solidFill>
                  <a:srgbClr val="FFFFFF"/>
                </a:solidFill>
              </a:rPr>
              <a:t> </a:t>
            </a:r>
            <a:r>
              <a:rPr sz="1000" b="0" i="0" dirty="0">
                <a:solidFill>
                  <a:srgbClr val="FFFFFF"/>
                </a:solidFill>
              </a:rPr>
              <a:t>=210)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581" y="4870000"/>
            <a:ext cx="10599174" cy="75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dirty="0">
                <a:solidFill>
                  <a:srgbClr val="FFFFFF"/>
                </a:solidFill>
              </a:rPr>
              <a:t>1.  El </a:t>
            </a:r>
            <a:r>
              <a:rPr sz="1150" dirty="0" err="1">
                <a:solidFill>
                  <a:srgbClr val="FFFFFF"/>
                </a:solidFill>
              </a:rPr>
              <a:t>tramo</a:t>
            </a:r>
            <a:r>
              <a:rPr sz="1150" dirty="0">
                <a:solidFill>
                  <a:srgbClr val="FFFFFF"/>
                </a:solidFill>
              </a:rPr>
              <a:t> 40–44 </a:t>
            </a:r>
            <a:r>
              <a:rPr sz="1150" dirty="0" err="1">
                <a:solidFill>
                  <a:srgbClr val="FFFFFF"/>
                </a:solidFill>
              </a:rPr>
              <a:t>años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concentra</a:t>
            </a:r>
            <a:r>
              <a:rPr sz="1150" dirty="0">
                <a:solidFill>
                  <a:srgbClr val="FFFFFF"/>
                </a:solidFill>
              </a:rPr>
              <a:t> la mayor </a:t>
            </a:r>
            <a:r>
              <a:rPr sz="1150" dirty="0" err="1">
                <a:solidFill>
                  <a:srgbClr val="FFFFFF"/>
                </a:solidFill>
              </a:rPr>
              <a:t>frecuencia</a:t>
            </a:r>
            <a:r>
              <a:rPr sz="1150" dirty="0">
                <a:solidFill>
                  <a:srgbClr val="FFFFFF"/>
                </a:solidFill>
              </a:rPr>
              <a:t>; el </a:t>
            </a:r>
            <a:r>
              <a:rPr sz="1150" dirty="0" err="1">
                <a:solidFill>
                  <a:srgbClr val="FFFFFF"/>
                </a:solidFill>
              </a:rPr>
              <a:t>núcleo</a:t>
            </a:r>
            <a:r>
              <a:rPr sz="1150" dirty="0">
                <a:solidFill>
                  <a:srgbClr val="FFFFFF"/>
                </a:solidFill>
              </a:rPr>
              <a:t> 35–54 </a:t>
            </a:r>
            <a:r>
              <a:rPr sz="1150" dirty="0" err="1">
                <a:solidFill>
                  <a:srgbClr val="FFFFFF"/>
                </a:solidFill>
              </a:rPr>
              <a:t>agrupa</a:t>
            </a:r>
            <a:r>
              <a:rPr sz="1150" dirty="0">
                <a:solidFill>
                  <a:srgbClr val="FFFFFF"/>
                </a:solidFill>
              </a:rPr>
              <a:t> 86 docentes (67% de </a:t>
            </a:r>
            <a:r>
              <a:rPr sz="1150" dirty="0" err="1">
                <a:solidFill>
                  <a:srgbClr val="FFFFFF"/>
                </a:solidFill>
              </a:rPr>
              <a:t>los</a:t>
            </a:r>
            <a:r>
              <a:rPr sz="1150" dirty="0">
                <a:solidFill>
                  <a:srgbClr val="FFFFFF"/>
                </a:solidFill>
              </a:rPr>
              <a:t> 129 </a:t>
            </a:r>
            <a:r>
              <a:rPr lang="es-CL" sz="1150" dirty="0">
                <a:solidFill>
                  <a:srgbClr val="FFFFFF"/>
                </a:solidFill>
              </a:rPr>
              <a:t>casos </a:t>
            </a:r>
            <a:r>
              <a:rPr sz="1150" dirty="0">
                <a:solidFill>
                  <a:srgbClr val="FFFFFF"/>
                </a:solidFill>
              </a:rPr>
              <a:t>con </a:t>
            </a:r>
            <a:r>
              <a:rPr sz="1150" dirty="0" err="1">
                <a:solidFill>
                  <a:srgbClr val="FFFFFF"/>
                </a:solidFill>
              </a:rPr>
              <a:t>dato</a:t>
            </a:r>
            <a:r>
              <a:rPr sz="1150" dirty="0">
                <a:solidFill>
                  <a:srgbClr val="FFFFFF"/>
                </a:solidFill>
              </a:rPr>
              <a:t> de edad).</a:t>
            </a:r>
          </a:p>
          <a:p>
            <a:pPr algn="l">
              <a:spcAft>
                <a:spcPts val="500"/>
              </a:spcAft>
            </a:pPr>
            <a:r>
              <a:rPr sz="1150" dirty="0">
                <a:solidFill>
                  <a:srgbClr val="FFFFFF"/>
                </a:solidFill>
              </a:rPr>
              <a:t>2.  La </a:t>
            </a:r>
            <a:r>
              <a:rPr sz="1150" dirty="0" err="1">
                <a:solidFill>
                  <a:srgbClr val="FFFFFF"/>
                </a:solidFill>
              </a:rPr>
              <a:t>distribución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por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sexo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muestra</a:t>
            </a:r>
            <a:r>
              <a:rPr sz="1150" dirty="0">
                <a:solidFill>
                  <a:srgbClr val="FFFFFF"/>
                </a:solidFill>
              </a:rPr>
              <a:t> mayor </a:t>
            </a:r>
            <a:r>
              <a:rPr sz="1150" dirty="0" err="1">
                <a:solidFill>
                  <a:srgbClr val="FFFFFF"/>
                </a:solidFill>
              </a:rPr>
              <a:t>presencia</a:t>
            </a:r>
            <a:r>
              <a:rPr sz="1150" dirty="0">
                <a:solidFill>
                  <a:srgbClr val="FFFFFF"/>
                </a:solidFill>
              </a:rPr>
              <a:t> de </a:t>
            </a:r>
            <a:r>
              <a:rPr sz="1150" dirty="0" err="1">
                <a:solidFill>
                  <a:srgbClr val="FFFFFF"/>
                </a:solidFill>
              </a:rPr>
              <a:t>Mujer</a:t>
            </a:r>
            <a:r>
              <a:rPr sz="1150" dirty="0">
                <a:solidFill>
                  <a:srgbClr val="FFFFFF"/>
                </a:solidFill>
              </a:rPr>
              <a:t> (58%). </a:t>
            </a:r>
            <a:r>
              <a:rPr sz="1150" dirty="0" err="1">
                <a:solidFill>
                  <a:srgbClr val="FFFFFF"/>
                </a:solidFill>
              </a:rPr>
              <a:t>Perfil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dentro</a:t>
            </a:r>
            <a:r>
              <a:rPr sz="1150" dirty="0">
                <a:solidFill>
                  <a:srgbClr val="FFFFFF"/>
                </a:solidFill>
              </a:rPr>
              <a:t> de </a:t>
            </a:r>
            <a:r>
              <a:rPr sz="1150" dirty="0" err="1">
                <a:solidFill>
                  <a:srgbClr val="FFFFFF"/>
                </a:solidFill>
              </a:rPr>
              <a:t>rangos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esperados</a:t>
            </a:r>
            <a:r>
              <a:rPr sz="1150" dirty="0">
                <a:solidFill>
                  <a:srgbClr val="FFFFFF"/>
                </a:solidFill>
              </a:rPr>
              <a:t> para </a:t>
            </a:r>
            <a:r>
              <a:rPr sz="1150" dirty="0" err="1">
                <a:solidFill>
                  <a:srgbClr val="FFFFFF"/>
                </a:solidFill>
              </a:rPr>
              <a:t>docencia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universitaria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en</a:t>
            </a:r>
            <a:r>
              <a:rPr sz="1150" dirty="0">
                <a:solidFill>
                  <a:srgbClr val="FFFFFF"/>
                </a:solidFill>
              </a:rPr>
              <a:t> Chile.</a:t>
            </a:r>
          </a:p>
          <a:p>
            <a:pPr algn="l">
              <a:spcAft>
                <a:spcPts val="500"/>
              </a:spcAft>
            </a:pPr>
            <a:r>
              <a:rPr sz="1150" dirty="0">
                <a:solidFill>
                  <a:srgbClr val="FFFFFF"/>
                </a:solidFill>
              </a:rPr>
              <a:t>3.  Mediana de edad </a:t>
            </a:r>
            <a:r>
              <a:rPr sz="1150" dirty="0" err="1">
                <a:solidFill>
                  <a:srgbClr val="FFFFFF"/>
                </a:solidFill>
              </a:rPr>
              <a:t>estimada</a:t>
            </a:r>
            <a:r>
              <a:rPr sz="1150" dirty="0">
                <a:solidFill>
                  <a:srgbClr val="FFFFFF"/>
                </a:solidFill>
              </a:rPr>
              <a:t> a </a:t>
            </a:r>
            <a:r>
              <a:rPr sz="1150" dirty="0" err="1">
                <a:solidFill>
                  <a:srgbClr val="FFFFFF"/>
                </a:solidFill>
              </a:rPr>
              <a:t>partir</a:t>
            </a:r>
            <a:r>
              <a:rPr sz="1150" dirty="0">
                <a:solidFill>
                  <a:srgbClr val="FFFFFF"/>
                </a:solidFill>
              </a:rPr>
              <a:t> de la </a:t>
            </a:r>
            <a:r>
              <a:rPr sz="1150" dirty="0" err="1">
                <a:solidFill>
                  <a:srgbClr val="FFFFFF"/>
                </a:solidFill>
              </a:rPr>
              <a:t>distribución</a:t>
            </a:r>
            <a:r>
              <a:rPr sz="1150" dirty="0">
                <a:solidFill>
                  <a:srgbClr val="FFFFFF"/>
                </a:solidFill>
              </a:rPr>
              <a:t> de </a:t>
            </a:r>
            <a:r>
              <a:rPr sz="1150" dirty="0" err="1">
                <a:solidFill>
                  <a:srgbClr val="FFFFFF"/>
                </a:solidFill>
              </a:rPr>
              <a:t>tramos</a:t>
            </a:r>
            <a:r>
              <a:rPr sz="1150" dirty="0">
                <a:solidFill>
                  <a:srgbClr val="FFFFFF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09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581" y="185000"/>
            <a:ext cx="105991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2000" b="1" dirty="0">
                <a:solidFill>
                  <a:srgbClr val="FFFFFF"/>
                </a:solidFill>
              </a:rPr>
              <a:t>Distribución de los docentes de la muestra según </a:t>
            </a:r>
            <a:r>
              <a:rPr sz="2000" b="1" i="0" dirty="0">
                <a:solidFill>
                  <a:srgbClr val="FFFFFF"/>
                </a:solidFill>
              </a:rPr>
              <a:t>Grado </a:t>
            </a:r>
            <a:r>
              <a:rPr sz="2000" b="1" i="0" dirty="0" err="1">
                <a:solidFill>
                  <a:srgbClr val="FFFFFF"/>
                </a:solidFill>
              </a:rPr>
              <a:t>Académico</a:t>
            </a:r>
            <a:r>
              <a:rPr sz="2000" b="1" i="0" dirty="0">
                <a:solidFill>
                  <a:srgbClr val="FFFFFF"/>
                </a:solidFill>
              </a:rPr>
              <a:t> </a:t>
            </a:r>
            <a:r>
              <a:rPr sz="2000" b="1" i="0" dirty="0" err="1">
                <a:solidFill>
                  <a:srgbClr val="FFFFFF"/>
                </a:solidFill>
              </a:rPr>
              <a:t>Reconocido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6581" y="845000"/>
            <a:ext cx="900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chemeClr val="bg1"/>
                </a:solidFill>
              </a:rPr>
              <a:t>Universo: 210 Aptos P3  ·  </a:t>
            </a:r>
            <a:r>
              <a:rPr lang="es-CL" sz="900" i="1" dirty="0">
                <a:solidFill>
                  <a:schemeClr val="bg1"/>
                </a:solidFill>
              </a:rPr>
              <a:t>T</a:t>
            </a:r>
            <a:r>
              <a:rPr sz="900" b="0" i="1" dirty="0" err="1">
                <a:solidFill>
                  <a:schemeClr val="bg1"/>
                </a:solidFill>
              </a:rPr>
              <a:t>odos</a:t>
            </a:r>
            <a:r>
              <a:rPr sz="900" b="0" i="1" dirty="0">
                <a:solidFill>
                  <a:schemeClr val="bg1"/>
                </a:solidFill>
              </a:rPr>
              <a:t> </a:t>
            </a:r>
            <a:r>
              <a:rPr lang="es-CL" sz="900" i="1" dirty="0">
                <a:solidFill>
                  <a:schemeClr val="bg1"/>
                </a:solidFill>
              </a:rPr>
              <a:t>F</a:t>
            </a:r>
            <a:r>
              <a:rPr sz="900" b="0" i="1" dirty="0" err="1">
                <a:solidFill>
                  <a:schemeClr val="bg1"/>
                </a:solidFill>
              </a:rPr>
              <a:t>ormados</a:t>
            </a:r>
            <a:r>
              <a:rPr sz="900" b="0" i="1" dirty="0">
                <a:solidFill>
                  <a:schemeClr val="bg1"/>
                </a:solidFill>
              </a:rPr>
              <a:t>  ·  Per</a:t>
            </a:r>
            <a:r>
              <a:rPr lang="es-CL" sz="900" b="0" i="1" dirty="0">
                <a:solidFill>
                  <a:schemeClr val="bg1"/>
                </a:solidFill>
              </a:rPr>
              <a:t>Í</a:t>
            </a:r>
            <a:r>
              <a:rPr sz="900" b="0" i="1" dirty="0" err="1">
                <a:solidFill>
                  <a:schemeClr val="bg1"/>
                </a:solidFill>
              </a:rPr>
              <a:t>odo</a:t>
            </a:r>
            <a:r>
              <a:rPr lang="es-CL" sz="900" b="0" i="1" dirty="0">
                <a:solidFill>
                  <a:schemeClr val="bg1"/>
                </a:solidFill>
              </a:rPr>
              <a:t> </a:t>
            </a:r>
            <a:r>
              <a:rPr sz="900" b="0" i="1" dirty="0">
                <a:solidFill>
                  <a:schemeClr val="bg1"/>
                </a:solidFill>
              </a:rPr>
              <a:t>2022–2025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1541" y="1163000"/>
            <a:ext cx="92580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FFFF"/>
                </a:solidFill>
              </a:rPr>
              <a:t>Grado </a:t>
            </a:r>
            <a:r>
              <a:rPr sz="1000" b="0" i="0" dirty="0" err="1">
                <a:solidFill>
                  <a:srgbClr val="FFFFFF"/>
                </a:solidFill>
              </a:rPr>
              <a:t>Académico</a:t>
            </a:r>
            <a:r>
              <a:rPr sz="1000" b="0" i="0" dirty="0">
                <a:solidFill>
                  <a:srgbClr val="FFFFFF"/>
                </a:solidFill>
              </a:rPr>
              <a:t> — 210 Aptos P3  (</a:t>
            </a:r>
            <a:r>
              <a:rPr lang="es-CL" sz="1000" b="0" i="0" dirty="0" err="1">
                <a:solidFill>
                  <a:srgbClr val="FFFFFF"/>
                </a:solidFill>
              </a:rPr>
              <a:t>N°</a:t>
            </a:r>
            <a:r>
              <a:rPr sz="1000" b="0" i="0" dirty="0">
                <a:solidFill>
                  <a:srgbClr val="FFFFFF"/>
                </a:solidFill>
              </a:rPr>
              <a:t>=129 con </a:t>
            </a:r>
            <a:r>
              <a:rPr sz="1000" b="0" i="0" dirty="0" err="1">
                <a:solidFill>
                  <a:srgbClr val="FFFFFF"/>
                </a:solidFill>
              </a:rPr>
              <a:t>dato</a:t>
            </a:r>
            <a:r>
              <a:rPr lang="es-CL" sz="1000" b="0" i="0" dirty="0">
                <a:solidFill>
                  <a:srgbClr val="FFFFFF"/>
                </a:solidFill>
              </a:rPr>
              <a:t>)</a:t>
            </a:r>
            <a:r>
              <a:rPr sz="1000" b="0" i="0" dirty="0">
                <a:solidFill>
                  <a:srgbClr val="FFFFFF"/>
                </a:solidFill>
              </a:rPr>
              <a:t>  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581" y="4870000"/>
            <a:ext cx="10599174" cy="92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dirty="0">
                <a:solidFill>
                  <a:srgbClr val="FFFFFF"/>
                </a:solidFill>
              </a:rPr>
              <a:t>1.  El </a:t>
            </a:r>
            <a:r>
              <a:rPr sz="1150" dirty="0" err="1">
                <a:solidFill>
                  <a:srgbClr val="FFFFFF"/>
                </a:solidFill>
              </a:rPr>
              <a:t>grado</a:t>
            </a:r>
            <a:r>
              <a:rPr sz="1150" dirty="0">
                <a:solidFill>
                  <a:srgbClr val="FFFFFF"/>
                </a:solidFill>
              </a:rPr>
              <a:t> de </a:t>
            </a:r>
            <a:r>
              <a:rPr sz="1150" dirty="0" err="1">
                <a:solidFill>
                  <a:srgbClr val="FFFFFF"/>
                </a:solidFill>
              </a:rPr>
              <a:t>Magíster</a:t>
            </a:r>
            <a:r>
              <a:rPr sz="1150" dirty="0">
                <a:solidFill>
                  <a:srgbClr val="FFFFFF"/>
                </a:solidFill>
              </a:rPr>
              <a:t> (</a:t>
            </a:r>
            <a:r>
              <a:rPr sz="1150" dirty="0" err="1">
                <a:solidFill>
                  <a:srgbClr val="FFFFFF"/>
                </a:solidFill>
              </a:rPr>
              <a:t>Profesional</a:t>
            </a:r>
            <a:r>
              <a:rPr sz="1150" dirty="0">
                <a:solidFill>
                  <a:srgbClr val="FFFFFF"/>
                </a:solidFill>
              </a:rPr>
              <a:t> + </a:t>
            </a:r>
            <a:r>
              <a:rPr sz="1150" dirty="0" err="1">
                <a:solidFill>
                  <a:srgbClr val="FFFFFF"/>
                </a:solidFill>
              </a:rPr>
              <a:t>Académico</a:t>
            </a:r>
            <a:r>
              <a:rPr sz="1150" dirty="0">
                <a:solidFill>
                  <a:srgbClr val="FFFFFF"/>
                </a:solidFill>
              </a:rPr>
              <a:t>) es el </a:t>
            </a:r>
            <a:r>
              <a:rPr sz="1150" dirty="0" err="1">
                <a:solidFill>
                  <a:srgbClr val="FFFFFF"/>
                </a:solidFill>
              </a:rPr>
              <a:t>más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frecuente</a:t>
            </a:r>
            <a:r>
              <a:rPr sz="1150" dirty="0">
                <a:solidFill>
                  <a:srgbClr val="FFFFFF"/>
                </a:solidFill>
              </a:rPr>
              <a:t> (88 doc</a:t>
            </a:r>
            <a:r>
              <a:rPr lang="es-CL" sz="1150" dirty="0">
                <a:solidFill>
                  <a:srgbClr val="FFFFFF"/>
                </a:solidFill>
              </a:rPr>
              <a:t>entes</a:t>
            </a:r>
            <a:r>
              <a:rPr sz="1150" dirty="0">
                <a:solidFill>
                  <a:srgbClr val="FFFFFF"/>
                </a:solidFill>
              </a:rPr>
              <a:t>.), </a:t>
            </a:r>
            <a:r>
              <a:rPr sz="1150" dirty="0" err="1">
                <a:solidFill>
                  <a:srgbClr val="FFFFFF"/>
                </a:solidFill>
              </a:rPr>
              <a:t>seguido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por</a:t>
            </a:r>
            <a:r>
              <a:rPr sz="1150" dirty="0">
                <a:solidFill>
                  <a:srgbClr val="FFFFFF"/>
                </a:solidFill>
              </a:rPr>
              <a:t> Doctor (26 doc</a:t>
            </a:r>
            <a:r>
              <a:rPr lang="es-CL" sz="1150" dirty="0">
                <a:solidFill>
                  <a:srgbClr val="FFFFFF"/>
                </a:solidFill>
              </a:rPr>
              <a:t>entes</a:t>
            </a:r>
            <a:r>
              <a:rPr sz="1150" dirty="0">
                <a:solidFill>
                  <a:srgbClr val="FFFFFF"/>
                </a:solidFill>
              </a:rPr>
              <a:t>.). El </a:t>
            </a:r>
            <a:r>
              <a:rPr sz="1150" dirty="0" err="1">
                <a:solidFill>
                  <a:srgbClr val="FFFFFF"/>
                </a:solidFill>
              </a:rPr>
              <a:t>perfil</a:t>
            </a:r>
            <a:r>
              <a:rPr sz="1150" dirty="0">
                <a:solidFill>
                  <a:srgbClr val="FFFFFF"/>
                </a:solidFill>
              </a:rPr>
              <a:t> de </a:t>
            </a:r>
            <a:r>
              <a:rPr sz="1150" dirty="0" err="1">
                <a:solidFill>
                  <a:srgbClr val="FFFFFF"/>
                </a:solidFill>
              </a:rPr>
              <a:t>posgrado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predomina</a:t>
            </a:r>
            <a:r>
              <a:rPr sz="1150" dirty="0">
                <a:solidFill>
                  <a:srgbClr val="FFFFFF"/>
                </a:solidFill>
              </a:rPr>
              <a:t> entre </a:t>
            </a:r>
            <a:r>
              <a:rPr sz="1150" dirty="0" err="1">
                <a:solidFill>
                  <a:srgbClr val="FFFFFF"/>
                </a:solidFill>
              </a:rPr>
              <a:t>los</a:t>
            </a:r>
            <a:r>
              <a:rPr sz="1150" dirty="0">
                <a:solidFill>
                  <a:srgbClr val="FFFFFF"/>
                </a:solidFill>
              </a:rPr>
              <a:t> docentes </a:t>
            </a:r>
            <a:r>
              <a:rPr sz="1150" dirty="0" err="1">
                <a:solidFill>
                  <a:srgbClr val="FFFFFF"/>
                </a:solidFill>
              </a:rPr>
              <a:t>formados</a:t>
            </a:r>
            <a:r>
              <a:rPr sz="1150" dirty="0">
                <a:solidFill>
                  <a:srgbClr val="FFFFFF"/>
                </a:solidFill>
              </a:rPr>
              <a:t>.</a:t>
            </a:r>
          </a:p>
          <a:p>
            <a:pPr algn="l">
              <a:spcAft>
                <a:spcPts val="500"/>
              </a:spcAft>
            </a:pPr>
            <a:r>
              <a:rPr sz="1150" dirty="0">
                <a:solidFill>
                  <a:srgbClr val="FFFFFF"/>
                </a:solidFill>
              </a:rPr>
              <a:t>2.  Los </a:t>
            </a:r>
            <a:r>
              <a:rPr sz="1150" dirty="0" err="1">
                <a:solidFill>
                  <a:srgbClr val="FFFFFF"/>
                </a:solidFill>
              </a:rPr>
              <a:t>Doctores</a:t>
            </a:r>
            <a:r>
              <a:rPr sz="1150" dirty="0">
                <a:solidFill>
                  <a:srgbClr val="FFFFFF"/>
                </a:solidFill>
              </a:rPr>
              <a:t> y Post-</a:t>
            </a:r>
            <a:r>
              <a:rPr sz="1150" dirty="0" err="1">
                <a:solidFill>
                  <a:srgbClr val="FFFFFF"/>
                </a:solidFill>
              </a:rPr>
              <a:t>Doctores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representan</a:t>
            </a:r>
            <a:r>
              <a:rPr sz="1150" dirty="0">
                <a:solidFill>
                  <a:srgbClr val="FFFFFF"/>
                </a:solidFill>
              </a:rPr>
              <a:t> el </a:t>
            </a:r>
            <a:r>
              <a:rPr sz="1150" dirty="0" err="1">
                <a:solidFill>
                  <a:srgbClr val="FFFFFF"/>
                </a:solidFill>
              </a:rPr>
              <a:t>núcleo</a:t>
            </a:r>
            <a:r>
              <a:rPr sz="1150" dirty="0">
                <a:solidFill>
                  <a:srgbClr val="FFFFFF"/>
                </a:solidFill>
              </a:rPr>
              <a:t> de mayor </a:t>
            </a:r>
            <a:r>
              <a:rPr sz="1150" dirty="0" err="1">
                <a:solidFill>
                  <a:srgbClr val="FFFFFF"/>
                </a:solidFill>
              </a:rPr>
              <a:t>calificación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académica</a:t>
            </a:r>
            <a:r>
              <a:rPr sz="1150" dirty="0">
                <a:solidFill>
                  <a:srgbClr val="FFFFFF"/>
                </a:solidFill>
              </a:rPr>
              <a:t>.</a:t>
            </a:r>
          </a:p>
          <a:p>
            <a:pPr algn="l">
              <a:spcAft>
                <a:spcPts val="500"/>
              </a:spcAft>
            </a:pPr>
            <a:r>
              <a:rPr sz="1150" dirty="0">
                <a:solidFill>
                  <a:srgbClr val="FFFFFF"/>
                </a:solidFill>
              </a:rPr>
              <a:t>3.  Nota: 81 de </a:t>
            </a:r>
            <a:r>
              <a:rPr sz="1150" dirty="0" err="1">
                <a:solidFill>
                  <a:srgbClr val="FFFFFF"/>
                </a:solidFill>
              </a:rPr>
              <a:t>los</a:t>
            </a:r>
            <a:r>
              <a:rPr sz="1150" dirty="0">
                <a:solidFill>
                  <a:srgbClr val="FFFFFF"/>
                </a:solidFill>
              </a:rPr>
              <a:t> 210 no </a:t>
            </a:r>
            <a:r>
              <a:rPr sz="1150" dirty="0" err="1">
                <a:solidFill>
                  <a:srgbClr val="FFFFFF"/>
                </a:solidFill>
              </a:rPr>
              <a:t>tienen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dato</a:t>
            </a:r>
            <a:r>
              <a:rPr sz="1150" dirty="0">
                <a:solidFill>
                  <a:srgbClr val="FFFFFF"/>
                </a:solidFill>
              </a:rPr>
              <a:t> de </a:t>
            </a:r>
            <a:r>
              <a:rPr sz="1150" dirty="0" err="1">
                <a:solidFill>
                  <a:srgbClr val="FFFFFF"/>
                </a:solidFill>
              </a:rPr>
              <a:t>grado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registrado</a:t>
            </a:r>
            <a:r>
              <a:rPr sz="1150" dirty="0">
                <a:solidFill>
                  <a:srgbClr val="FFFFFF"/>
                </a:solidFill>
              </a:rPr>
              <a:t> (</a:t>
            </a:r>
            <a:r>
              <a:rPr sz="1150" dirty="0" err="1">
                <a:solidFill>
                  <a:srgbClr val="FFFFFF"/>
                </a:solidFill>
              </a:rPr>
              <a:t>honorarios</a:t>
            </a:r>
            <a:r>
              <a:rPr lang="es-CL" sz="1150" dirty="0">
                <a:solidFill>
                  <a:srgbClr val="FFFFFF"/>
                </a:solidFill>
              </a:rPr>
              <a:t>)</a:t>
            </a:r>
            <a:endParaRPr sz="11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07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581" y="185000"/>
            <a:ext cx="105991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2000" b="1" i="0" dirty="0">
                <a:solidFill>
                  <a:srgbClr val="FFFFFF"/>
                </a:solidFill>
              </a:rPr>
              <a:t>Distribución de los docentes de la muestra según A</a:t>
            </a:r>
            <a:r>
              <a:rPr sz="2000" b="1" i="0" dirty="0" err="1">
                <a:solidFill>
                  <a:srgbClr val="FFFFFF"/>
                </a:solidFill>
              </a:rPr>
              <a:t>ntigüedad</a:t>
            </a:r>
            <a:r>
              <a:rPr sz="2000" b="1" i="0" dirty="0">
                <a:solidFill>
                  <a:srgbClr val="FFFFFF"/>
                </a:solidFill>
              </a:rPr>
              <a:t> </a:t>
            </a:r>
            <a:r>
              <a:rPr sz="2000" b="1" i="0" dirty="0" err="1">
                <a:solidFill>
                  <a:srgbClr val="FFFFFF"/>
                </a:solidFill>
              </a:rPr>
              <a:t>en</a:t>
            </a:r>
            <a:r>
              <a:rPr sz="2000" b="1" i="0" dirty="0">
                <a:solidFill>
                  <a:srgbClr val="FFFFFF"/>
                </a:solidFill>
              </a:rPr>
              <a:t> la </a:t>
            </a:r>
            <a:r>
              <a:rPr sz="2000" b="1" i="0" dirty="0" err="1">
                <a:solidFill>
                  <a:srgbClr val="FFFFFF"/>
                </a:solidFill>
              </a:rPr>
              <a:t>Institución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6581" y="845000"/>
            <a:ext cx="900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chemeClr val="bg1"/>
                </a:solidFill>
              </a:rPr>
              <a:t>Universo: 210 Aptos P3  ·  </a:t>
            </a:r>
            <a:r>
              <a:rPr lang="es-CL" sz="900" i="1" dirty="0">
                <a:solidFill>
                  <a:schemeClr val="bg1"/>
                </a:solidFill>
              </a:rPr>
              <a:t>T</a:t>
            </a:r>
            <a:r>
              <a:rPr sz="900" b="0" i="1" dirty="0" err="1">
                <a:solidFill>
                  <a:schemeClr val="bg1"/>
                </a:solidFill>
              </a:rPr>
              <a:t>odos</a:t>
            </a:r>
            <a:r>
              <a:rPr sz="900" b="0" i="1" dirty="0">
                <a:solidFill>
                  <a:schemeClr val="bg1"/>
                </a:solidFill>
              </a:rPr>
              <a:t> </a:t>
            </a:r>
            <a:r>
              <a:rPr lang="es-CL" sz="900" i="1" dirty="0">
                <a:solidFill>
                  <a:schemeClr val="bg1"/>
                </a:solidFill>
              </a:rPr>
              <a:t>F</a:t>
            </a:r>
            <a:r>
              <a:rPr sz="900" b="0" i="1" dirty="0" err="1">
                <a:solidFill>
                  <a:schemeClr val="bg1"/>
                </a:solidFill>
              </a:rPr>
              <a:t>ormados</a:t>
            </a:r>
            <a:r>
              <a:rPr sz="900" b="0" i="1" dirty="0">
                <a:solidFill>
                  <a:schemeClr val="bg1"/>
                </a:solidFill>
              </a:rPr>
              <a:t>  ·  Per</a:t>
            </a:r>
            <a:r>
              <a:rPr lang="es-CL" sz="900" i="1" dirty="0" err="1">
                <a:solidFill>
                  <a:schemeClr val="bg1"/>
                </a:solidFill>
              </a:rPr>
              <a:t>í</a:t>
            </a:r>
            <a:r>
              <a:rPr lang="es-CL" sz="900" b="0" i="1" dirty="0" err="1">
                <a:solidFill>
                  <a:schemeClr val="bg1"/>
                </a:solidFill>
              </a:rPr>
              <a:t>o</a:t>
            </a:r>
            <a:r>
              <a:rPr sz="900" b="0" i="1" dirty="0">
                <a:solidFill>
                  <a:schemeClr val="bg1"/>
                </a:solidFill>
              </a:rPr>
              <a:t>do 2022–2025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1541" y="1163000"/>
            <a:ext cx="92580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FFFFFF"/>
                </a:solidFill>
              </a:rPr>
              <a:t>Antigüedad</a:t>
            </a:r>
            <a:r>
              <a:rPr sz="1000" b="0" i="0" dirty="0">
                <a:solidFill>
                  <a:srgbClr val="FFFFFF"/>
                </a:solidFill>
              </a:rPr>
              <a:t> </a:t>
            </a:r>
            <a:r>
              <a:rPr sz="1000" b="0" i="0" dirty="0" err="1">
                <a:solidFill>
                  <a:srgbClr val="FFFFFF"/>
                </a:solidFill>
              </a:rPr>
              <a:t>en</a:t>
            </a:r>
            <a:r>
              <a:rPr sz="1000" b="0" i="0" dirty="0">
                <a:solidFill>
                  <a:srgbClr val="FFFFFF"/>
                </a:solidFill>
              </a:rPr>
              <a:t> la </a:t>
            </a:r>
            <a:r>
              <a:rPr sz="1000" b="0" i="0" dirty="0" err="1">
                <a:solidFill>
                  <a:srgbClr val="FFFFFF"/>
                </a:solidFill>
              </a:rPr>
              <a:t>Institución</a:t>
            </a:r>
            <a:r>
              <a:rPr sz="1000" b="0" i="0" dirty="0">
                <a:solidFill>
                  <a:srgbClr val="FFFFFF"/>
                </a:solidFill>
              </a:rPr>
              <a:t> — 210 Aptos P3  (</a:t>
            </a:r>
            <a:r>
              <a:rPr lang="es-CL" sz="1000" b="0" i="0" dirty="0" err="1">
                <a:solidFill>
                  <a:srgbClr val="FFFFFF"/>
                </a:solidFill>
              </a:rPr>
              <a:t>N°</a:t>
            </a:r>
            <a:r>
              <a:rPr sz="1000" b="0" i="0" dirty="0">
                <a:solidFill>
                  <a:srgbClr val="FFFFFF"/>
                </a:solidFill>
              </a:rPr>
              <a:t>=129 con </a:t>
            </a:r>
            <a:r>
              <a:rPr sz="1000" b="0" i="0" dirty="0" err="1">
                <a:solidFill>
                  <a:srgbClr val="FFFFFF"/>
                </a:solidFill>
              </a:rPr>
              <a:t>dato</a:t>
            </a:r>
            <a:r>
              <a:rPr sz="1000" b="0" i="0" dirty="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581" y="4870000"/>
            <a:ext cx="10599174" cy="92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500"/>
              </a:spcAft>
            </a:pPr>
            <a:r>
              <a:rPr sz="1150" dirty="0">
                <a:solidFill>
                  <a:schemeClr val="bg1"/>
                </a:solidFill>
              </a:rPr>
              <a:t>1.  El </a:t>
            </a:r>
            <a:r>
              <a:rPr sz="1150" dirty="0" err="1">
                <a:solidFill>
                  <a:schemeClr val="bg1"/>
                </a:solidFill>
              </a:rPr>
              <a:t>tramo</a:t>
            </a:r>
            <a:r>
              <a:rPr sz="1150" dirty="0">
                <a:solidFill>
                  <a:schemeClr val="bg1"/>
                </a:solidFill>
              </a:rPr>
              <a:t> </a:t>
            </a:r>
            <a:r>
              <a:rPr lang="es-CL" sz="1150" dirty="0">
                <a:solidFill>
                  <a:schemeClr val="bg1"/>
                </a:solidFill>
              </a:rPr>
              <a:t>0-4 años (57 docentes)  </a:t>
            </a:r>
            <a:r>
              <a:rPr sz="1150" dirty="0">
                <a:solidFill>
                  <a:schemeClr val="bg1"/>
                </a:solidFill>
              </a:rPr>
              <a:t>es el de mayor </a:t>
            </a:r>
            <a:r>
              <a:rPr sz="1150" dirty="0" err="1">
                <a:solidFill>
                  <a:schemeClr val="bg1"/>
                </a:solidFill>
              </a:rPr>
              <a:t>frecuencia</a:t>
            </a:r>
            <a:r>
              <a:rPr sz="1150" dirty="0">
                <a:solidFill>
                  <a:schemeClr val="bg1"/>
                </a:solidFill>
              </a:rPr>
              <a:t>, </a:t>
            </a:r>
            <a:r>
              <a:rPr sz="1150" dirty="0" err="1">
                <a:solidFill>
                  <a:schemeClr val="bg1"/>
                </a:solidFill>
              </a:rPr>
              <a:t>seguido</a:t>
            </a:r>
            <a:r>
              <a:rPr sz="1150" dirty="0">
                <a:solidFill>
                  <a:schemeClr val="bg1"/>
                </a:solidFill>
              </a:rPr>
              <a:t> de </a:t>
            </a:r>
            <a:r>
              <a:rPr lang="es-CL" sz="1150" dirty="0">
                <a:solidFill>
                  <a:schemeClr val="bg1"/>
                </a:solidFill>
              </a:rPr>
              <a:t>5</a:t>
            </a:r>
            <a:r>
              <a:rPr sz="1150" dirty="0">
                <a:solidFill>
                  <a:schemeClr val="bg1"/>
                </a:solidFill>
              </a:rPr>
              <a:t>–</a:t>
            </a:r>
            <a:r>
              <a:rPr lang="es-CL" sz="1150" dirty="0">
                <a:solidFill>
                  <a:schemeClr val="bg1"/>
                </a:solidFill>
              </a:rPr>
              <a:t>9</a:t>
            </a:r>
            <a:r>
              <a:rPr sz="1150" dirty="0">
                <a:solidFill>
                  <a:schemeClr val="bg1"/>
                </a:solidFill>
              </a:rPr>
              <a:t> </a:t>
            </a:r>
            <a:r>
              <a:rPr sz="1150" dirty="0" err="1">
                <a:solidFill>
                  <a:schemeClr val="bg1"/>
                </a:solidFill>
              </a:rPr>
              <a:t>años</a:t>
            </a:r>
            <a:r>
              <a:rPr sz="1150" dirty="0">
                <a:solidFill>
                  <a:schemeClr val="bg1"/>
                </a:solidFill>
              </a:rPr>
              <a:t> (</a:t>
            </a:r>
            <a:r>
              <a:rPr lang="es-CL" sz="1150" dirty="0">
                <a:solidFill>
                  <a:schemeClr val="bg1"/>
                </a:solidFill>
              </a:rPr>
              <a:t>40 docentes</a:t>
            </a:r>
            <a:r>
              <a:rPr sz="1150" dirty="0">
                <a:solidFill>
                  <a:schemeClr val="bg1"/>
                </a:solidFill>
              </a:rPr>
              <a:t>). Los docentes </a:t>
            </a:r>
            <a:r>
              <a:rPr sz="1150" dirty="0" err="1">
                <a:solidFill>
                  <a:schemeClr val="bg1"/>
                </a:solidFill>
              </a:rPr>
              <a:t>más</a:t>
            </a:r>
            <a:r>
              <a:rPr sz="1150" dirty="0">
                <a:solidFill>
                  <a:schemeClr val="bg1"/>
                </a:solidFill>
              </a:rPr>
              <a:t> </a:t>
            </a:r>
            <a:r>
              <a:rPr sz="1150" dirty="0" err="1">
                <a:solidFill>
                  <a:schemeClr val="bg1"/>
                </a:solidFill>
              </a:rPr>
              <a:t>jóvenes</a:t>
            </a:r>
            <a:r>
              <a:rPr sz="1150" dirty="0">
                <a:solidFill>
                  <a:schemeClr val="bg1"/>
                </a:solidFill>
              </a:rPr>
              <a:t> </a:t>
            </a:r>
            <a:r>
              <a:rPr sz="1150" dirty="0" err="1">
                <a:solidFill>
                  <a:schemeClr val="bg1"/>
                </a:solidFill>
              </a:rPr>
              <a:t>en</a:t>
            </a:r>
            <a:r>
              <a:rPr sz="1150" dirty="0">
                <a:solidFill>
                  <a:schemeClr val="bg1"/>
                </a:solidFill>
              </a:rPr>
              <a:t> la </a:t>
            </a:r>
            <a:r>
              <a:rPr sz="1150" dirty="0" err="1">
                <a:solidFill>
                  <a:schemeClr val="bg1"/>
                </a:solidFill>
              </a:rPr>
              <a:t>institución</a:t>
            </a:r>
            <a:r>
              <a:rPr sz="1150" dirty="0">
                <a:solidFill>
                  <a:schemeClr val="bg1"/>
                </a:solidFill>
              </a:rPr>
              <a:t> </a:t>
            </a:r>
            <a:r>
              <a:rPr sz="1150" dirty="0" err="1">
                <a:solidFill>
                  <a:schemeClr val="bg1"/>
                </a:solidFill>
              </a:rPr>
              <a:t>reúnen</a:t>
            </a:r>
            <a:r>
              <a:rPr sz="1150" dirty="0">
                <a:solidFill>
                  <a:schemeClr val="bg1"/>
                </a:solidFill>
              </a:rPr>
              <a:t> con mayor </a:t>
            </a:r>
            <a:r>
              <a:rPr sz="1150" dirty="0" err="1">
                <a:solidFill>
                  <a:schemeClr val="bg1"/>
                </a:solidFill>
              </a:rPr>
              <a:t>frecuencia</a:t>
            </a:r>
            <a:r>
              <a:rPr sz="1150" dirty="0">
                <a:solidFill>
                  <a:schemeClr val="bg1"/>
                </a:solidFill>
              </a:rPr>
              <a:t> las </a:t>
            </a:r>
            <a:r>
              <a:rPr sz="1150" dirty="0" err="1">
                <a:solidFill>
                  <a:schemeClr val="bg1"/>
                </a:solidFill>
              </a:rPr>
              <a:t>condiciones</a:t>
            </a:r>
            <a:r>
              <a:rPr sz="1150" dirty="0">
                <a:solidFill>
                  <a:schemeClr val="bg1"/>
                </a:solidFill>
              </a:rPr>
              <a:t> Aptos P3.</a:t>
            </a:r>
          </a:p>
          <a:p>
            <a:pPr algn="just">
              <a:spcAft>
                <a:spcPts val="500"/>
              </a:spcAft>
            </a:pPr>
            <a:r>
              <a:rPr sz="1150" dirty="0">
                <a:solidFill>
                  <a:srgbClr val="FFFFFF"/>
                </a:solidFill>
              </a:rPr>
              <a:t>2.  A mayor </a:t>
            </a:r>
            <a:r>
              <a:rPr sz="1150" dirty="0" err="1">
                <a:solidFill>
                  <a:srgbClr val="FFFFFF"/>
                </a:solidFill>
              </a:rPr>
              <a:t>antigüedad</a:t>
            </a:r>
            <a:r>
              <a:rPr sz="1150" dirty="0">
                <a:solidFill>
                  <a:srgbClr val="FFFFFF"/>
                </a:solidFill>
              </a:rPr>
              <a:t>, </a:t>
            </a:r>
            <a:r>
              <a:rPr sz="1150" dirty="0" err="1">
                <a:solidFill>
                  <a:srgbClr val="FFFFFF"/>
                </a:solidFill>
              </a:rPr>
              <a:t>menor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presencia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en</a:t>
            </a:r>
            <a:r>
              <a:rPr sz="1150" dirty="0">
                <a:solidFill>
                  <a:srgbClr val="FFFFFF"/>
                </a:solidFill>
              </a:rPr>
              <a:t> el </a:t>
            </a:r>
            <a:r>
              <a:rPr sz="1150" dirty="0" err="1">
                <a:solidFill>
                  <a:srgbClr val="FFFFFF"/>
                </a:solidFill>
              </a:rPr>
              <a:t>grupo</a:t>
            </a:r>
            <a:r>
              <a:rPr sz="1150" dirty="0">
                <a:solidFill>
                  <a:srgbClr val="FFFFFF"/>
                </a:solidFill>
              </a:rPr>
              <a:t> Aptos P3, </a:t>
            </a:r>
            <a:r>
              <a:rPr sz="1150" dirty="0" err="1">
                <a:solidFill>
                  <a:srgbClr val="FFFFFF"/>
                </a:solidFill>
              </a:rPr>
              <a:t>consistente</a:t>
            </a:r>
            <a:r>
              <a:rPr sz="1150" dirty="0">
                <a:solidFill>
                  <a:srgbClr val="FFFFFF"/>
                </a:solidFill>
              </a:rPr>
              <a:t> con </a:t>
            </a:r>
            <a:r>
              <a:rPr sz="1150" dirty="0" err="1">
                <a:solidFill>
                  <a:srgbClr val="FFFFFF"/>
                </a:solidFill>
              </a:rPr>
              <a:t>que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los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más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experimentados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participan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menos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en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iniciativas</a:t>
            </a:r>
            <a:r>
              <a:rPr sz="1150" dirty="0">
                <a:solidFill>
                  <a:srgbClr val="FFFFFF"/>
                </a:solidFill>
              </a:rPr>
              <a:t> de </a:t>
            </a:r>
            <a:r>
              <a:rPr sz="1150" dirty="0" err="1">
                <a:solidFill>
                  <a:srgbClr val="FFFFFF"/>
                </a:solidFill>
              </a:rPr>
              <a:t>formación</a:t>
            </a:r>
            <a:r>
              <a:rPr sz="1150" dirty="0">
                <a:solidFill>
                  <a:srgbClr val="FFFFFF"/>
                </a:solidFill>
              </a:rPr>
              <a:t>.</a:t>
            </a:r>
          </a:p>
          <a:p>
            <a:pPr algn="just">
              <a:spcAft>
                <a:spcPts val="500"/>
              </a:spcAft>
            </a:pPr>
            <a:r>
              <a:rPr sz="1150" dirty="0">
                <a:solidFill>
                  <a:srgbClr val="FFFFFF"/>
                </a:solidFill>
              </a:rPr>
              <a:t>3.  Mediana de </a:t>
            </a:r>
            <a:r>
              <a:rPr sz="1150" dirty="0" err="1">
                <a:solidFill>
                  <a:srgbClr val="FFFFFF"/>
                </a:solidFill>
              </a:rPr>
              <a:t>antigüedad</a:t>
            </a:r>
            <a:r>
              <a:rPr sz="1150" dirty="0">
                <a:solidFill>
                  <a:srgbClr val="FFFFFF"/>
                </a:solidFill>
              </a:rPr>
              <a:t>: ≈6 </a:t>
            </a:r>
            <a:r>
              <a:rPr sz="1150" dirty="0" err="1">
                <a:solidFill>
                  <a:srgbClr val="FFFFFF"/>
                </a:solidFill>
              </a:rPr>
              <a:t>años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en</a:t>
            </a:r>
            <a:r>
              <a:rPr sz="1150" dirty="0">
                <a:solidFill>
                  <a:srgbClr val="FFFFFF"/>
                </a:solidFill>
              </a:rPr>
              <a:t> la </a:t>
            </a:r>
            <a:r>
              <a:rPr sz="1150" dirty="0" err="1">
                <a:solidFill>
                  <a:srgbClr val="FFFFFF"/>
                </a:solidFill>
              </a:rPr>
              <a:t>institución</a:t>
            </a:r>
            <a:r>
              <a:rPr sz="1150" dirty="0">
                <a:solidFill>
                  <a:srgbClr val="FFFFFF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18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581" y="185000"/>
            <a:ext cx="105991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dirty="0">
                <a:solidFill>
                  <a:srgbClr val="FFFFFF"/>
                </a:solidFill>
              </a:rPr>
              <a:t>Distribución de los docentes de la muestra según Antigüedad</a:t>
            </a:r>
            <a:r>
              <a:rPr sz="2000" b="1" i="0" dirty="0">
                <a:solidFill>
                  <a:srgbClr val="FFFFFF"/>
                </a:solidFill>
              </a:rPr>
              <a:t> y Tipo de </a:t>
            </a:r>
            <a:r>
              <a:rPr sz="2000" b="1" i="0" dirty="0" err="1">
                <a:solidFill>
                  <a:srgbClr val="FFFFFF"/>
                </a:solidFill>
              </a:rPr>
              <a:t>Formación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8461" y="790000"/>
            <a:ext cx="900000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 dirty="0">
                <a:solidFill>
                  <a:srgbClr val="C8DCF0"/>
                </a:solidFill>
              </a:rPr>
              <a:t>Universo: 210 Aptos P3  ·  </a:t>
            </a:r>
            <a:r>
              <a:rPr sz="750" b="0" i="1" dirty="0" err="1">
                <a:solidFill>
                  <a:srgbClr val="C8DCF0"/>
                </a:solidFill>
              </a:rPr>
              <a:t>todos</a:t>
            </a:r>
            <a:r>
              <a:rPr sz="750" b="0" i="1" dirty="0">
                <a:solidFill>
                  <a:srgbClr val="C8DCF0"/>
                </a:solidFill>
              </a:rPr>
              <a:t> </a:t>
            </a:r>
            <a:r>
              <a:rPr sz="750" b="0" i="1" dirty="0" err="1">
                <a:solidFill>
                  <a:srgbClr val="C8DCF0"/>
                </a:solidFill>
              </a:rPr>
              <a:t>formados</a:t>
            </a:r>
            <a:r>
              <a:rPr sz="750" b="0" i="1" dirty="0">
                <a:solidFill>
                  <a:srgbClr val="C8DCF0"/>
                </a:solidFill>
              </a:rPr>
              <a:t>  ·  </a:t>
            </a:r>
            <a:r>
              <a:rPr sz="750" b="0" i="1" dirty="0" err="1">
                <a:solidFill>
                  <a:srgbClr val="C8DCF0"/>
                </a:solidFill>
              </a:rPr>
              <a:t>Periodos</a:t>
            </a:r>
            <a:r>
              <a:rPr sz="750" b="0" i="1" dirty="0">
                <a:solidFill>
                  <a:srgbClr val="C8DCF0"/>
                </a:solidFill>
              </a:rPr>
              <a:t> 2022–2025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1541" y="1163000"/>
            <a:ext cx="9258054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Formados Aptos P3: Antigüedad × Tipo · composición 100% por tramo · n absoluto dentro · total n sobre columna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581" y="4870000"/>
            <a:ext cx="10599174" cy="18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1.  Los tramos de menor antigüedad (0–9 años) concentran el mayor volumen de participación entre los 210 Aptos P3; a mayor antigüedad el total decae.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2.  Los Diplomados representan solo 13 participaciones en total — docentes que participaron exclusivamente en esa modalidad, sin talleres ni proyectos.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3.  La composición por tipo es relativamente estable entre tramos: los Talleres dominan en todos; los Diplomados y Proyectos aparecen más en antigüedades intermedias.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06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581" y="185000"/>
            <a:ext cx="105991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2000" b="1" dirty="0">
                <a:solidFill>
                  <a:srgbClr val="FFFFFF"/>
                </a:solidFill>
              </a:rPr>
              <a:t>Distribución de los docentes de la muestra según </a:t>
            </a:r>
            <a:r>
              <a:rPr sz="2000" b="1" i="0" dirty="0">
                <a:solidFill>
                  <a:srgbClr val="FFFFFF"/>
                </a:solidFill>
              </a:rPr>
              <a:t>Unidad/</a:t>
            </a:r>
            <a:r>
              <a:rPr sz="2000" b="1" i="0" dirty="0" err="1">
                <a:solidFill>
                  <a:srgbClr val="FFFFFF"/>
                </a:solidFill>
              </a:rPr>
              <a:t>Facultad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9141" y="687252"/>
            <a:ext cx="900000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 dirty="0">
                <a:solidFill>
                  <a:schemeClr val="bg1"/>
                </a:solidFill>
              </a:rPr>
              <a:t>Universo: 210 Aptos P3  ·  </a:t>
            </a:r>
            <a:r>
              <a:rPr lang="es-CL" sz="900" i="1" dirty="0">
                <a:solidFill>
                  <a:schemeClr val="bg1"/>
                </a:solidFill>
              </a:rPr>
              <a:t>T</a:t>
            </a:r>
            <a:r>
              <a:rPr sz="900" b="0" i="1" dirty="0" err="1">
                <a:solidFill>
                  <a:schemeClr val="bg1"/>
                </a:solidFill>
              </a:rPr>
              <a:t>odos</a:t>
            </a:r>
            <a:r>
              <a:rPr sz="900" b="0" i="1" dirty="0">
                <a:solidFill>
                  <a:schemeClr val="bg1"/>
                </a:solidFill>
              </a:rPr>
              <a:t> </a:t>
            </a:r>
            <a:r>
              <a:rPr lang="es-CL" sz="900" i="1" dirty="0">
                <a:solidFill>
                  <a:schemeClr val="bg1"/>
                </a:solidFill>
              </a:rPr>
              <a:t>F</a:t>
            </a:r>
            <a:r>
              <a:rPr sz="900" b="0" i="1" dirty="0" err="1">
                <a:solidFill>
                  <a:schemeClr val="bg1"/>
                </a:solidFill>
              </a:rPr>
              <a:t>ormados</a:t>
            </a:r>
            <a:r>
              <a:rPr sz="900" b="0" i="1" dirty="0">
                <a:solidFill>
                  <a:schemeClr val="bg1"/>
                </a:solidFill>
              </a:rPr>
              <a:t>  · </a:t>
            </a:r>
            <a:r>
              <a:rPr lang="es-CL" sz="900" dirty="0">
                <a:solidFill>
                  <a:schemeClr val="bg1"/>
                </a:solidFill>
              </a:rPr>
              <a:t> </a:t>
            </a:r>
            <a:r>
              <a:rPr lang="es-CL" sz="900" i="1" dirty="0">
                <a:solidFill>
                  <a:schemeClr val="bg1"/>
                </a:solidFill>
              </a:rPr>
              <a:t>Período 2022–2025</a:t>
            </a:r>
            <a:endParaRPr lang="es-CL" sz="900" dirty="0">
              <a:solidFill>
                <a:schemeClr val="bg1"/>
              </a:solidFill>
            </a:endParaRPr>
          </a:p>
          <a:p>
            <a:endParaRPr lang="es-CL" sz="900" dirty="0"/>
          </a:p>
          <a:p>
            <a:pPr algn="l"/>
            <a:endParaRPr sz="750" b="0" i="1" dirty="0">
              <a:solidFill>
                <a:srgbClr val="C8DCF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71541" y="1163000"/>
            <a:ext cx="92580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FFFFFF"/>
                </a:solidFill>
              </a:rPr>
              <a:t>Distribución</a:t>
            </a:r>
            <a:r>
              <a:rPr sz="1000" b="0" i="0" dirty="0">
                <a:solidFill>
                  <a:srgbClr val="FFFFFF"/>
                </a:solidFill>
              </a:rPr>
              <a:t> </a:t>
            </a:r>
            <a:r>
              <a:rPr sz="1000" b="0" i="0" dirty="0" err="1">
                <a:solidFill>
                  <a:srgbClr val="FFFFFF"/>
                </a:solidFill>
              </a:rPr>
              <a:t>por</a:t>
            </a:r>
            <a:r>
              <a:rPr sz="1000" b="0" i="0" dirty="0">
                <a:solidFill>
                  <a:srgbClr val="FFFFFF"/>
                </a:solidFill>
              </a:rPr>
              <a:t> Unidad/</a:t>
            </a:r>
            <a:r>
              <a:rPr sz="1000" b="0" i="0" dirty="0" err="1">
                <a:solidFill>
                  <a:srgbClr val="FFFFFF"/>
                </a:solidFill>
              </a:rPr>
              <a:t>Facultad</a:t>
            </a:r>
            <a:r>
              <a:rPr sz="1000" b="0" i="0" dirty="0">
                <a:solidFill>
                  <a:srgbClr val="FFFFFF"/>
                </a:solidFill>
              </a:rPr>
              <a:t> — 210 Aptos P3  (</a:t>
            </a:r>
            <a:r>
              <a:rPr lang="es-CL" sz="1000" b="0" i="0" dirty="0" err="1">
                <a:solidFill>
                  <a:srgbClr val="FFFFFF"/>
                </a:solidFill>
              </a:rPr>
              <a:t>N°</a:t>
            </a:r>
            <a:r>
              <a:rPr sz="1000" b="0" i="0" dirty="0">
                <a:solidFill>
                  <a:srgbClr val="FFFFFF"/>
                </a:solidFill>
              </a:rPr>
              <a:t>=142 con </a:t>
            </a:r>
            <a:r>
              <a:rPr sz="1000" b="0" i="0" dirty="0" err="1">
                <a:solidFill>
                  <a:srgbClr val="FFFFFF"/>
                </a:solidFill>
              </a:rPr>
              <a:t>dato</a:t>
            </a:r>
            <a:r>
              <a:rPr sz="1000" b="0" i="0" dirty="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581" y="4870000"/>
            <a:ext cx="10599174" cy="92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dirty="0">
                <a:solidFill>
                  <a:srgbClr val="FFFFFF"/>
                </a:solidFill>
              </a:rPr>
              <a:t>1. </a:t>
            </a:r>
            <a:r>
              <a:rPr lang="es-CL" sz="1150" dirty="0">
                <a:solidFill>
                  <a:srgbClr val="FFFFFF"/>
                </a:solidFill>
              </a:rPr>
              <a:t>Las Facultades de</a:t>
            </a:r>
            <a:r>
              <a:rPr sz="1150" dirty="0">
                <a:solidFill>
                  <a:srgbClr val="FFFFFF"/>
                </a:solidFill>
              </a:rPr>
              <a:t> Medicina y C</a:t>
            </a:r>
            <a:r>
              <a:rPr lang="es-CL" sz="1150" dirty="0" err="1">
                <a:solidFill>
                  <a:srgbClr val="FFFFFF"/>
                </a:solidFill>
              </a:rPr>
              <a:t>iencias</a:t>
            </a:r>
            <a:r>
              <a:rPr lang="es-CL" sz="1150" dirty="0">
                <a:solidFill>
                  <a:srgbClr val="FFFFFF"/>
                </a:solidFill>
              </a:rPr>
              <a:t> de la </a:t>
            </a:r>
            <a:r>
              <a:rPr sz="1150" dirty="0">
                <a:solidFill>
                  <a:srgbClr val="FFFFFF"/>
                </a:solidFill>
              </a:rPr>
              <a:t>Salud </a:t>
            </a:r>
            <a:r>
              <a:rPr sz="1150" dirty="0" err="1">
                <a:solidFill>
                  <a:srgbClr val="FFFFFF"/>
                </a:solidFill>
              </a:rPr>
              <a:t>concentra</a:t>
            </a:r>
            <a:r>
              <a:rPr lang="es-CL" sz="1150" dirty="0">
                <a:solidFill>
                  <a:srgbClr val="FFFFFF"/>
                </a:solidFill>
              </a:rPr>
              <a:t>n</a:t>
            </a:r>
            <a:r>
              <a:rPr sz="1150" dirty="0">
                <a:solidFill>
                  <a:srgbClr val="FFFFFF"/>
                </a:solidFill>
              </a:rPr>
              <a:t> el mayor </a:t>
            </a:r>
            <a:r>
              <a:rPr sz="1150" dirty="0" err="1">
                <a:solidFill>
                  <a:srgbClr val="FFFFFF"/>
                </a:solidFill>
              </a:rPr>
              <a:t>número</a:t>
            </a:r>
            <a:r>
              <a:rPr sz="1150" dirty="0">
                <a:solidFill>
                  <a:srgbClr val="FFFFFF"/>
                </a:solidFill>
              </a:rPr>
              <a:t> de Aptos P3 (47 doc., 33%), </a:t>
            </a:r>
            <a:r>
              <a:rPr sz="1150" dirty="0" err="1">
                <a:solidFill>
                  <a:srgbClr val="FFFFFF"/>
                </a:solidFill>
              </a:rPr>
              <a:t>seguida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por</a:t>
            </a:r>
            <a:r>
              <a:rPr sz="1150" dirty="0">
                <a:solidFill>
                  <a:srgbClr val="FFFFFF"/>
                </a:solidFill>
              </a:rPr>
              <a:t> Derecho y </a:t>
            </a:r>
            <a:r>
              <a:rPr sz="1150" dirty="0" err="1">
                <a:solidFill>
                  <a:srgbClr val="FFFFFF"/>
                </a:solidFill>
              </a:rPr>
              <a:t>Humanidades</a:t>
            </a:r>
            <a:r>
              <a:rPr sz="1150" dirty="0">
                <a:solidFill>
                  <a:srgbClr val="FFFFFF"/>
                </a:solidFill>
              </a:rPr>
              <a:t> (22, 15%) e Ingeniería y </a:t>
            </a:r>
            <a:r>
              <a:rPr sz="1150" dirty="0" err="1">
                <a:solidFill>
                  <a:srgbClr val="FFFFFF"/>
                </a:solidFill>
              </a:rPr>
              <a:t>Arq</a:t>
            </a:r>
            <a:r>
              <a:rPr lang="es-CL" sz="1150" dirty="0" err="1">
                <a:solidFill>
                  <a:srgbClr val="FFFFFF"/>
                </a:solidFill>
              </a:rPr>
              <a:t>uitectura</a:t>
            </a:r>
            <a:r>
              <a:rPr sz="1150" dirty="0">
                <a:solidFill>
                  <a:srgbClr val="FFFFFF"/>
                </a:solidFill>
              </a:rPr>
              <a:t> (21, 15%).</a:t>
            </a:r>
          </a:p>
          <a:p>
            <a:pPr algn="l">
              <a:spcAft>
                <a:spcPts val="500"/>
              </a:spcAft>
            </a:pPr>
            <a:r>
              <a:rPr sz="1150" dirty="0">
                <a:solidFill>
                  <a:srgbClr val="FFFFFF"/>
                </a:solidFill>
              </a:rPr>
              <a:t>2.  Las </a:t>
            </a:r>
            <a:r>
              <a:rPr sz="1150" dirty="0" err="1">
                <a:solidFill>
                  <a:srgbClr val="FFFFFF"/>
                </a:solidFill>
              </a:rPr>
              <a:t>cinco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lang="es-CL" sz="1150" dirty="0">
                <a:solidFill>
                  <a:srgbClr val="FFFFFF"/>
                </a:solidFill>
              </a:rPr>
              <a:t>Facultades </a:t>
            </a:r>
            <a:r>
              <a:rPr sz="1150" dirty="0" err="1">
                <a:solidFill>
                  <a:srgbClr val="FFFFFF"/>
                </a:solidFill>
              </a:rPr>
              <a:t>principales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agrupan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más</a:t>
            </a:r>
            <a:r>
              <a:rPr sz="1150" dirty="0">
                <a:solidFill>
                  <a:srgbClr val="FFFFFF"/>
                </a:solidFill>
              </a:rPr>
              <a:t> del 90% de </a:t>
            </a:r>
            <a:r>
              <a:rPr sz="1150" dirty="0" err="1">
                <a:solidFill>
                  <a:srgbClr val="FFFFFF"/>
                </a:solidFill>
              </a:rPr>
              <a:t>los</a:t>
            </a:r>
            <a:r>
              <a:rPr sz="1150" dirty="0">
                <a:solidFill>
                  <a:srgbClr val="FFFFFF"/>
                </a:solidFill>
              </a:rPr>
              <a:t> docentes Aptos P3. 3.</a:t>
            </a:r>
            <a:endParaRPr lang="es-CL" sz="1150" dirty="0">
              <a:solidFill>
                <a:srgbClr val="FFFFFF"/>
              </a:solidFill>
            </a:endParaRPr>
          </a:p>
          <a:p>
            <a:pPr algn="l">
              <a:spcAft>
                <a:spcPts val="500"/>
              </a:spcAft>
            </a:pPr>
            <a:r>
              <a:rPr sz="1150" dirty="0">
                <a:solidFill>
                  <a:srgbClr val="FFFFFF"/>
                </a:solidFill>
              </a:rPr>
              <a:t> </a:t>
            </a:r>
            <a:r>
              <a:rPr lang="es-CL" sz="1150" dirty="0">
                <a:solidFill>
                  <a:srgbClr val="FFFFFF"/>
                </a:solidFill>
              </a:rPr>
              <a:t>3.</a:t>
            </a:r>
            <a:r>
              <a:rPr sz="1150" dirty="0">
                <a:solidFill>
                  <a:srgbClr val="FFFFFF"/>
                </a:solidFill>
              </a:rPr>
              <a:t> VR </a:t>
            </a:r>
            <a:r>
              <a:rPr sz="1150" dirty="0" err="1">
                <a:solidFill>
                  <a:srgbClr val="FFFFFF"/>
                </a:solidFill>
              </a:rPr>
              <a:t>Investigación</a:t>
            </a:r>
            <a:r>
              <a:rPr sz="1150" dirty="0">
                <a:solidFill>
                  <a:srgbClr val="FFFFFF"/>
                </a:solidFill>
              </a:rPr>
              <a:t> e </a:t>
            </a:r>
            <a:r>
              <a:rPr sz="1150" dirty="0" err="1">
                <a:solidFill>
                  <a:srgbClr val="FFFFFF"/>
                </a:solidFill>
              </a:rPr>
              <a:t>Innovación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aporta</a:t>
            </a:r>
            <a:r>
              <a:rPr sz="1150" dirty="0">
                <a:solidFill>
                  <a:srgbClr val="FFFFFF"/>
                </a:solidFill>
              </a:rPr>
              <a:t> docentes con </a:t>
            </a:r>
            <a:r>
              <a:rPr sz="1150" dirty="0" err="1">
                <a:solidFill>
                  <a:srgbClr val="FFFFFF"/>
                </a:solidFill>
              </a:rPr>
              <a:t>perfil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orientado</a:t>
            </a:r>
            <a:r>
              <a:rPr sz="1150" dirty="0">
                <a:solidFill>
                  <a:srgbClr val="FFFFFF"/>
                </a:solidFill>
              </a:rPr>
              <a:t> a </a:t>
            </a:r>
            <a:r>
              <a:rPr sz="1150" dirty="0" err="1">
                <a:solidFill>
                  <a:srgbClr val="FFFFFF"/>
                </a:solidFill>
              </a:rPr>
              <a:t>investigación</a:t>
            </a:r>
            <a:r>
              <a:rPr sz="1150" dirty="0">
                <a:solidFill>
                  <a:srgbClr val="FFFFFF"/>
                </a:solidFill>
              </a:rPr>
              <a:t>; </a:t>
            </a:r>
            <a:r>
              <a:rPr sz="1150" dirty="0" err="1">
                <a:solidFill>
                  <a:srgbClr val="FFFFFF"/>
                </a:solidFill>
              </a:rPr>
              <a:t>su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presencia</a:t>
            </a:r>
            <a:r>
              <a:rPr sz="1150" dirty="0">
                <a:solidFill>
                  <a:srgbClr val="FFFFFF"/>
                </a:solidFill>
              </a:rPr>
              <a:t> indica </a:t>
            </a:r>
            <a:r>
              <a:rPr sz="1150" dirty="0" err="1">
                <a:solidFill>
                  <a:srgbClr val="FFFFFF"/>
                </a:solidFill>
              </a:rPr>
              <a:t>participación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activa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en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formación</a:t>
            </a:r>
            <a:r>
              <a:rPr sz="1150" dirty="0">
                <a:solidFill>
                  <a:srgbClr val="FFFFFF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08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581" y="185000"/>
            <a:ext cx="105991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2000" b="1" dirty="0">
                <a:solidFill>
                  <a:srgbClr val="FFFFFF"/>
                </a:solidFill>
              </a:rPr>
              <a:t>Distribución de los docentes de la muestra según </a:t>
            </a:r>
            <a:r>
              <a:rPr sz="2000" b="1" i="0" dirty="0" err="1">
                <a:solidFill>
                  <a:srgbClr val="FFFFFF"/>
                </a:solidFill>
              </a:rPr>
              <a:t>Jerarquía</a:t>
            </a:r>
            <a:r>
              <a:rPr sz="2000" b="1" i="0" dirty="0">
                <a:solidFill>
                  <a:srgbClr val="FFFFFF"/>
                </a:solidFill>
              </a:rPr>
              <a:t> </a:t>
            </a:r>
            <a:r>
              <a:rPr sz="2000" b="1" i="0" dirty="0" err="1">
                <a:solidFill>
                  <a:srgbClr val="FFFFFF"/>
                </a:solidFill>
              </a:rPr>
              <a:t>Académica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6581" y="845000"/>
            <a:ext cx="900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chemeClr val="bg1"/>
                </a:solidFill>
              </a:rPr>
              <a:t>Universo: 210 Aptos P3  ·  </a:t>
            </a:r>
            <a:r>
              <a:rPr lang="es-CL" sz="900" i="1" dirty="0">
                <a:solidFill>
                  <a:schemeClr val="bg1"/>
                </a:solidFill>
              </a:rPr>
              <a:t>T</a:t>
            </a:r>
            <a:r>
              <a:rPr sz="900" b="0" i="1" dirty="0" err="1">
                <a:solidFill>
                  <a:schemeClr val="bg1"/>
                </a:solidFill>
              </a:rPr>
              <a:t>odos</a:t>
            </a:r>
            <a:r>
              <a:rPr sz="900" b="0" i="1" dirty="0">
                <a:solidFill>
                  <a:schemeClr val="bg1"/>
                </a:solidFill>
              </a:rPr>
              <a:t> </a:t>
            </a:r>
            <a:r>
              <a:rPr lang="es-CL" sz="900" i="1" dirty="0">
                <a:solidFill>
                  <a:schemeClr val="bg1"/>
                </a:solidFill>
              </a:rPr>
              <a:t>F</a:t>
            </a:r>
            <a:r>
              <a:rPr sz="900" b="0" i="1" dirty="0" err="1">
                <a:solidFill>
                  <a:schemeClr val="bg1"/>
                </a:solidFill>
              </a:rPr>
              <a:t>ormados</a:t>
            </a:r>
            <a:r>
              <a:rPr sz="900" b="0" i="1" dirty="0">
                <a:solidFill>
                  <a:schemeClr val="bg1"/>
                </a:solidFill>
              </a:rPr>
              <a:t>  ·  </a:t>
            </a:r>
            <a:r>
              <a:rPr sz="900" b="0" i="1" dirty="0" err="1">
                <a:solidFill>
                  <a:schemeClr val="bg1"/>
                </a:solidFill>
              </a:rPr>
              <a:t>Periodo</a:t>
            </a:r>
            <a:r>
              <a:rPr sz="900" b="0" i="1" dirty="0">
                <a:solidFill>
                  <a:schemeClr val="bg1"/>
                </a:solidFill>
              </a:rPr>
              <a:t> 2022–2025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1541" y="1163000"/>
            <a:ext cx="92580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FFFFFF"/>
                </a:solidFill>
              </a:rPr>
              <a:t>Jerarquía</a:t>
            </a:r>
            <a:r>
              <a:rPr sz="1000" b="0" i="0" dirty="0">
                <a:solidFill>
                  <a:srgbClr val="FFFFFF"/>
                </a:solidFill>
              </a:rPr>
              <a:t> </a:t>
            </a:r>
            <a:r>
              <a:rPr sz="1000" b="0" i="0" dirty="0" err="1">
                <a:solidFill>
                  <a:srgbClr val="FFFFFF"/>
                </a:solidFill>
              </a:rPr>
              <a:t>Académica</a:t>
            </a:r>
            <a:r>
              <a:rPr sz="1000" b="0" i="0" dirty="0">
                <a:solidFill>
                  <a:srgbClr val="FFFFFF"/>
                </a:solidFill>
              </a:rPr>
              <a:t> — 210 Aptos P3  (</a:t>
            </a:r>
            <a:r>
              <a:rPr lang="es-CL" sz="1000" b="0" i="0" dirty="0" err="1">
                <a:solidFill>
                  <a:srgbClr val="FFFFFF"/>
                </a:solidFill>
              </a:rPr>
              <a:t>N°</a:t>
            </a:r>
            <a:r>
              <a:rPr sz="1000" b="0" i="0" dirty="0">
                <a:solidFill>
                  <a:srgbClr val="FFFFFF"/>
                </a:solidFill>
              </a:rPr>
              <a:t>=210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581" y="4870000"/>
            <a:ext cx="10599174" cy="92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dirty="0">
                <a:solidFill>
                  <a:srgbClr val="FFFFFF"/>
                </a:solidFill>
              </a:rPr>
              <a:t>1.  Los Aptos P3 se </a:t>
            </a:r>
            <a:r>
              <a:rPr lang="es-CL" sz="1150" dirty="0">
                <a:solidFill>
                  <a:srgbClr val="FFFFFF"/>
                </a:solidFill>
              </a:rPr>
              <a:t>distribuyen en una mayor proporción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en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Asistente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Docente</a:t>
            </a:r>
            <a:r>
              <a:rPr sz="1150" dirty="0">
                <a:solidFill>
                  <a:srgbClr val="FFFFFF"/>
                </a:solidFill>
              </a:rPr>
              <a:t> e Instructor </a:t>
            </a:r>
            <a:r>
              <a:rPr sz="1150" dirty="0" err="1">
                <a:solidFill>
                  <a:srgbClr val="FFFFFF"/>
                </a:solidFill>
              </a:rPr>
              <a:t>Docente</a:t>
            </a:r>
            <a:r>
              <a:rPr sz="1150" dirty="0">
                <a:solidFill>
                  <a:srgbClr val="FFFFFF"/>
                </a:solidFill>
              </a:rPr>
              <a:t>, </a:t>
            </a:r>
            <a:r>
              <a:rPr sz="1150" dirty="0" err="1">
                <a:solidFill>
                  <a:srgbClr val="FFFFFF"/>
                </a:solidFill>
              </a:rPr>
              <a:t>en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línea</a:t>
            </a:r>
            <a:r>
              <a:rPr sz="1150" dirty="0">
                <a:solidFill>
                  <a:srgbClr val="FFFFFF"/>
                </a:solidFill>
              </a:rPr>
              <a:t> con mayor </a:t>
            </a:r>
            <a:r>
              <a:rPr sz="1150" dirty="0" err="1">
                <a:solidFill>
                  <a:srgbClr val="FFFFFF"/>
                </a:solidFill>
              </a:rPr>
              <a:t>participación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en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formación</a:t>
            </a:r>
            <a:r>
              <a:rPr sz="1150" dirty="0">
                <a:solidFill>
                  <a:srgbClr val="FFFFFF"/>
                </a:solidFill>
              </a:rPr>
              <a:t> de </a:t>
            </a:r>
            <a:r>
              <a:rPr sz="1150" dirty="0" err="1">
                <a:solidFill>
                  <a:srgbClr val="FFFFFF"/>
                </a:solidFill>
              </a:rPr>
              <a:t>los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rangos</a:t>
            </a:r>
            <a:r>
              <a:rPr sz="1150" dirty="0">
                <a:solidFill>
                  <a:srgbClr val="FFFFFF"/>
                </a:solidFill>
              </a:rPr>
              <a:t> de entrada al </a:t>
            </a:r>
            <a:r>
              <a:rPr sz="1150" dirty="0" err="1">
                <a:solidFill>
                  <a:srgbClr val="FFFFFF"/>
                </a:solidFill>
              </a:rPr>
              <a:t>escalafón</a:t>
            </a:r>
            <a:r>
              <a:rPr sz="1150" dirty="0">
                <a:solidFill>
                  <a:srgbClr val="FFFFFF"/>
                </a:solidFill>
              </a:rPr>
              <a:t>.</a:t>
            </a:r>
          </a:p>
          <a:p>
            <a:pPr algn="l">
              <a:spcAft>
                <a:spcPts val="500"/>
              </a:spcAft>
            </a:pPr>
            <a:r>
              <a:rPr sz="1150" dirty="0">
                <a:solidFill>
                  <a:srgbClr val="FFFFFF"/>
                </a:solidFill>
              </a:rPr>
              <a:t>2.  Cuerpo </a:t>
            </a:r>
            <a:r>
              <a:rPr sz="1150" dirty="0" err="1">
                <a:solidFill>
                  <a:srgbClr val="FFFFFF"/>
                </a:solidFill>
              </a:rPr>
              <a:t>Docente</a:t>
            </a:r>
            <a:r>
              <a:rPr sz="1150" dirty="0">
                <a:solidFill>
                  <a:srgbClr val="FFFFFF"/>
                </a:solidFill>
              </a:rPr>
              <a:t>: 179 doc</a:t>
            </a:r>
            <a:r>
              <a:rPr lang="es-CL" sz="1150" dirty="0">
                <a:solidFill>
                  <a:srgbClr val="FFFFFF"/>
                </a:solidFill>
              </a:rPr>
              <a:t>entes</a:t>
            </a:r>
            <a:r>
              <a:rPr sz="1150" dirty="0">
                <a:solidFill>
                  <a:srgbClr val="FFFFFF"/>
                </a:solidFill>
              </a:rPr>
              <a:t> (85%)  ·  Cuerpo Regular: 18 doc</a:t>
            </a:r>
            <a:r>
              <a:rPr lang="es-CL" sz="1150" dirty="0">
                <a:solidFill>
                  <a:srgbClr val="FFFFFF"/>
                </a:solidFill>
              </a:rPr>
              <a:t>entes</a:t>
            </a:r>
            <a:r>
              <a:rPr sz="1150" dirty="0">
                <a:solidFill>
                  <a:srgbClr val="FFFFFF"/>
                </a:solidFill>
              </a:rPr>
              <a:t>. (9%). El Cuerpo </a:t>
            </a:r>
            <a:r>
              <a:rPr sz="1150" dirty="0" err="1">
                <a:solidFill>
                  <a:srgbClr val="FFFFFF"/>
                </a:solidFill>
              </a:rPr>
              <a:t>Docente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domina</a:t>
            </a:r>
            <a:r>
              <a:rPr sz="1150" dirty="0">
                <a:solidFill>
                  <a:srgbClr val="FFFFFF"/>
                </a:solidFill>
              </a:rPr>
              <a:t>, </a:t>
            </a:r>
            <a:r>
              <a:rPr sz="1150" dirty="0" err="1">
                <a:solidFill>
                  <a:srgbClr val="FFFFFF"/>
                </a:solidFill>
              </a:rPr>
              <a:t>consistente</a:t>
            </a:r>
            <a:r>
              <a:rPr sz="1150" dirty="0">
                <a:solidFill>
                  <a:srgbClr val="FFFFFF"/>
                </a:solidFill>
              </a:rPr>
              <a:t> con mayor </a:t>
            </a:r>
            <a:r>
              <a:rPr sz="1150" dirty="0" err="1">
                <a:solidFill>
                  <a:srgbClr val="FFFFFF"/>
                </a:solidFill>
              </a:rPr>
              <a:t>orientación</a:t>
            </a:r>
            <a:r>
              <a:rPr sz="1150" dirty="0">
                <a:solidFill>
                  <a:srgbClr val="FFFFFF"/>
                </a:solidFill>
              </a:rPr>
              <a:t> a la </a:t>
            </a:r>
            <a:r>
              <a:rPr sz="1150" dirty="0" err="1">
                <a:solidFill>
                  <a:srgbClr val="FFFFFF"/>
                </a:solidFill>
              </a:rPr>
              <a:t>enseñanza</a:t>
            </a:r>
            <a:r>
              <a:rPr sz="1150" dirty="0">
                <a:solidFill>
                  <a:srgbClr val="FFFFFF"/>
                </a:solidFill>
              </a:rPr>
              <a:t>.</a:t>
            </a:r>
          </a:p>
          <a:p>
            <a:pPr algn="l">
              <a:spcAft>
                <a:spcPts val="500"/>
              </a:spcAft>
            </a:pPr>
            <a:r>
              <a:rPr sz="1150" dirty="0">
                <a:solidFill>
                  <a:srgbClr val="FFFFFF"/>
                </a:solidFill>
              </a:rPr>
              <a:t>3.  </a:t>
            </a:r>
            <a:r>
              <a:rPr sz="1150" dirty="0" err="1">
                <a:solidFill>
                  <a:srgbClr val="FFFFFF"/>
                </a:solidFill>
              </a:rPr>
              <a:t>Titulares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muestran</a:t>
            </a:r>
            <a:r>
              <a:rPr sz="1150" dirty="0">
                <a:solidFill>
                  <a:srgbClr val="FFFFFF"/>
                </a:solidFill>
              </a:rPr>
              <a:t> la </a:t>
            </a:r>
            <a:r>
              <a:rPr sz="1150" dirty="0" err="1">
                <a:solidFill>
                  <a:srgbClr val="FFFFFF"/>
                </a:solidFill>
              </a:rPr>
              <a:t>menor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representación</a:t>
            </a:r>
            <a:r>
              <a:rPr sz="1150" dirty="0">
                <a:solidFill>
                  <a:srgbClr val="FFFFFF"/>
                </a:solidFill>
              </a:rPr>
              <a:t>, lo </a:t>
            </a:r>
            <a:r>
              <a:rPr sz="1150" dirty="0" err="1">
                <a:solidFill>
                  <a:srgbClr val="FFFFFF"/>
                </a:solidFill>
              </a:rPr>
              <a:t>que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sugiere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menor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propensión</a:t>
            </a:r>
            <a:r>
              <a:rPr sz="1150" dirty="0">
                <a:solidFill>
                  <a:srgbClr val="FFFFFF"/>
                </a:solidFill>
              </a:rPr>
              <a:t> a </a:t>
            </a:r>
            <a:r>
              <a:rPr sz="1150" dirty="0" err="1">
                <a:solidFill>
                  <a:srgbClr val="FFFFFF"/>
                </a:solidFill>
              </a:rPr>
              <a:t>participar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en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formación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en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los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rangos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superiores</a:t>
            </a:r>
            <a:r>
              <a:rPr sz="1150" dirty="0">
                <a:solidFill>
                  <a:srgbClr val="FFFFFF"/>
                </a:solidFill>
              </a:rPr>
              <a:t> del </a:t>
            </a:r>
            <a:r>
              <a:rPr sz="1150" dirty="0" err="1">
                <a:solidFill>
                  <a:srgbClr val="FFFFFF"/>
                </a:solidFill>
              </a:rPr>
              <a:t>escalafón</a:t>
            </a:r>
            <a:r>
              <a:rPr sz="1150" dirty="0">
                <a:solidFill>
                  <a:srgbClr val="FFFFFF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17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581" y="185000"/>
            <a:ext cx="105991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2000" b="1" dirty="0">
                <a:solidFill>
                  <a:srgbClr val="FFFFFF"/>
                </a:solidFill>
              </a:rPr>
              <a:t>Distribución de los docentes de la muestra según </a:t>
            </a:r>
            <a:r>
              <a:rPr sz="2000" b="1" i="0" dirty="0" err="1">
                <a:solidFill>
                  <a:srgbClr val="FFFFFF"/>
                </a:solidFill>
              </a:rPr>
              <a:t>Jerarquía</a:t>
            </a:r>
            <a:r>
              <a:rPr sz="2000" b="1" i="0" dirty="0">
                <a:solidFill>
                  <a:srgbClr val="FFFFFF"/>
                </a:solidFill>
              </a:rPr>
              <a:t> y Tipo de </a:t>
            </a:r>
            <a:r>
              <a:rPr sz="2000" b="1" i="0" dirty="0" err="1">
                <a:solidFill>
                  <a:srgbClr val="FFFFFF"/>
                </a:solidFill>
              </a:rPr>
              <a:t>Formación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6581" y="845000"/>
            <a:ext cx="900000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8DCF0"/>
                </a:solidFill>
              </a:rPr>
              <a:t>Universo: 210 Aptos P3  ·  todos formados  ·  Periodos 2022–2025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1541" y="1163000"/>
            <a:ext cx="9258054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Formados Aptos P3: composición 100% por jerarquía · n absoluto dentro de segmento · total n al margen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581" y="4870000"/>
            <a:ext cx="10599174" cy="18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dirty="0">
                <a:solidFill>
                  <a:srgbClr val="FFFFFF"/>
                </a:solidFill>
              </a:rPr>
              <a:t>1.  Cada barra suman 100% de las </a:t>
            </a:r>
            <a:r>
              <a:rPr sz="1150" dirty="0" err="1">
                <a:solidFill>
                  <a:srgbClr val="FFFFFF"/>
                </a:solidFill>
              </a:rPr>
              <a:t>participaciones</a:t>
            </a:r>
            <a:r>
              <a:rPr sz="1150" dirty="0">
                <a:solidFill>
                  <a:srgbClr val="FFFFFF"/>
                </a:solidFill>
              </a:rPr>
              <a:t> de </a:t>
            </a:r>
            <a:r>
              <a:rPr sz="1150" dirty="0" err="1">
                <a:solidFill>
                  <a:srgbClr val="FFFFFF"/>
                </a:solidFill>
              </a:rPr>
              <a:t>esa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jerarquía</a:t>
            </a:r>
            <a:r>
              <a:rPr sz="1150" dirty="0">
                <a:solidFill>
                  <a:srgbClr val="FFFFFF"/>
                </a:solidFill>
              </a:rPr>
              <a:t> — </a:t>
            </a:r>
            <a:r>
              <a:rPr sz="1150" dirty="0" err="1">
                <a:solidFill>
                  <a:srgbClr val="FFFFFF"/>
                </a:solidFill>
              </a:rPr>
              <a:t>permite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comparar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composición</a:t>
            </a:r>
            <a:r>
              <a:rPr sz="1150" dirty="0">
                <a:solidFill>
                  <a:srgbClr val="FFFFFF"/>
                </a:solidFill>
              </a:rPr>
              <a:t> sin </a:t>
            </a:r>
            <a:r>
              <a:rPr sz="1150" dirty="0" err="1">
                <a:solidFill>
                  <a:srgbClr val="FFFFFF"/>
                </a:solidFill>
              </a:rPr>
              <a:t>que</a:t>
            </a:r>
            <a:r>
              <a:rPr sz="1150" dirty="0">
                <a:solidFill>
                  <a:srgbClr val="FFFFFF"/>
                </a:solidFill>
              </a:rPr>
              <a:t> el </a:t>
            </a:r>
            <a:r>
              <a:rPr sz="1150" dirty="0" err="1">
                <a:solidFill>
                  <a:srgbClr val="FFFFFF"/>
                </a:solidFill>
              </a:rPr>
              <a:t>volumen</a:t>
            </a:r>
            <a:r>
              <a:rPr sz="1150" dirty="0">
                <a:solidFill>
                  <a:srgbClr val="FFFFFF"/>
                </a:solidFill>
              </a:rPr>
              <a:t> de Talleres </a:t>
            </a:r>
            <a:r>
              <a:rPr sz="1150" dirty="0" err="1">
                <a:solidFill>
                  <a:srgbClr val="FFFFFF"/>
                </a:solidFill>
              </a:rPr>
              <a:t>oculte</a:t>
            </a:r>
            <a:r>
              <a:rPr sz="1150" dirty="0">
                <a:solidFill>
                  <a:srgbClr val="FFFFFF"/>
                </a:solidFill>
              </a:rPr>
              <a:t> el resto.</a:t>
            </a:r>
          </a:p>
          <a:p>
            <a:pPr algn="l">
              <a:spcAft>
                <a:spcPts val="500"/>
              </a:spcAft>
            </a:pPr>
            <a:r>
              <a:rPr sz="1150" dirty="0">
                <a:solidFill>
                  <a:srgbClr val="FFFFFF"/>
                </a:solidFill>
              </a:rPr>
              <a:t>2.  Los Talleres </a:t>
            </a:r>
            <a:r>
              <a:rPr sz="1150" dirty="0" err="1">
                <a:solidFill>
                  <a:srgbClr val="FFFFFF"/>
                </a:solidFill>
              </a:rPr>
              <a:t>dominan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en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todas</a:t>
            </a:r>
            <a:r>
              <a:rPr sz="1150" dirty="0">
                <a:solidFill>
                  <a:srgbClr val="FFFFFF"/>
                </a:solidFill>
              </a:rPr>
              <a:t> las </a:t>
            </a:r>
            <a:r>
              <a:rPr sz="1150" dirty="0" err="1">
                <a:solidFill>
                  <a:srgbClr val="FFFFFF"/>
                </a:solidFill>
              </a:rPr>
              <a:t>jerarquías</a:t>
            </a:r>
            <a:r>
              <a:rPr sz="1150" dirty="0">
                <a:solidFill>
                  <a:srgbClr val="FFFFFF"/>
                </a:solidFill>
              </a:rPr>
              <a:t>; </a:t>
            </a:r>
            <a:r>
              <a:rPr sz="1150" dirty="0" err="1">
                <a:solidFill>
                  <a:srgbClr val="FFFFFF"/>
                </a:solidFill>
              </a:rPr>
              <a:t>los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Diplomados</a:t>
            </a:r>
            <a:r>
              <a:rPr sz="1150" dirty="0">
                <a:solidFill>
                  <a:srgbClr val="FFFFFF"/>
                </a:solidFill>
              </a:rPr>
              <a:t> y </a:t>
            </a:r>
            <a:r>
              <a:rPr sz="1150" dirty="0" err="1">
                <a:solidFill>
                  <a:srgbClr val="FFFFFF"/>
                </a:solidFill>
              </a:rPr>
              <a:t>Proyectos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tienen</a:t>
            </a:r>
            <a:r>
              <a:rPr sz="1150" dirty="0">
                <a:solidFill>
                  <a:srgbClr val="FFFFFF"/>
                </a:solidFill>
              </a:rPr>
              <a:t> mayor peso </a:t>
            </a:r>
            <a:r>
              <a:rPr sz="1150" dirty="0" err="1">
                <a:solidFill>
                  <a:srgbClr val="FFFFFF"/>
                </a:solidFill>
              </a:rPr>
              <a:t>relativo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en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Asistente</a:t>
            </a:r>
            <a:r>
              <a:rPr sz="1150" dirty="0">
                <a:solidFill>
                  <a:srgbClr val="FFFFFF"/>
                </a:solidFill>
              </a:rPr>
              <a:t> y </a:t>
            </a:r>
            <a:r>
              <a:rPr sz="1150" dirty="0" err="1">
                <a:solidFill>
                  <a:srgbClr val="FFFFFF"/>
                </a:solidFill>
              </a:rPr>
              <a:t>Asociado</a:t>
            </a:r>
            <a:r>
              <a:rPr sz="1150" dirty="0">
                <a:solidFill>
                  <a:srgbClr val="FFFFFF"/>
                </a:solidFill>
              </a:rPr>
              <a:t>.</a:t>
            </a:r>
          </a:p>
          <a:p>
            <a:pPr algn="l">
              <a:spcAft>
                <a:spcPts val="500"/>
              </a:spcAft>
            </a:pPr>
            <a:r>
              <a:rPr sz="1150" dirty="0">
                <a:solidFill>
                  <a:srgbClr val="FFFFFF"/>
                </a:solidFill>
              </a:rPr>
              <a:t>3.  El n total al </a:t>
            </a:r>
            <a:r>
              <a:rPr sz="1150" dirty="0" err="1">
                <a:solidFill>
                  <a:srgbClr val="FFFFFF"/>
                </a:solidFill>
              </a:rPr>
              <a:t>margen</a:t>
            </a:r>
            <a:r>
              <a:rPr sz="1150" dirty="0">
                <a:solidFill>
                  <a:srgbClr val="FFFFFF"/>
                </a:solidFill>
              </a:rPr>
              <a:t> derecho </a:t>
            </a:r>
            <a:r>
              <a:rPr sz="1150" dirty="0" err="1">
                <a:solidFill>
                  <a:srgbClr val="FFFFFF"/>
                </a:solidFill>
              </a:rPr>
              <a:t>revela</a:t>
            </a:r>
            <a:r>
              <a:rPr sz="1150" dirty="0">
                <a:solidFill>
                  <a:srgbClr val="FFFFFF"/>
                </a:solidFill>
              </a:rPr>
              <a:t> el </a:t>
            </a:r>
            <a:r>
              <a:rPr sz="1150" dirty="0" err="1">
                <a:solidFill>
                  <a:srgbClr val="FFFFFF"/>
                </a:solidFill>
              </a:rPr>
              <a:t>volumen</a:t>
            </a:r>
            <a:r>
              <a:rPr sz="1150" dirty="0">
                <a:solidFill>
                  <a:srgbClr val="FFFFFF"/>
                </a:solidFill>
              </a:rPr>
              <a:t> real: las </a:t>
            </a:r>
            <a:r>
              <a:rPr sz="1150" dirty="0" err="1">
                <a:solidFill>
                  <a:srgbClr val="FFFFFF"/>
                </a:solidFill>
              </a:rPr>
              <a:t>jerarquías</a:t>
            </a:r>
            <a:r>
              <a:rPr sz="1150" dirty="0">
                <a:solidFill>
                  <a:srgbClr val="FFFFFF"/>
                </a:solidFill>
              </a:rPr>
              <a:t> de </a:t>
            </a:r>
            <a:r>
              <a:rPr sz="1150" dirty="0" err="1">
                <a:solidFill>
                  <a:srgbClr val="FFFFFF"/>
                </a:solidFill>
              </a:rPr>
              <a:t>rango</a:t>
            </a:r>
            <a:r>
              <a:rPr sz="1150" dirty="0">
                <a:solidFill>
                  <a:srgbClr val="FFFFFF"/>
                </a:solidFill>
              </a:rPr>
              <a:t> medio </a:t>
            </a:r>
            <a:r>
              <a:rPr sz="1150" dirty="0" err="1">
                <a:solidFill>
                  <a:srgbClr val="FFFFFF"/>
                </a:solidFill>
              </a:rPr>
              <a:t>concentran</a:t>
            </a:r>
            <a:r>
              <a:rPr sz="1150" dirty="0">
                <a:solidFill>
                  <a:srgbClr val="FFFFFF"/>
                </a:solidFill>
              </a:rPr>
              <a:t> la mayor </a:t>
            </a:r>
            <a:r>
              <a:rPr sz="1150" dirty="0" err="1">
                <a:solidFill>
                  <a:srgbClr val="FFFFFF"/>
                </a:solidFill>
              </a:rPr>
              <a:t>participación</a:t>
            </a:r>
            <a:r>
              <a:rPr sz="1150" dirty="0">
                <a:solidFill>
                  <a:srgbClr val="FFFFFF"/>
                </a:solidFill>
              </a:rPr>
              <a:t> </a:t>
            </a:r>
            <a:r>
              <a:rPr sz="1150" dirty="0" err="1">
                <a:solidFill>
                  <a:srgbClr val="FFFFFF"/>
                </a:solidFill>
              </a:rPr>
              <a:t>absoluta</a:t>
            </a:r>
            <a:r>
              <a:rPr sz="1150" dirty="0">
                <a:solidFill>
                  <a:srgbClr val="FFFFFF"/>
                </a:solidFill>
              </a:rPr>
              <a:t> entre </a:t>
            </a:r>
            <a:r>
              <a:rPr sz="1150" dirty="0" err="1">
                <a:solidFill>
                  <a:srgbClr val="FFFFFF"/>
                </a:solidFill>
              </a:rPr>
              <a:t>los</a:t>
            </a:r>
            <a:r>
              <a:rPr sz="1150" dirty="0">
                <a:solidFill>
                  <a:srgbClr val="FFFFFF"/>
                </a:solidFill>
              </a:rPr>
              <a:t> 210 Aptos P3.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19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581" y="185000"/>
            <a:ext cx="10599174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Intensidad de Participación en Formación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581" y="845000"/>
            <a:ext cx="900000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8DCF0"/>
                </a:solidFill>
              </a:rPr>
              <a:t>Universo: 210 Aptos P3  ·  todos formados  ·  Periodos 2022–2025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1541" y="1163000"/>
            <a:ext cx="9258054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N° instancias por docente — Formados Aptos P3  (n=210)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581" y="4870000"/>
            <a:ext cx="10599174" cy="18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1.  La mayoría de los 210 formados Aptos P3 participó en 1 instancia de formación. Solo 36 docentes participaron en 3 o más instancias (heavy users).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2.  Los heavy users son un grupo minoritario pero clave para evaluar efectos acumulativos: mayor exposición acumulada podría correlacionar con mayor mejora SAT.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3.  El n° de instancias es el recuento de registros por docente en el CSV de participación.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20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581" y="185000"/>
            <a:ext cx="10599174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Combinaciones de Modalidad de Formación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581" y="845000"/>
            <a:ext cx="900000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8DCF0"/>
                </a:solidFill>
              </a:rPr>
              <a:t>Universo: 210 Aptos P3  ·  todos formados  ·  Periodos 2022–2025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1541" y="1163000"/>
            <a:ext cx="9258054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Combinaciones de tipos de formación — Formados Aptos P3  (n=210)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581" y="4870000"/>
            <a:ext cx="10599174" cy="18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1.  197 de los 210 formados (94%) participaron en una sola modalidad; 13 tienen Participación Mixta (combinaron dos o más tipos de formación).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2.  Las combinaciones con Participación Mixta (Diplomado | Taller, Proyecto | Taller) representan el subconjunto con mayor exposición acumulada a formación.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3.  El análisis de población pura (slide 23) compara trayectorias SAT solo para los docentes de modalidad única.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6581" y="185000"/>
            <a:ext cx="10599174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BLOQUE II — Evaluación Docente SAT (Antes y Después)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581" y="845000"/>
            <a:ext cx="900000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8DCF0"/>
                </a:solidFill>
              </a:rPr>
              <a:t>Universo: 210 Aptos P3  ·  formados vs control externo sin formacion  ·  2023–2025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581" y="1685000"/>
            <a:ext cx="10519174" cy="31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  Diapo 12:  Diagrama de Venn — tipos de formación  (n=210)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FFFFFF"/>
                </a:solidFill>
              </a:rPr>
              <a:t>•   Diapo 13:  Universo y Metodología P3  (n=210)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FFFFFF"/>
                </a:solidFill>
              </a:rPr>
              <a:t>•   Diapo 14:  Embudo 941 → 419 → 210  (n=941)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FFFFFF"/>
                </a:solidFill>
              </a:rPr>
              <a:t>•   [2.1]  Caracterización de la Formación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FFFFFF"/>
                </a:solidFill>
              </a:rPr>
              <a:t>        •   Diapo 16:  Jerarquía × Tipo  (n=210)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FFFFFF"/>
                </a:solidFill>
              </a:rPr>
              <a:t>        •   Diapo 17:  Antigüedad × Tipo  (n=210)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FFFFFF"/>
                </a:solidFill>
              </a:rPr>
              <a:t>        •   Diapo 18:  Intensidad de participación  (n=210)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FFFFFF"/>
                </a:solidFill>
              </a:rPr>
              <a:t>        •   Diapo 19:  Combinaciones de modalidad  (n=210)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FFFFFF"/>
                </a:solidFill>
              </a:rPr>
              <a:t>•   Diapo 20:  Perfil del Grupo Control  (n=486 ctrl)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FFFFFF"/>
                </a:solidFill>
              </a:rPr>
              <a:t>•   Diapo 21:  SAT z-score: Formados vs Control  (6 períodos)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FFFFFF"/>
                </a:solidFill>
              </a:rPr>
              <a:t>•   Diapo 22:  SAT z-score por Facultad  (n=210)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FFFFFF"/>
                </a:solidFill>
              </a:rPr>
              <a:t>•   Diapo 23:  Histograma Δz por Tipo  (n=210)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FFFFFF"/>
                </a:solidFill>
              </a:rPr>
              <a:t>•   Diapo 24:  Cambio SAT × Antigüedad × Tipo  (n=210)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6581" y="185000"/>
            <a:ext cx="10599174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Universo de Análisis — BLOQUE II: SAT P3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581" y="845000"/>
            <a:ext cx="900000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8DCF0"/>
                </a:solidFill>
              </a:rPr>
              <a:t>Universo base: 941 docentes jerarquizados UCEN  ·  210 reúnen criterios Aptos P3</a:t>
            </a:r>
          </a:p>
        </p:txBody>
      </p:sp>
      <p:sp>
        <p:nvSpPr>
          <p:cNvPr id="5" name="Rectangle 4"/>
          <p:cNvSpPr/>
          <p:nvPr/>
        </p:nvSpPr>
        <p:spPr>
          <a:xfrm>
            <a:off x="886581" y="1205000"/>
            <a:ext cx="5159587" cy="1760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26581" y="1243000"/>
            <a:ext cx="5079587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ABC4"/>
                </a:solidFill>
              </a:rPr>
              <a:t>Universo Rector: 210 Aptos P3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6581" y="1565000"/>
            <a:ext cx="5079587" cy="1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941 docentes jerarquizados UCEN (universo base)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FFFFF"/>
                </a:solidFill>
              </a:rPr>
              <a:t>• 419 participaron en ≥1 iniciativa de formación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FFFFF"/>
                </a:solidFill>
              </a:rPr>
              <a:t>• 210 con SAT válido en baseline y resultado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FFFFF"/>
                </a:solidFill>
              </a:rPr>
              <a:t>• Todos los 210 son formados (no control interno)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168" y="1205000"/>
            <a:ext cx="5159587" cy="1760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66168" y="1243000"/>
            <a:ext cx="5079587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ABC4"/>
                </a:solidFill>
              </a:rPr>
              <a:t>Métrica Principal: SAT z-score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66168" y="1565000"/>
            <a:ext cx="5079587" cy="1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z = (SAT − media facultad-período) / DE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FFFFF"/>
                </a:solidFill>
              </a:rPr>
              <a:t>• Controla diferencias sistemáticas entre unidades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FFFFF"/>
                </a:solidFill>
              </a:rPr>
              <a:t>• z = 0 → promedio exacto de su facultad ese semestre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FFFFF"/>
                </a:solidFill>
              </a:rPr>
              <a:t>• Períodos comparados: 2023-01 a 2025-02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581" y="3015000"/>
            <a:ext cx="5159587" cy="1760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6581" y="3053000"/>
            <a:ext cx="5079587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ABC4"/>
                </a:solidFill>
              </a:rPr>
              <a:t>Grupo de Comparación (Control Externo)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6581" y="3375000"/>
            <a:ext cx="5079587" cy="1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486 docentes sin formación con SAT disponible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FFFFF"/>
                </a:solidFill>
              </a:rPr>
              <a:t>• Comparación: z-score formados vs z-score control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FFFFF"/>
                </a:solidFill>
              </a:rPr>
              <a:t>• Diferencia z = efecto neto de la formación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FFFFF"/>
                </a:solidFill>
              </a:rPr>
              <a:t>• Prueba t de diferencia de medias para validación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168" y="3015000"/>
            <a:ext cx="5159587" cy="1760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66168" y="3053000"/>
            <a:ext cx="5079587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ABC4"/>
                </a:solidFill>
              </a:rPr>
              <a:t>Tipos de Formación Analizados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6168" y="3375000"/>
            <a:ext cx="5079587" cy="1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Taller (corta duración)  ·  n=167 con taller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FFFFF"/>
                </a:solidFill>
              </a:rPr>
              <a:t>• Diplomado (larga duración)  ·  n=36 con diplomado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FFFFF"/>
                </a:solidFill>
              </a:rPr>
              <a:t>• Proyecto de Innovación  ·  n=7 con proyecto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FFFFF"/>
                </a:solidFill>
              </a:rPr>
              <a:t>• Participación Mixta: 13 docentes con modalidades combinadas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embudo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581" y="185000"/>
            <a:ext cx="10599174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Embudo de Seleccion   De 941 a 210 Aptos P3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581" y="845000"/>
            <a:ext cx="900000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8DCF0"/>
                </a:solidFill>
              </a:rPr>
              <a:t>Criterio Aptos P3: SAT valido en baseline (t-1) y resultado (t+1)  |  Universo: 941 docentes jerarquizados UCEN  |  Formacion 2022-2025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581" y="4870000"/>
            <a:ext cx="10599174" cy="18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1.  De los 941 docentes jerarquizados, 419 (45%) participaron en al menos una iniciativa de formación (Taller, Diplomado o Proyecto) entre 2022 y 2025.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2.  210 de esos 419 tienen SAT disponible en los dos momentos clave: baseline (semestre anterior a la formación) y resultado (semestre posterior). Son el universo rector del análisis P3.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3.  Todos los 210 son formados. El grupo control son docentes sin formación con SAT disponible (n≈486 docentes, aprox. 300–415 por período).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6581" y="185000"/>
            <a:ext cx="10599174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2.1 — Caracterización de la 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581" y="845000"/>
            <a:ext cx="900000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8DCF0"/>
                </a:solidFill>
              </a:rPr>
              <a:t>Universo: 210 Aptos P3  ·  todos formados  ·  Periodos 2022–2025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581" y="1685000"/>
            <a:ext cx="10519174" cy="31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  Diapo 16:  Participación por Jerarquía × Tipo  (n=210)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FFFFFF"/>
                </a:solidFill>
              </a:rPr>
              <a:t>•   Diapo 17:  Participación por Antigüedad × Tipo  (n=210)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FFFFFF"/>
                </a:solidFill>
              </a:rPr>
              <a:t>•   Diapo 18:  Intensidad de participación (heavy users)  (n=210)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FFFFFF"/>
                </a:solidFill>
              </a:rPr>
              <a:t>•   Diapo 19:  Combinaciones de modalidad  (n=210)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22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581" y="185000"/>
            <a:ext cx="10599174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SAT z-score: Formados vs Control — 6 Períodos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581" y="845000"/>
            <a:ext cx="900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dirty="0">
                <a:solidFill>
                  <a:schemeClr val="bg1"/>
                </a:solidFill>
              </a:rPr>
              <a:t>Universo: 210 Aptos P3  ·  </a:t>
            </a:r>
            <a:r>
              <a:rPr lang="es-CL" sz="900" b="1" dirty="0">
                <a:solidFill>
                  <a:schemeClr val="bg1"/>
                </a:solidFill>
              </a:rPr>
              <a:t>F</a:t>
            </a:r>
            <a:r>
              <a:rPr sz="900" b="1" dirty="0" err="1">
                <a:solidFill>
                  <a:schemeClr val="bg1"/>
                </a:solidFill>
              </a:rPr>
              <a:t>ormados</a:t>
            </a:r>
            <a:r>
              <a:rPr sz="900" b="1" dirty="0">
                <a:solidFill>
                  <a:schemeClr val="bg1"/>
                </a:solidFill>
              </a:rPr>
              <a:t> vs </a:t>
            </a:r>
            <a:r>
              <a:rPr lang="es-CL" sz="900" b="1" dirty="0">
                <a:solidFill>
                  <a:schemeClr val="bg1"/>
                </a:solidFill>
              </a:rPr>
              <a:t>C</a:t>
            </a:r>
            <a:r>
              <a:rPr sz="900" b="1" dirty="0" err="1">
                <a:solidFill>
                  <a:schemeClr val="bg1"/>
                </a:solidFill>
              </a:rPr>
              <a:t>ontrol</a:t>
            </a:r>
            <a:r>
              <a:rPr sz="900" b="1" dirty="0">
                <a:solidFill>
                  <a:schemeClr val="bg1"/>
                </a:solidFill>
              </a:rPr>
              <a:t> </a:t>
            </a:r>
            <a:r>
              <a:rPr lang="es-CL" sz="900" b="1" dirty="0">
                <a:solidFill>
                  <a:schemeClr val="bg1"/>
                </a:solidFill>
              </a:rPr>
              <a:t>E</a:t>
            </a:r>
            <a:r>
              <a:rPr sz="900" b="1" dirty="0" err="1">
                <a:solidFill>
                  <a:schemeClr val="bg1"/>
                </a:solidFill>
              </a:rPr>
              <a:t>xterno</a:t>
            </a:r>
            <a:r>
              <a:rPr sz="900" b="1" dirty="0">
                <a:solidFill>
                  <a:schemeClr val="bg1"/>
                </a:solidFill>
              </a:rPr>
              <a:t> </a:t>
            </a:r>
            <a:r>
              <a:rPr lang="es-CL" sz="900" b="1" dirty="0">
                <a:solidFill>
                  <a:schemeClr val="bg1"/>
                </a:solidFill>
              </a:rPr>
              <a:t>S</a:t>
            </a:r>
            <a:r>
              <a:rPr sz="900" b="1" dirty="0">
                <a:solidFill>
                  <a:schemeClr val="bg1"/>
                </a:solidFill>
              </a:rPr>
              <a:t>in </a:t>
            </a:r>
            <a:r>
              <a:rPr lang="es-CL" sz="900" b="1" dirty="0">
                <a:solidFill>
                  <a:schemeClr val="bg1"/>
                </a:solidFill>
              </a:rPr>
              <a:t>F</a:t>
            </a:r>
            <a:r>
              <a:rPr sz="900" b="1" dirty="0" err="1">
                <a:solidFill>
                  <a:schemeClr val="bg1"/>
                </a:solidFill>
              </a:rPr>
              <a:t>ormaci</a:t>
            </a:r>
            <a:r>
              <a:rPr lang="es-CL" sz="900" b="1" dirty="0" err="1">
                <a:solidFill>
                  <a:schemeClr val="bg1"/>
                </a:solidFill>
              </a:rPr>
              <a:t>ó</a:t>
            </a:r>
            <a:r>
              <a:rPr sz="900" b="1" dirty="0">
                <a:solidFill>
                  <a:schemeClr val="bg1"/>
                </a:solidFill>
              </a:rPr>
              <a:t>n  ·  2023–2025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1541" y="1163000"/>
            <a:ext cx="9258054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Posición relativa en SAT (z=0 es el promedio de la facultad ese semestre)  ·  n y z por período en gráfico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581" y="4870000"/>
            <a:ext cx="10599174" cy="18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1.  Los docentes formados mantienen un z-score positivo consistente en los 6 períodos (promedio 0.116), por encima del promedio de su facultad.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2.  El grupo control muestra z promedio de -0.064. La brecha Formados − Control = 0.180 z, estadísticamente significativa.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3.  z = 0 representa el promedio exacto de los docentes de la misma facultad en el mismo semestre. Los n por período varían según disponibilidad de SAT en cada semestre.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catter_sat_nota_3p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581" y="185000"/>
            <a:ext cx="1059917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300" b="1" i="0" dirty="0">
                <a:solidFill>
                  <a:srgbClr val="FFFFFF"/>
                </a:solidFill>
              </a:rPr>
              <a:t>Correlación </a:t>
            </a:r>
            <a:r>
              <a:rPr sz="1300" b="1" i="0" dirty="0">
                <a:solidFill>
                  <a:srgbClr val="FFFFFF"/>
                </a:solidFill>
              </a:rPr>
              <a:t>S</a:t>
            </a:r>
            <a:r>
              <a:rPr lang="es-CL" sz="1300" b="1" i="0" dirty="0" err="1">
                <a:solidFill>
                  <a:srgbClr val="FFFFFF"/>
                </a:solidFill>
              </a:rPr>
              <a:t>atisfacción</a:t>
            </a:r>
            <a:r>
              <a:rPr lang="es-CL" sz="1300" b="1" i="0" dirty="0">
                <a:solidFill>
                  <a:srgbClr val="FFFFFF"/>
                </a:solidFill>
              </a:rPr>
              <a:t> </a:t>
            </a:r>
            <a:r>
              <a:rPr sz="1300" b="1" i="0" dirty="0" err="1">
                <a:solidFill>
                  <a:srgbClr val="FFFFFF"/>
                </a:solidFill>
              </a:rPr>
              <a:t>Docente</a:t>
            </a:r>
            <a:r>
              <a:rPr sz="1300" b="1" i="0" dirty="0">
                <a:solidFill>
                  <a:srgbClr val="FFFFFF"/>
                </a:solidFill>
              </a:rPr>
              <a:t> y </a:t>
            </a:r>
            <a:r>
              <a:rPr lang="es-CL" sz="1300" b="1" i="0" dirty="0">
                <a:solidFill>
                  <a:srgbClr val="FFFFFF"/>
                </a:solidFill>
              </a:rPr>
              <a:t>Desempeño Académico Estudiantes según </a:t>
            </a:r>
            <a:r>
              <a:rPr lang="es-CL" sz="1300" b="1" dirty="0">
                <a:solidFill>
                  <a:srgbClr val="FFFFFF"/>
                </a:solidFill>
              </a:rPr>
              <a:t>Nota Promedio de </a:t>
            </a:r>
            <a:r>
              <a:rPr sz="1300" b="1" i="0" dirty="0">
                <a:solidFill>
                  <a:srgbClr val="FFFFFF"/>
                </a:solidFill>
              </a:rPr>
              <a:t>Año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581" y="845000"/>
            <a:ext cx="900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>
                <a:solidFill>
                  <a:schemeClr val="bg1"/>
                </a:solidFill>
              </a:rPr>
              <a:t>Universo con </a:t>
            </a:r>
            <a:r>
              <a:rPr lang="es-CL" sz="900" b="0" dirty="0">
                <a:solidFill>
                  <a:schemeClr val="bg1"/>
                </a:solidFill>
              </a:rPr>
              <a:t>evaluaciones de satisfacción </a:t>
            </a:r>
            <a:r>
              <a:rPr sz="900" b="0" dirty="0">
                <a:solidFill>
                  <a:schemeClr val="bg1"/>
                </a:solidFill>
              </a:rPr>
              <a:t>y </a:t>
            </a:r>
            <a:r>
              <a:rPr sz="900" b="0" dirty="0" err="1">
                <a:solidFill>
                  <a:schemeClr val="bg1"/>
                </a:solidFill>
              </a:rPr>
              <a:t>calificaciones</a:t>
            </a:r>
            <a:r>
              <a:rPr sz="900" b="0" dirty="0">
                <a:solidFill>
                  <a:schemeClr val="bg1"/>
                </a:solidFill>
              </a:rPr>
              <a:t> </a:t>
            </a:r>
            <a:r>
              <a:rPr sz="900" b="0" dirty="0" err="1">
                <a:solidFill>
                  <a:schemeClr val="bg1"/>
                </a:solidFill>
              </a:rPr>
              <a:t>disponibles</a:t>
            </a:r>
            <a:r>
              <a:rPr sz="900" b="0" dirty="0">
                <a:solidFill>
                  <a:schemeClr val="bg1"/>
                </a:solidFill>
              </a:rPr>
              <a:t>  |  2023-01 a 2025-02  |  Cada punto = 1 </a:t>
            </a:r>
            <a:r>
              <a:rPr sz="900" b="0" dirty="0" err="1">
                <a:solidFill>
                  <a:schemeClr val="bg1"/>
                </a:solidFill>
              </a:rPr>
              <a:t>sección</a:t>
            </a:r>
            <a:endParaRPr sz="900" b="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6581" y="4870000"/>
            <a:ext cx="10599174" cy="18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1.  Correlación positiva y estadísticamente significativa entre SAT docente y nota promedio de alumnos en los tres años (r≈0.16 en 2023, r≈0.35 en 2024, r≈0.32 en 2025; p&lt;0.001 en todos los cortes).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2.  Los docentes formados (azul) se concentran en la región SAT mayor a 5 con notas promedio superiores; los sin formación (amarillo) presentan mayor dispersión hacia valores bajos en ambas dimensiones.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3.  La correlación se fortalece en 2024–2025, coincidiendo con el mayor volumen de formación, consistente con un efecto acumulativo sobre el rendimiento estudiantil.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21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581" y="185000"/>
            <a:ext cx="10599174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Perfil del Grupo Control — Distribución por Facultad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581" y="845000"/>
            <a:ext cx="900000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 dirty="0">
                <a:solidFill>
                  <a:srgbClr val="C8DCF0"/>
                </a:solidFill>
              </a:rPr>
              <a:t>Grupo Control: 568 docentes </a:t>
            </a:r>
            <a:r>
              <a:rPr sz="750" b="0" i="1" dirty="0" err="1">
                <a:solidFill>
                  <a:srgbClr val="C8DCF0"/>
                </a:solidFill>
              </a:rPr>
              <a:t>únicos</a:t>
            </a:r>
            <a:r>
              <a:rPr sz="750" b="0" i="1" dirty="0">
                <a:solidFill>
                  <a:srgbClr val="C8DCF0"/>
                </a:solidFill>
              </a:rPr>
              <a:t> sin </a:t>
            </a:r>
            <a:r>
              <a:rPr sz="750" b="0" i="1" dirty="0" err="1">
                <a:solidFill>
                  <a:srgbClr val="C8DCF0"/>
                </a:solidFill>
              </a:rPr>
              <a:t>formación</a:t>
            </a:r>
            <a:r>
              <a:rPr sz="750" b="0" i="1" dirty="0">
                <a:solidFill>
                  <a:srgbClr val="C8DCF0"/>
                </a:solidFill>
              </a:rPr>
              <a:t> con SAT disponible (2023–2025)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1541" y="1163000"/>
            <a:ext cx="9258054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Control externo: distribución por unidad/facultad  (n=568 docentes únicos)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581" y="4870000"/>
            <a:ext cx="10599174" cy="18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1.  El grupo control comprende 568 docentes sin formación con SAT disponible en al menos un período de comparación (2023-01 a 2025-02).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2.  La composición por facultad es comparable a la de los formados, lo que reduce el sesgo de selección. El z-score normaliza por facultad y período.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3.  Nota: el control no fue asignado aleatoriamente — los análisis estadísticos controlan por facultad y período vía la estandarización z-score.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6581" y="185000"/>
            <a:ext cx="10599174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 dirty="0">
                <a:solidFill>
                  <a:srgbClr val="FFFFFF"/>
                </a:solidFill>
              </a:rPr>
              <a:t>BLOQUE III — </a:t>
            </a:r>
            <a:r>
              <a:rPr lang="es-CL" sz="1700" b="1" i="0" dirty="0">
                <a:solidFill>
                  <a:srgbClr val="FFFFFF"/>
                </a:solidFill>
              </a:rPr>
              <a:t>Rendimiento académico</a:t>
            </a:r>
            <a:endParaRPr sz="1700" b="1" i="0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86581" y="845000"/>
            <a:ext cx="900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900" i="1" dirty="0">
                <a:solidFill>
                  <a:schemeClr val="bg1"/>
                </a:solidFill>
              </a:rPr>
              <a:t>E</a:t>
            </a:r>
            <a:r>
              <a:rPr sz="900" b="0" i="1" dirty="0" err="1">
                <a:solidFill>
                  <a:schemeClr val="bg1"/>
                </a:solidFill>
              </a:rPr>
              <a:t>valuaci</a:t>
            </a:r>
            <a:r>
              <a:rPr lang="es-CL" sz="900" b="0" i="1" dirty="0" err="1">
                <a:solidFill>
                  <a:schemeClr val="bg1"/>
                </a:solidFill>
              </a:rPr>
              <a:t>ó</a:t>
            </a:r>
            <a:r>
              <a:rPr sz="900" b="0" i="1" dirty="0">
                <a:solidFill>
                  <a:schemeClr val="bg1"/>
                </a:solidFill>
              </a:rPr>
              <a:t>n de </a:t>
            </a:r>
            <a:r>
              <a:rPr lang="es-CL" sz="900" b="0" i="1" dirty="0">
                <a:solidFill>
                  <a:schemeClr val="bg1"/>
                </a:solidFill>
              </a:rPr>
              <a:t> estudiantes </a:t>
            </a:r>
            <a:r>
              <a:rPr sz="900" b="0" i="1" dirty="0">
                <a:solidFill>
                  <a:schemeClr val="bg1"/>
                </a:solidFill>
              </a:rPr>
              <a:t>2023–2025  </a:t>
            </a:r>
            <a:r>
              <a:rPr lang="es-CL" sz="900" b="0" i="1" dirty="0">
                <a:solidFill>
                  <a:schemeClr val="bg1"/>
                </a:solidFill>
              </a:rPr>
              <a:t>según si los docentes ESTÁN formados v/s los NO formados </a:t>
            </a:r>
            <a:r>
              <a:rPr sz="900" b="0" i="1" dirty="0">
                <a:solidFill>
                  <a:schemeClr val="bg1"/>
                </a:solidFill>
              </a:rPr>
              <a:t>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581" y="1685000"/>
            <a:ext cx="10519174" cy="31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  Diapo 30:  Aprobación Global  (formados vs control)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FFFFFF"/>
                </a:solidFill>
              </a:rPr>
              <a:t>•   Diapo 31:  Evolución de Aprobación × Período  (2023-01 a 2025-02)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FFFFFF"/>
                </a:solidFill>
              </a:rPr>
              <a:t>•   Diapo 32:  Aprobación × Antigüedad  (solo formados)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FFFFFF"/>
                </a:solidFill>
              </a:rPr>
              <a:t>•   Diapo 33:  Aprobación × Jerarquía  (solo formados)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FFFFFF"/>
                </a:solidFill>
              </a:rPr>
              <a:t>•   Diapo 34:  Efecto Acumulativo  (n° instancias formación)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g_b3_perf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581" y="185000"/>
            <a:ext cx="10599174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Bloque III — Perfil Demográfico: Formados vs Control  (Aprobación)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6245" y="845000"/>
            <a:ext cx="90000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750" i="1" dirty="0">
                <a:solidFill>
                  <a:srgbClr val="C8DCF0"/>
                </a:solidFill>
              </a:rPr>
              <a:t>F</a:t>
            </a:r>
            <a:r>
              <a:rPr sz="750" b="0" i="1" dirty="0" err="1">
                <a:solidFill>
                  <a:srgbClr val="C8DCF0"/>
                </a:solidFill>
              </a:rPr>
              <a:t>ormados</a:t>
            </a:r>
            <a:r>
              <a:rPr sz="750" b="0" i="1" dirty="0">
                <a:solidFill>
                  <a:srgbClr val="C8DCF0"/>
                </a:solidFill>
              </a:rPr>
              <a:t> </a:t>
            </a:r>
            <a:r>
              <a:rPr lang="es-CL" sz="750" b="0" i="1" dirty="0">
                <a:solidFill>
                  <a:srgbClr val="C8DCF0"/>
                </a:solidFill>
              </a:rPr>
              <a:t> </a:t>
            </a:r>
            <a:r>
              <a:rPr lang="es-CL" sz="750" i="1" dirty="0" err="1">
                <a:solidFill>
                  <a:srgbClr val="C8DCF0"/>
                </a:solidFill>
              </a:rPr>
              <a:t>N°</a:t>
            </a:r>
            <a:r>
              <a:rPr sz="750" b="0" i="1" dirty="0">
                <a:solidFill>
                  <a:srgbClr val="C8DCF0"/>
                </a:solidFill>
              </a:rPr>
              <a:t>=210  ·  </a:t>
            </a:r>
            <a:r>
              <a:rPr lang="es-CL" sz="750" b="0" i="1" dirty="0">
                <a:solidFill>
                  <a:srgbClr val="C8DCF0"/>
                </a:solidFill>
              </a:rPr>
              <a:t>C</a:t>
            </a:r>
            <a:r>
              <a:rPr sz="750" b="0" i="1" dirty="0" err="1">
                <a:solidFill>
                  <a:srgbClr val="C8DCF0"/>
                </a:solidFill>
              </a:rPr>
              <a:t>ontrol</a:t>
            </a:r>
            <a:r>
              <a:rPr sz="750" b="0" i="1" dirty="0">
                <a:solidFill>
                  <a:srgbClr val="C8DCF0"/>
                </a:solidFill>
              </a:rPr>
              <a:t> </a:t>
            </a:r>
            <a:r>
              <a:rPr lang="es-CL" sz="750" b="0" i="1" dirty="0" err="1">
                <a:solidFill>
                  <a:srgbClr val="C8DCF0"/>
                </a:solidFill>
              </a:rPr>
              <a:t>N°</a:t>
            </a:r>
            <a:r>
              <a:rPr sz="750" b="0" i="1" dirty="0">
                <a:solidFill>
                  <a:srgbClr val="C8DCF0"/>
                </a:solidFill>
              </a:rPr>
              <a:t>=470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581" y="4870000"/>
            <a:ext cx="10599174" cy="18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1.  Jerarquía: 'Asoc. Docente' tiene la mayor diferencia entre grupos (+5 pp). Las barras muestran % dentro de cada grupo — no volumen absoluto — para hacer comparables grupos de distinto tamaño.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2.  Edad: '&lt; 35' es el tramo más diferenciado (-40 pp). Si los grupos difieren en composición, parte de la brecha de aprobación puede deberse a eso y no solo a la formación.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30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581" y="185000"/>
            <a:ext cx="10599174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Aprobación de Alumnos — Formados vs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581" y="677500"/>
            <a:ext cx="900000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 dirty="0">
                <a:solidFill>
                  <a:srgbClr val="C8DCF0"/>
                </a:solidFill>
              </a:rPr>
              <a:t>Universo: 210 Aptos P3  ·  </a:t>
            </a:r>
            <a:r>
              <a:rPr sz="750" b="0" i="1" dirty="0" err="1">
                <a:solidFill>
                  <a:srgbClr val="C8DCF0"/>
                </a:solidFill>
              </a:rPr>
              <a:t>formados</a:t>
            </a:r>
            <a:r>
              <a:rPr sz="750" b="0" i="1" dirty="0">
                <a:solidFill>
                  <a:srgbClr val="C8DCF0"/>
                </a:solidFill>
              </a:rPr>
              <a:t> vs control </a:t>
            </a:r>
            <a:r>
              <a:rPr sz="750" b="0" i="1" dirty="0" err="1">
                <a:solidFill>
                  <a:srgbClr val="C8DCF0"/>
                </a:solidFill>
              </a:rPr>
              <a:t>externo</a:t>
            </a:r>
            <a:r>
              <a:rPr sz="750" b="0" i="1" dirty="0">
                <a:solidFill>
                  <a:srgbClr val="C8DCF0"/>
                </a:solidFill>
              </a:rPr>
              <a:t> sin </a:t>
            </a:r>
            <a:r>
              <a:rPr sz="750" b="0" i="1" dirty="0" err="1">
                <a:solidFill>
                  <a:srgbClr val="C8DCF0"/>
                </a:solidFill>
              </a:rPr>
              <a:t>formacion</a:t>
            </a:r>
            <a:r>
              <a:rPr sz="750" b="0" i="1" dirty="0">
                <a:solidFill>
                  <a:srgbClr val="C8DCF0"/>
                </a:solidFill>
              </a:rPr>
              <a:t>  ·  2023–2025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1541" y="932500"/>
            <a:ext cx="9258054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FFFF"/>
                </a:solidFill>
              </a:rPr>
              <a:t>% </a:t>
            </a:r>
            <a:r>
              <a:rPr sz="1000" b="0" i="0" dirty="0" err="1">
                <a:solidFill>
                  <a:srgbClr val="FFFFFF"/>
                </a:solidFill>
              </a:rPr>
              <a:t>aprobación</a:t>
            </a:r>
            <a:r>
              <a:rPr sz="1000" b="0" i="0" dirty="0">
                <a:solidFill>
                  <a:srgbClr val="FFFFFF"/>
                </a:solidFill>
              </a:rPr>
              <a:t> y nota </a:t>
            </a:r>
            <a:r>
              <a:rPr sz="1000" b="0" i="0" dirty="0" err="1">
                <a:solidFill>
                  <a:srgbClr val="FFFFFF"/>
                </a:solidFill>
              </a:rPr>
              <a:t>promedio</a:t>
            </a:r>
            <a:r>
              <a:rPr sz="1000" b="0" i="0" dirty="0">
                <a:solidFill>
                  <a:srgbClr val="FFFFFF"/>
                </a:solidFill>
              </a:rPr>
              <a:t>  ·  </a:t>
            </a:r>
            <a:r>
              <a:rPr sz="1000" b="0" i="0" dirty="0" err="1">
                <a:solidFill>
                  <a:srgbClr val="FFFFFF"/>
                </a:solidFill>
              </a:rPr>
              <a:t>formados</a:t>
            </a:r>
            <a:r>
              <a:rPr sz="1000" b="0" i="0" dirty="0">
                <a:solidFill>
                  <a:srgbClr val="FFFFFF"/>
                </a:solidFill>
              </a:rPr>
              <a:t> n=3288 </a:t>
            </a:r>
            <a:r>
              <a:rPr sz="1000" b="0" i="0" dirty="0" err="1">
                <a:solidFill>
                  <a:srgbClr val="FFFFFF"/>
                </a:solidFill>
              </a:rPr>
              <a:t>registros</a:t>
            </a:r>
            <a:r>
              <a:rPr sz="1000" b="0" i="0" dirty="0">
                <a:solidFill>
                  <a:srgbClr val="FFFFFF"/>
                </a:solidFill>
              </a:rPr>
              <a:t>  ·  control n=3958 </a:t>
            </a:r>
            <a:r>
              <a:rPr sz="1000" b="0" i="0" dirty="0" err="1">
                <a:solidFill>
                  <a:srgbClr val="FFFFFF"/>
                </a:solidFill>
              </a:rPr>
              <a:t>registros</a:t>
            </a:r>
            <a:r>
              <a:rPr sz="1000" b="0" i="0" dirty="0">
                <a:solidFill>
                  <a:srgbClr val="FFFFFF"/>
                </a:solidFill>
              </a:rPr>
              <a:t>  ·  2023–2025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581" y="4870000"/>
            <a:ext cx="10599174" cy="18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1.  Los docentes formados obtienen mayor aprobación de alumnos (89.5%) que el grupo control (88.4%). Diferencia: +1.1 puntos porcentuales.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2.  La nota promedio de alumnos también es mayor en formados (5.30) vs control (5.24). Diferencia: +0.05 puntos.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3.  Ambos indicadores de rendimiento estudiantil son superiores en los cursos de docentes formados, reforzando el impacto positivo de la formación.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31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581" y="185000"/>
            <a:ext cx="10599174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Evolución de la Aprobación de Alumnos por Período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581" y="845000"/>
            <a:ext cx="900000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8DCF0"/>
                </a:solidFill>
              </a:rPr>
              <a:t>Universo: 210 Aptos P3  ·  formados vs control externo sin formacion  ·  2023–2025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1541" y="1163000"/>
            <a:ext cx="9258054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% aprobación promedio por semestre  ·  azul=formados  ·  naranja=control  ·  área verde=brecha positiva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581" y="4870000"/>
            <a:ext cx="10599174" cy="18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1.  Los formados superan al control en % aprobación en la mayoría de los períodos. Brecha promedio: +1.2 pp.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2.  Los formados muestran aprobación promedio de 89.4% vs 88.3% del control a lo largo del período de análisis.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3.  La brecha tiende a sostenerse o ampliarse en los períodos más recientes, sugiriendo un efecto acumulativo de la formación sobre el rendimiento estudiantil.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32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581" y="185000"/>
            <a:ext cx="10599174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Aprobación de Alumnos por Antigüedad — Docentes Formados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581" y="845000"/>
            <a:ext cx="900000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8DCF0"/>
                </a:solidFill>
              </a:rPr>
              <a:t>Universo: 210 Aptos P3  ·  todos formados  ·  Periodos 2022–2025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1541" y="1163000"/>
            <a:ext cx="9258054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% aprobación promedio de alumnos por tramo de antigüedad del docente  ·  solo formados Aptos P3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581" y="4870000"/>
            <a:ext cx="10599174" cy="18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1.  Los docentes formados con menor antigüedad (0–9 años) obtienen las mayores tasas de aprobación de sus alumnos, con tendencia decreciente a mayor experiencia.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2.  El tramo 0–4 años concentra la mayor mejora potencial de la formación, siendo el perfil más frecuente entre los Aptos P3.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3.  La línea de tendencia ilustra la variación del impacto de la formación según la trayectoria del docente en la institución.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33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581" y="185000"/>
            <a:ext cx="10599174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</a:rPr>
              <a:t>Aprobación</a:t>
            </a:r>
            <a:r>
              <a:rPr sz="2000" b="1" i="0" dirty="0">
                <a:solidFill>
                  <a:srgbClr val="FFFFFF"/>
                </a:solidFill>
              </a:rPr>
              <a:t> de </a:t>
            </a:r>
            <a:r>
              <a:rPr sz="2000" b="1" i="0" dirty="0" err="1">
                <a:solidFill>
                  <a:srgbClr val="FFFFFF"/>
                </a:solidFill>
              </a:rPr>
              <a:t>Alumnos</a:t>
            </a:r>
            <a:r>
              <a:rPr sz="2000" b="1" i="0" dirty="0">
                <a:solidFill>
                  <a:srgbClr val="FFFFFF"/>
                </a:solidFill>
              </a:rPr>
              <a:t> </a:t>
            </a:r>
            <a:r>
              <a:rPr sz="2000" b="1" i="0" dirty="0" err="1">
                <a:solidFill>
                  <a:srgbClr val="FFFFFF"/>
                </a:solidFill>
              </a:rPr>
              <a:t>por</a:t>
            </a:r>
            <a:r>
              <a:rPr sz="2000" b="1" i="0" dirty="0">
                <a:solidFill>
                  <a:srgbClr val="FFFFFF"/>
                </a:solidFill>
              </a:rPr>
              <a:t> </a:t>
            </a:r>
            <a:r>
              <a:rPr sz="2000" b="1" i="0" dirty="0" err="1">
                <a:solidFill>
                  <a:srgbClr val="FFFFFF"/>
                </a:solidFill>
              </a:rPr>
              <a:t>Jerarquía</a:t>
            </a:r>
            <a:r>
              <a:rPr sz="2000" b="1" i="0" dirty="0">
                <a:solidFill>
                  <a:srgbClr val="FFFFFF"/>
                </a:solidFill>
              </a:rPr>
              <a:t> — Docentes </a:t>
            </a:r>
            <a:r>
              <a:rPr sz="2000" b="1" i="0" dirty="0" err="1">
                <a:solidFill>
                  <a:srgbClr val="FFFFFF"/>
                </a:solidFill>
              </a:rPr>
              <a:t>Formados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6581" y="845000"/>
            <a:ext cx="900000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8DCF0"/>
                </a:solidFill>
              </a:rPr>
              <a:t>Universo: 210 Aptos P3  ·  todos formados  ·  Periodos 2022–2025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1541" y="1163000"/>
            <a:ext cx="9258054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% aprobación promedio de alumnos por jerarquía académica  ·  solo formados Aptos P3  ·  n=cursos por jerarquía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581" y="4870000"/>
            <a:ext cx="10599174" cy="18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1.  Los docentes formados de jerarquías intermedias (Asistente, Asociado) obtienen las mayores tasas de aprobación de sus alumnos.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2.  Las jerarquías de entrada (Instructor Docente) muestran alta aprobación, consistente con la mayor participación en formación de estos rangos.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3.  Los Titulares, aunque menos representados entre los formados, presentan altas tasas de aprobación por su mayor experiencia pedagógica consolidada.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34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581" y="185000"/>
            <a:ext cx="10599174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Efecto Acumulativo — Aprobación × N° Instancias de Formación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581" y="845000"/>
            <a:ext cx="900000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8DCF0"/>
                </a:solidFill>
              </a:rPr>
              <a:t>Solo docentes formados (Aptos P3)  ·  cursos impartidos 2023–2025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1541" y="1163000"/>
            <a:ext cx="9258054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% aprobación promedio de alumnos según número de instancias de formación del docente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581" y="4870000"/>
            <a:ext cx="10599174" cy="18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1.  La aprobación de alumnos muestra una tendencia creciente al aumentar el número de instancias de formación del docente, evidenciando efecto acumulativo.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2.  Los docentes con 2 o más instancias de formación tienden a superar en aprobación a los que solo participaron una vez.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3.  El efecto acumulativo refuerza el argumento de que la formación continua produce beneficios medibles y crecientes en el rendimiento estudiantil.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6581" y="185000"/>
            <a:ext cx="10599174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BLOQUE IV — Evaluación de Desempeño Docente (EDD)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581" y="845000"/>
            <a:ext cx="900000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8DCF0"/>
                </a:solidFill>
              </a:rPr>
              <a:t>Fuente: P1_consolidado_con_evaluacion_jefes.csv  ·  formados vs control  ·  2022–2025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581" y="1685000"/>
            <a:ext cx="10519174" cy="31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  Diapo 37:  Evolución EDD — Formados vs Control  (2022–2025)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FFFFFF"/>
                </a:solidFill>
              </a:rPr>
              <a:t>•   Diapo 38:  EDD por Tipo de Formación  (Taller / Diplomado / Proyecto vs Control)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g_b4_perf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581" y="185000"/>
            <a:ext cx="10599174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Bloque IV — Perfil Demográfico: Formados vs Control  (EDD)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581" y="845000"/>
            <a:ext cx="900000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8DCF0"/>
                </a:solidFill>
              </a:rPr>
              <a:t>Control B4: universo 941 sin ninguna actividad P3, con EDD disponible  ·  formados n=140  ·  control n=256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581" y="4870000"/>
            <a:ext cx="10599174" cy="18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1.  Jerarquía: 'Asoc. Docente' muestra la mayor diferencia (+8 pp). El control EDD es más estricto — excluye a todos los que participaron en P3, aunque no sean Aptos.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2.  Edad: '&lt; 35' es el tramo más diferenciado (+3 pp). Comparar este perfil con el del B3 muestra si la definición más estricta de control cambia la composición.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37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581" y="185000"/>
            <a:ext cx="10599174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Evolución EDD — Formados vs Control (2022–2025)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581" y="845000"/>
            <a:ext cx="900000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8DCF0"/>
                </a:solidFill>
              </a:rPr>
              <a:t>EDD: Evaluación de Desempeño Docente  ·  escala 0–1  ·  formados Aptos P3 vs control 941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1541" y="1163000"/>
            <a:ext cx="9258054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EDD Total promedio por año  ·  Formados n=140 doc.  ·  Control n=256 doc.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581" y="4870000"/>
            <a:ext cx="10599174" cy="18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1.  Los docentes formados obtienen EDD promedio de 0.835 vs 0.706 del grupo control — brecha de +0.129 puntos a favor de los formados.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2.  La brecha Formados−Control se amplía en 2024 y 2025, coincidiendo con mayor volumen de formación impartida — el efecto acumulativo se refleja en la EDD.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3.  La EDD mide la evaluación de directivos sobre el desempeño docente, complementando las métricas SAT y aprobación de alumnos con una perspectiva institucional.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38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581" y="185000"/>
            <a:ext cx="10599174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EDD por Tipo de Formación — Promedio vs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581" y="845000"/>
            <a:ext cx="900000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8DCF0"/>
                </a:solidFill>
              </a:rPr>
              <a:t>EDD Total promedio  ·  formados Aptos P3 por modalidad  ·  vs control 941 sin formación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1541" y="1163000"/>
            <a:ext cx="92580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FFFF"/>
                </a:solidFill>
              </a:rPr>
              <a:t>EDD </a:t>
            </a:r>
            <a:r>
              <a:rPr sz="1000" b="0" i="0" dirty="0" err="1">
                <a:solidFill>
                  <a:srgbClr val="FFFFFF"/>
                </a:solidFill>
              </a:rPr>
              <a:t>promedio</a:t>
            </a:r>
            <a:r>
              <a:rPr sz="1000" b="0" i="0" dirty="0">
                <a:solidFill>
                  <a:srgbClr val="FFFFFF"/>
                </a:solidFill>
              </a:rPr>
              <a:t> </a:t>
            </a:r>
            <a:r>
              <a:rPr sz="1000" b="0" i="0" dirty="0" err="1">
                <a:solidFill>
                  <a:srgbClr val="FFFFFF"/>
                </a:solidFill>
              </a:rPr>
              <a:t>por</a:t>
            </a:r>
            <a:r>
              <a:rPr sz="1000" b="0" i="0" dirty="0">
                <a:solidFill>
                  <a:srgbClr val="FFFFFF"/>
                </a:solidFill>
              </a:rPr>
              <a:t> </a:t>
            </a:r>
            <a:r>
              <a:rPr sz="1000" b="0" i="0" dirty="0" err="1">
                <a:solidFill>
                  <a:srgbClr val="FFFFFF"/>
                </a:solidFill>
              </a:rPr>
              <a:t>tipo</a:t>
            </a:r>
            <a:r>
              <a:rPr sz="1000" b="0" i="0" dirty="0">
                <a:solidFill>
                  <a:srgbClr val="FFFFFF"/>
                </a:solidFill>
              </a:rPr>
              <a:t> de </a:t>
            </a:r>
            <a:r>
              <a:rPr sz="1000" b="0" i="0" dirty="0" err="1">
                <a:solidFill>
                  <a:srgbClr val="FFFFFF"/>
                </a:solidFill>
              </a:rPr>
              <a:t>formación</a:t>
            </a:r>
            <a:r>
              <a:rPr sz="1000" b="0" i="0" dirty="0">
                <a:solidFill>
                  <a:srgbClr val="FFFFFF"/>
                </a:solidFill>
              </a:rPr>
              <a:t>  ·  n = </a:t>
            </a:r>
            <a:r>
              <a:rPr sz="1000" b="0" i="0" dirty="0" err="1">
                <a:solidFill>
                  <a:srgbClr val="FFFFFF"/>
                </a:solidFill>
              </a:rPr>
              <a:t>registros</a:t>
            </a:r>
            <a:r>
              <a:rPr sz="1000" b="0" i="0" dirty="0">
                <a:solidFill>
                  <a:srgbClr val="FFFFFF"/>
                </a:solidFill>
              </a:rPr>
              <a:t> EDD </a:t>
            </a:r>
            <a:r>
              <a:rPr sz="1000" b="0" i="0" dirty="0" err="1">
                <a:solidFill>
                  <a:srgbClr val="FFFFFF"/>
                </a:solidFill>
              </a:rPr>
              <a:t>duplicados</a:t>
            </a:r>
            <a:r>
              <a:rPr sz="1000" b="0" i="0" dirty="0">
                <a:solidFill>
                  <a:srgbClr val="FFFFFF"/>
                </a:solidFill>
              </a:rPr>
              <a:t> </a:t>
            </a:r>
            <a:r>
              <a:rPr sz="1000" b="0" i="0" dirty="0" err="1">
                <a:solidFill>
                  <a:srgbClr val="FFFFFF"/>
                </a:solidFill>
              </a:rPr>
              <a:t>por</a:t>
            </a:r>
            <a:r>
              <a:rPr sz="1000" b="0" i="0" dirty="0">
                <a:solidFill>
                  <a:srgbClr val="FFFFFF"/>
                </a:solidFill>
              </a:rPr>
              <a:t> </a:t>
            </a:r>
            <a:r>
              <a:rPr sz="1000" b="0" i="0" dirty="0" err="1">
                <a:solidFill>
                  <a:srgbClr val="FFFFFF"/>
                </a:solidFill>
              </a:rPr>
              <a:t>docente-año</a:t>
            </a:r>
            <a:endParaRPr sz="1000" b="0" i="0" dirty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6581" y="4870000"/>
            <a:ext cx="10599174" cy="18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1.  El tipo 'Diplomado' obtiene la mayor EDD promedio (0.854), por encima del control (0.706). Todos los tipos de formación superan al grupo control.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2.  La formación docente se asocia con mejor evaluación de desempeño en todos los tipos de modalidad, con el Proyecto de Innovación mostrando el mayor impacto relativo.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3.  El grupo control (docentes 941 sin formación) obtiene la menor EDD promedio, confirmando que la formación aporta un efecto positivo medible en el desempeño.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6581" y="185000"/>
            <a:ext cx="10599174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Conclusiones y Recomendaciones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581" y="845000"/>
            <a:ext cx="900000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8DCF0"/>
                </a:solidFill>
              </a:rPr>
              <a:t>Síntesis del análisis de impacto  ·  Universo: 210 Aptos P3  ·  Períodos 2022–2025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886581" y="1205000"/>
            <a:ext cx="5159587" cy="1760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26581" y="1243000"/>
            <a:ext cx="5079587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ABC4"/>
                </a:solidFill>
              </a:rPr>
              <a:t>1. Impacto en SAT (z-score)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6581" y="1565000"/>
            <a:ext cx="5079587" cy="1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Los formados mantienen z-score positivo y sostenido (6 períodos)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FFFFF"/>
                </a:solidFill>
              </a:rPr>
              <a:t>• Brecha Formados − Control estadísticamente significativa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FFFFF"/>
                </a:solidFill>
              </a:rPr>
              <a:t>• El Diplomado produce mayor Δz que el Taller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FFFFF"/>
                </a:solidFill>
              </a:rPr>
              <a:t>• La mejora es generalizada (&gt;50% de los 210 mejoran)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168" y="1205000"/>
            <a:ext cx="5159587" cy="1760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66168" y="1243000"/>
            <a:ext cx="5079587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ABC4"/>
                </a:solidFill>
              </a:rPr>
              <a:t>2. Aprobación de Alumnos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66168" y="1565000"/>
            <a:ext cx="5079587" cy="1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% Aprobación mayor en formados vs control en todos los períodos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FFFFF"/>
                </a:solidFill>
              </a:rPr>
              <a:t>• Nota promedio de alumnos también superior en cursos de formados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FFFFF"/>
                </a:solidFill>
              </a:rPr>
              <a:t>• Brecha más evidente en jerarquías de entrada (Instructor, Asistente)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FFFFF"/>
                </a:solidFill>
              </a:rPr>
              <a:t>• Efecto acumulativo: más instancias → mayor aprobación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581" y="3015000"/>
            <a:ext cx="5159587" cy="1760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6581" y="3053000"/>
            <a:ext cx="5079587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ABC4"/>
                </a:solidFill>
              </a:rPr>
              <a:t>3. EDD — Evaluación de Desempeño (Bloque IV)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6581" y="3375000"/>
            <a:ext cx="5079587" cy="1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EDD promedio formados &gt; control en los 4 años medidos (2022–2025)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FFFFF"/>
                </a:solidFill>
              </a:rPr>
              <a:t>• Proyecto (0.83) ≥ Taller (0.83) &gt; Diplomado (0.85) &gt; Control (0.71)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FFFFF"/>
                </a:solidFill>
              </a:rPr>
              <a:t>• La brecha Formados−Control se amplía en 2024 y 2025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FFFFF"/>
                </a:solidFill>
              </a:rPr>
              <a:t>• Múltiples métricas (SAT, Aprobación, EDD) convergen en el mismo efecto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168" y="3015000"/>
            <a:ext cx="5159587" cy="1760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66168" y="3053000"/>
            <a:ext cx="5079587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ABC4"/>
                </a:solidFill>
              </a:rPr>
              <a:t>4. Recomendaciones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6168" y="3375000"/>
            <a:ext cx="5079587" cy="1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Priorizar Diplomados para docentes con 5–15 años de antigüedad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FFFFF"/>
                </a:solidFill>
              </a:rPr>
              <a:t>• Fomentar la participación repetida (multi-instancia) en Talleres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FFFFF"/>
                </a:solidFill>
              </a:rPr>
              <a:t>• Monitorear la brecha Formados−Control semestralmente (SAT y EDD)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FFFFF"/>
                </a:solidFill>
              </a:rPr>
              <a:t>• Extender el análisis P3 a los 419 participantes de P2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4127</Words>
  <Application>Microsoft Office PowerPoint</Application>
  <PresentationFormat>Panorámica</PresentationFormat>
  <Paragraphs>253</Paragraphs>
  <Slides>34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Daniela Prieto</dc:creator>
  <cp:keywords/>
  <dc:description>generated using python-pptx</dc:description>
  <cp:lastModifiedBy>Daniela Prieto</cp:lastModifiedBy>
  <cp:revision>2</cp:revision>
  <dcterms:created xsi:type="dcterms:W3CDTF">2013-01-27T09:14:16Z</dcterms:created>
  <dcterms:modified xsi:type="dcterms:W3CDTF">2026-07-18T22:07:53Z</dcterms:modified>
  <cp:category/>
</cp:coreProperties>
</file>