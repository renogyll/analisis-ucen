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9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</p:sldIdLst>
  <p:sldSz cx="12192000" cy="6858000"/>
  <p:notesSz cx="12192000" cy="6858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6150" autoAdjust="0"/>
  </p:normalViewPr>
  <p:slideViewPr>
    <p:cSldViewPr>
      <p:cViewPr varScale="1">
        <p:scale>
          <a:sx n="106" d="100"/>
          <a:sy n="106" d="100"/>
        </p:scale>
        <p:origin x="780" y="10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-2285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Prieto" userId="6ea9a3ad0f1c58a5" providerId="LiveId" clId="{9124C72F-8947-4B88-8F30-54B07759D237}"/>
    <pc:docChg chg="undo custSel modSld">
      <pc:chgData name="Daniela Prieto" userId="6ea9a3ad0f1c58a5" providerId="LiveId" clId="{9124C72F-8947-4B88-8F30-54B07759D237}" dt="2026-07-23T08:05:35.747" v="139" actId="1076"/>
      <pc:docMkLst>
        <pc:docMk/>
      </pc:docMkLst>
      <pc:sldChg chg="modSp mod">
        <pc:chgData name="Daniela Prieto" userId="6ea9a3ad0f1c58a5" providerId="LiveId" clId="{9124C72F-8947-4B88-8F30-54B07759D237}" dt="2026-07-23T08:05:35.747" v="139" actId="1076"/>
        <pc:sldMkLst>
          <pc:docMk/>
          <pc:sldMk cId="0" sldId="272"/>
        </pc:sldMkLst>
        <pc:spChg chg="mod">
          <ac:chgData name="Daniela Prieto" userId="6ea9a3ad0f1c58a5" providerId="LiveId" clId="{9124C72F-8947-4B88-8F30-54B07759D237}" dt="2026-07-23T08:05:35.747" v="139" actId="1076"/>
          <ac:spMkLst>
            <pc:docMk/>
            <pc:sldMk cId="0" sldId="272"/>
            <ac:spMk id="2" creationId="{00000000-0000-0000-0000-000000000000}"/>
          </ac:spMkLst>
        </pc:spChg>
      </pc:sldChg>
      <pc:sldChg chg="modSp mod">
        <pc:chgData name="Daniela Prieto" userId="6ea9a3ad0f1c58a5" providerId="LiveId" clId="{9124C72F-8947-4B88-8F30-54B07759D237}" dt="2026-07-23T08:04:48.589" v="138" actId="255"/>
        <pc:sldMkLst>
          <pc:docMk/>
          <pc:sldMk cId="0" sldId="281"/>
        </pc:sldMkLst>
        <pc:spChg chg="mod">
          <ac:chgData name="Daniela Prieto" userId="6ea9a3ad0f1c58a5" providerId="LiveId" clId="{9124C72F-8947-4B88-8F30-54B07759D237}" dt="2026-07-23T08:04:48.589" v="138" actId="255"/>
          <ac:spMkLst>
            <pc:docMk/>
            <pc:sldMk cId="0" sldId="281"/>
            <ac:spMk id="5" creationId="{00000000-0000-0000-0000-000000000000}"/>
          </ac:spMkLst>
        </pc:spChg>
      </pc:sldChg>
      <pc:sldChg chg="modSp mod">
        <pc:chgData name="Daniela Prieto" userId="6ea9a3ad0f1c58a5" providerId="LiveId" clId="{9124C72F-8947-4B88-8F30-54B07759D237}" dt="2026-07-23T08:03:42.791" v="133" actId="1076"/>
        <pc:sldMkLst>
          <pc:docMk/>
          <pc:sldMk cId="0" sldId="289"/>
        </pc:sldMkLst>
        <pc:spChg chg="mod">
          <ac:chgData name="Daniela Prieto" userId="6ea9a3ad0f1c58a5" providerId="LiveId" clId="{9124C72F-8947-4B88-8F30-54B07759D237}" dt="2026-07-23T08:03:38.830" v="132" actId="1076"/>
          <ac:spMkLst>
            <pc:docMk/>
            <pc:sldMk cId="0" sldId="289"/>
            <ac:spMk id="2" creationId="{00000000-0000-0000-0000-000000000000}"/>
          </ac:spMkLst>
        </pc:spChg>
        <pc:spChg chg="mod">
          <ac:chgData name="Daniela Prieto" userId="6ea9a3ad0f1c58a5" providerId="LiveId" clId="{9124C72F-8947-4B88-8F30-54B07759D237}" dt="2026-07-23T08:03:42.791" v="133" actId="1076"/>
          <ac:spMkLst>
            <pc:docMk/>
            <pc:sldMk cId="0" sldId="289"/>
            <ac:spMk id="5" creationId="{00000000-0000-0000-0000-000000000000}"/>
          </ac:spMkLst>
        </pc:spChg>
      </pc:sldChg>
      <pc:sldChg chg="modSp mod">
        <pc:chgData name="Daniela Prieto" userId="6ea9a3ad0f1c58a5" providerId="LiveId" clId="{9124C72F-8947-4B88-8F30-54B07759D237}" dt="2026-07-23T08:04:03.866" v="137" actId="1076"/>
        <pc:sldMkLst>
          <pc:docMk/>
          <pc:sldMk cId="0" sldId="290"/>
        </pc:sldMkLst>
        <pc:spChg chg="mod">
          <ac:chgData name="Daniela Prieto" userId="6ea9a3ad0f1c58a5" providerId="LiveId" clId="{9124C72F-8947-4B88-8F30-54B07759D237}" dt="2026-07-23T08:04:03.866" v="137" actId="1076"/>
          <ac:spMkLst>
            <pc:docMk/>
            <pc:sldMk cId="0" sldId="290"/>
            <ac:spMk id="5" creationId="{00000000-0000-0000-0000-000000000000}"/>
          </ac:spMkLst>
        </pc:spChg>
      </pc:sldChg>
      <pc:sldChg chg="delSp modSp mod">
        <pc:chgData name="Daniela Prieto" userId="6ea9a3ad0f1c58a5" providerId="LiveId" clId="{9124C72F-8947-4B88-8F30-54B07759D237}" dt="2026-07-23T08:03:19.651" v="131" actId="20577"/>
        <pc:sldMkLst>
          <pc:docMk/>
          <pc:sldMk cId="0" sldId="291"/>
        </pc:sldMkLst>
        <pc:spChg chg="mod">
          <ac:chgData name="Daniela Prieto" userId="6ea9a3ad0f1c58a5" providerId="LiveId" clId="{9124C72F-8947-4B88-8F30-54B07759D237}" dt="2026-07-23T07:58:03.276" v="43" actId="1076"/>
          <ac:spMkLst>
            <pc:docMk/>
            <pc:sldMk cId="0" sldId="291"/>
            <ac:spMk id="3" creationId="{00000000-0000-0000-0000-000000000000}"/>
          </ac:spMkLst>
        </pc:spChg>
        <pc:spChg chg="del mod">
          <ac:chgData name="Daniela Prieto" userId="6ea9a3ad0f1c58a5" providerId="LiveId" clId="{9124C72F-8947-4B88-8F30-54B07759D237}" dt="2026-07-23T07:55:22.473" v="23" actId="478"/>
          <ac:spMkLst>
            <pc:docMk/>
            <pc:sldMk cId="0" sldId="291"/>
            <ac:spMk id="4" creationId="{00000000-0000-0000-0000-000000000000}"/>
          </ac:spMkLst>
        </pc:spChg>
        <pc:spChg chg="mod">
          <ac:chgData name="Daniela Prieto" userId="6ea9a3ad0f1c58a5" providerId="LiveId" clId="{9124C72F-8947-4B88-8F30-54B07759D237}" dt="2026-07-23T08:02:42.441" v="127" actId="207"/>
          <ac:spMkLst>
            <pc:docMk/>
            <pc:sldMk cId="0" sldId="291"/>
            <ac:spMk id="5" creationId="{00000000-0000-0000-0000-000000000000}"/>
          </ac:spMkLst>
        </pc:spChg>
        <pc:spChg chg="del">
          <ac:chgData name="Daniela Prieto" userId="6ea9a3ad0f1c58a5" providerId="LiveId" clId="{9124C72F-8947-4B88-8F30-54B07759D237}" dt="2026-07-23T07:53:58.038" v="9" actId="478"/>
          <ac:spMkLst>
            <pc:docMk/>
            <pc:sldMk cId="0" sldId="291"/>
            <ac:spMk id="6" creationId="{00000000-0000-0000-0000-000000000000}"/>
          </ac:spMkLst>
        </pc:spChg>
        <pc:spChg chg="mod">
          <ac:chgData name="Daniela Prieto" userId="6ea9a3ad0f1c58a5" providerId="LiveId" clId="{9124C72F-8947-4B88-8F30-54B07759D237}" dt="2026-07-23T08:02:37.213" v="126" actId="207"/>
          <ac:spMkLst>
            <pc:docMk/>
            <pc:sldMk cId="0" sldId="291"/>
            <ac:spMk id="7" creationId="{00000000-0000-0000-0000-000000000000}"/>
          </ac:spMkLst>
        </pc:spChg>
        <pc:spChg chg="mod">
          <ac:chgData name="Daniela Prieto" userId="6ea9a3ad0f1c58a5" providerId="LiveId" clId="{9124C72F-8947-4B88-8F30-54B07759D237}" dt="2026-07-23T08:01:41.997" v="114" actId="14100"/>
          <ac:spMkLst>
            <pc:docMk/>
            <pc:sldMk cId="0" sldId="291"/>
            <ac:spMk id="10" creationId="{00000000-0000-0000-0000-000000000000}"/>
          </ac:spMkLst>
        </pc:spChg>
        <pc:spChg chg="mod">
          <ac:chgData name="Daniela Prieto" userId="6ea9a3ad0f1c58a5" providerId="LiveId" clId="{9124C72F-8947-4B88-8F30-54B07759D237}" dt="2026-07-23T08:02:52.380" v="129" actId="207"/>
          <ac:spMkLst>
            <pc:docMk/>
            <pc:sldMk cId="0" sldId="291"/>
            <ac:spMk id="11" creationId="{00000000-0000-0000-0000-000000000000}"/>
          </ac:spMkLst>
        </pc:spChg>
        <pc:spChg chg="mod">
          <ac:chgData name="Daniela Prieto" userId="6ea9a3ad0f1c58a5" providerId="LiveId" clId="{9124C72F-8947-4B88-8F30-54B07759D237}" dt="2026-07-23T07:59:00.051" v="52" actId="14100"/>
          <ac:spMkLst>
            <pc:docMk/>
            <pc:sldMk cId="0" sldId="291"/>
            <ac:spMk id="13" creationId="{00000000-0000-0000-0000-000000000000}"/>
          </ac:spMkLst>
        </pc:spChg>
        <pc:spChg chg="mod">
          <ac:chgData name="Daniela Prieto" userId="6ea9a3ad0f1c58a5" providerId="LiveId" clId="{9124C72F-8947-4B88-8F30-54B07759D237}" dt="2026-07-23T07:59:07.101" v="53" actId="14100"/>
          <ac:spMkLst>
            <pc:docMk/>
            <pc:sldMk cId="0" sldId="291"/>
            <ac:spMk id="14" creationId="{00000000-0000-0000-0000-000000000000}"/>
          </ac:spMkLst>
        </pc:spChg>
        <pc:spChg chg="mod">
          <ac:chgData name="Daniela Prieto" userId="6ea9a3ad0f1c58a5" providerId="LiveId" clId="{9124C72F-8947-4B88-8F30-54B07759D237}" dt="2026-07-23T08:03:19.651" v="131" actId="20577"/>
          <ac:spMkLst>
            <pc:docMk/>
            <pc:sldMk cId="0" sldId="291"/>
            <ac:spMk id="15" creationId="{00000000-0000-0000-0000-000000000000}"/>
          </ac:spMkLst>
        </pc:spChg>
        <pc:grpChg chg="mod">
          <ac:chgData name="Daniela Prieto" userId="6ea9a3ad0f1c58a5" providerId="LiveId" clId="{9124C72F-8947-4B88-8F30-54B07759D237}" dt="2026-07-23T07:55:38.578" v="26" actId="1076"/>
          <ac:grpSpMkLst>
            <pc:docMk/>
            <pc:sldMk cId="0" sldId="291"/>
            <ac:grpSpMk id="8" creationId="{00000000-0000-0000-0000-000000000000}"/>
          </ac:grpSpMkLst>
        </pc:grpChg>
        <pc:grpChg chg="mod">
          <ac:chgData name="Daniela Prieto" userId="6ea9a3ad0f1c58a5" providerId="LiveId" clId="{9124C72F-8947-4B88-8F30-54B07759D237}" dt="2026-07-23T08:02:14.094" v="123" actId="14100"/>
          <ac:grpSpMkLst>
            <pc:docMk/>
            <pc:sldMk cId="0" sldId="291"/>
            <ac:grpSpMk id="12" creationId="{00000000-0000-0000-0000-00000000000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7D018A-01AB-45AC-9902-5B85623B6806}" type="datetimeFigureOut">
              <a:rPr lang="es-CL" smtClean="0"/>
              <a:t>30-07-2026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AC5D8A-3622-409E-9AE9-328B40B4502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03939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C5D8A-3622-409E-9AE9-328B40B4502E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96067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17317" y="2450414"/>
            <a:ext cx="635736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199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29184" y="285584"/>
            <a:ext cx="10899648" cy="61310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1999" cy="685799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51785" y="200990"/>
            <a:ext cx="6488429" cy="636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17317" y="2450414"/>
            <a:ext cx="63366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Resultados 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del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Perfeccionamiento</a:t>
            </a:r>
            <a:r>
              <a:rPr sz="2800" b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Docente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56649" y="3342280"/>
            <a:ext cx="6858000" cy="536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spcBef>
                <a:spcPts val="105"/>
              </a:spcBef>
            </a:pPr>
            <a:r>
              <a:rPr lang="es-ES" sz="1700" dirty="0">
                <a:solidFill>
                  <a:srgbClr val="C8DCF0"/>
                </a:solidFill>
              </a:rPr>
              <a:t>Análisis de Incidencia: Satisfacción, Rendimiento Estudiantil y Desempeño Docente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05000" y="5224729"/>
            <a:ext cx="8001000" cy="59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Universidad 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Central </a:t>
            </a:r>
            <a:endParaRPr lang="es-CL" sz="1200" b="1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200" b="1" spc="-5" dirty="0" err="1">
                <a:solidFill>
                  <a:srgbClr val="FFFFFF"/>
                </a:solidFill>
                <a:latin typeface="Calibri"/>
                <a:cs typeface="Calibri"/>
              </a:rPr>
              <a:t>Producto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3: 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Análisis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Formación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200" b="1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5" dirty="0" err="1">
                <a:solidFill>
                  <a:srgbClr val="FFFFFF"/>
                </a:solidFill>
                <a:latin typeface="Calibri"/>
                <a:cs typeface="Calibri"/>
              </a:rPr>
              <a:t>Innovación</a:t>
            </a:r>
            <a:endParaRPr lang="es-CL" sz="1200" b="1" spc="-5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CL" sz="1200" b="1" spc="-5" dirty="0">
                <a:solidFill>
                  <a:srgbClr val="FFFFFF"/>
                </a:solidFill>
                <a:latin typeface="Calibri"/>
                <a:cs typeface="Calibri"/>
              </a:rPr>
              <a:t>Julio 2026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3800" y="724925"/>
            <a:ext cx="46482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" dirty="0"/>
              <a:t>Marco </a:t>
            </a:r>
            <a:r>
              <a:rPr sz="1600" spc="-10" dirty="0"/>
              <a:t>Metodológico </a:t>
            </a:r>
            <a:r>
              <a:rPr sz="1600" spc="-5" dirty="0" err="1"/>
              <a:t>por</a:t>
            </a:r>
            <a:r>
              <a:rPr sz="1600" spc="-5" dirty="0"/>
              <a:t> Bloque</a:t>
            </a:r>
            <a:r>
              <a:rPr lang="es-CL" sz="1600" spc="-5" dirty="0"/>
              <a:t> (4)</a:t>
            </a:r>
            <a:r>
              <a:rPr sz="1600" spc="-5" dirty="0"/>
              <a:t> — </a:t>
            </a:r>
            <a:r>
              <a:rPr lang="es-CL" sz="1600" spc="-5" dirty="0"/>
              <a:t>Objetivo N°3</a:t>
            </a:r>
            <a:endParaRPr sz="1600" dirty="0"/>
          </a:p>
        </p:txBody>
      </p:sp>
      <p:grpSp>
        <p:nvGrpSpPr>
          <p:cNvPr id="3" name="object 3"/>
          <p:cNvGrpSpPr/>
          <p:nvPr/>
        </p:nvGrpSpPr>
        <p:grpSpPr>
          <a:xfrm>
            <a:off x="97997" y="1447800"/>
            <a:ext cx="12170203" cy="6309614"/>
            <a:chOff x="134112" y="464819"/>
            <a:chExt cx="12336319" cy="6379467"/>
          </a:xfrm>
        </p:grpSpPr>
        <p:sp>
          <p:nvSpPr>
            <p:cNvPr id="4" name="object 4"/>
            <p:cNvSpPr/>
            <p:nvPr/>
          </p:nvSpPr>
          <p:spPr>
            <a:xfrm>
              <a:off x="143256" y="492298"/>
              <a:ext cx="11900916" cy="9164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4112" y="464819"/>
              <a:ext cx="12024360" cy="602894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9894" y="524946"/>
              <a:ext cx="10826867" cy="4907114"/>
            </a:xfrm>
            <a:custGeom>
              <a:avLst/>
              <a:gdLst/>
              <a:ahLst/>
              <a:cxnLst/>
              <a:rect l="l" t="t" r="r" b="b"/>
              <a:pathLst>
                <a:path w="11934190" h="5937250">
                  <a:moveTo>
                    <a:pt x="11933936" y="0"/>
                  </a:moveTo>
                  <a:lnTo>
                    <a:pt x="0" y="0"/>
                  </a:lnTo>
                  <a:lnTo>
                    <a:pt x="0" y="5937250"/>
                  </a:lnTo>
                  <a:lnTo>
                    <a:pt x="11933936" y="5937250"/>
                  </a:lnTo>
                  <a:lnTo>
                    <a:pt x="11933936" y="0"/>
                  </a:lnTo>
                  <a:close/>
                </a:path>
              </a:pathLst>
            </a:custGeom>
            <a:solidFill>
              <a:srgbClr val="0A1A3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181000" y="489991"/>
              <a:ext cx="11934190" cy="5937250"/>
            </a:xfrm>
            <a:custGeom>
              <a:avLst/>
              <a:gdLst/>
              <a:ahLst/>
              <a:cxnLst/>
              <a:rect l="l" t="t" r="r" b="b"/>
              <a:pathLst>
                <a:path w="11934190" h="5937250">
                  <a:moveTo>
                    <a:pt x="0" y="5937250"/>
                  </a:moveTo>
                  <a:lnTo>
                    <a:pt x="11933936" y="5937250"/>
                  </a:lnTo>
                  <a:lnTo>
                    <a:pt x="11933936" y="0"/>
                  </a:lnTo>
                  <a:lnTo>
                    <a:pt x="0" y="0"/>
                  </a:lnTo>
                  <a:lnTo>
                    <a:pt x="0" y="5937250"/>
                  </a:lnTo>
                  <a:close/>
                </a:path>
              </a:pathLst>
            </a:custGeom>
            <a:ln w="9525">
              <a:solidFill>
                <a:srgbClr val="396D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53328" y="505970"/>
              <a:ext cx="93102" cy="633831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95999" y="524946"/>
              <a:ext cx="12065" cy="6258560"/>
            </a:xfrm>
            <a:custGeom>
              <a:avLst/>
              <a:gdLst/>
              <a:ahLst/>
              <a:cxnLst/>
              <a:rect l="l" t="t" r="r" b="b"/>
              <a:pathLst>
                <a:path w="12064" h="6258559">
                  <a:moveTo>
                    <a:pt x="12000" y="0"/>
                  </a:moveTo>
                  <a:lnTo>
                    <a:pt x="0" y="0"/>
                  </a:lnTo>
                  <a:lnTo>
                    <a:pt x="0" y="6258052"/>
                  </a:lnTo>
                  <a:lnTo>
                    <a:pt x="12000" y="6258052"/>
                  </a:lnTo>
                  <a:lnTo>
                    <a:pt x="12000" y="0"/>
                  </a:lnTo>
                  <a:close/>
                </a:path>
              </a:pathLst>
            </a:custGeom>
            <a:solidFill>
              <a:srgbClr val="396D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9515" y="4656175"/>
              <a:ext cx="11900916" cy="9164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3995" y="3426651"/>
              <a:ext cx="11820525" cy="12065"/>
            </a:xfrm>
            <a:custGeom>
              <a:avLst/>
              <a:gdLst/>
              <a:ahLst/>
              <a:cxnLst/>
              <a:rect l="l" t="t" r="r" b="b"/>
              <a:pathLst>
                <a:path w="11820525" h="12064">
                  <a:moveTo>
                    <a:pt x="11820017" y="0"/>
                  </a:moveTo>
                  <a:lnTo>
                    <a:pt x="0" y="0"/>
                  </a:lnTo>
                  <a:lnTo>
                    <a:pt x="0" y="12000"/>
                  </a:lnTo>
                  <a:lnTo>
                    <a:pt x="11820017" y="12000"/>
                  </a:lnTo>
                  <a:lnTo>
                    <a:pt x="11820017" y="0"/>
                  </a:lnTo>
                  <a:close/>
                </a:path>
              </a:pathLst>
            </a:custGeom>
            <a:solidFill>
              <a:srgbClr val="396D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66800" y="1614642"/>
            <a:ext cx="4838746" cy="458394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BLOQUE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I ·</a:t>
            </a:r>
            <a:r>
              <a:rPr sz="1400" b="1" spc="2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Caracterización</a:t>
            </a:r>
            <a:endParaRPr sz="1400" dirty="0">
              <a:latin typeface="Calibri"/>
              <a:cs typeface="Calibri"/>
            </a:endParaRPr>
          </a:p>
          <a:p>
            <a:pPr marL="25400" algn="ctr">
              <a:lnSpc>
                <a:spcPct val="100000"/>
              </a:lnSpc>
            </a:pPr>
            <a:endParaRPr lang="es-CL" sz="1200" b="1" spc="-5" dirty="0">
              <a:solidFill>
                <a:srgbClr val="7DBEEF"/>
              </a:solidFill>
              <a:latin typeface="Calibri"/>
              <a:cs typeface="Calibri"/>
            </a:endParaRPr>
          </a:p>
          <a:p>
            <a:pPr marL="25400" algn="ctr">
              <a:lnSpc>
                <a:spcPct val="100000"/>
              </a:lnSpc>
            </a:pPr>
            <a:r>
              <a:rPr sz="1400" b="1" u="sng" spc="-5" dirty="0" err="1">
                <a:solidFill>
                  <a:schemeClr val="bg1"/>
                </a:solidFill>
                <a:latin typeface="Calibri"/>
                <a:cs typeface="Calibri"/>
              </a:rPr>
              <a:t>Descripción</a:t>
            </a:r>
            <a:r>
              <a:rPr sz="1400" b="1" u="sng" spc="-5" dirty="0">
                <a:solidFill>
                  <a:schemeClr val="bg1"/>
                </a:solidFill>
                <a:latin typeface="Calibri"/>
                <a:cs typeface="Calibri"/>
              </a:rPr>
              <a:t> del Universo — Filtros y</a:t>
            </a:r>
            <a:r>
              <a:rPr sz="1400" b="1" u="sng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400" b="1" u="sng" spc="-5" dirty="0" err="1">
                <a:solidFill>
                  <a:schemeClr val="bg1"/>
                </a:solidFill>
                <a:latin typeface="Calibri"/>
                <a:cs typeface="Calibri"/>
              </a:rPr>
              <a:t>Metodología</a:t>
            </a:r>
            <a:endParaRPr lang="es-CL" sz="1400" b="1" u="sng" spc="-5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25400" algn="ctr">
              <a:lnSpc>
                <a:spcPct val="100000"/>
              </a:lnSpc>
            </a:pPr>
            <a:endParaRPr sz="1200" dirty="0">
              <a:latin typeface="Calibri"/>
              <a:cs typeface="Calibri"/>
            </a:endParaRPr>
          </a:p>
          <a:p>
            <a:pPr marL="254000" marR="43180" indent="-228600" algn="just">
              <a:lnSpc>
                <a:spcPct val="100000"/>
              </a:lnSpc>
              <a:spcBef>
                <a:spcPts val="375"/>
              </a:spcBef>
              <a:buFont typeface="+mj-lt"/>
              <a:buAutoNum type="arabicPeriod"/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N°=316 </a:t>
            </a: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docentes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Aptos P3 — análisis descriptivo, sin grupo de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control.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Derivación: 1.144 </a:t>
            </a: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docentes </a:t>
            </a:r>
            <a:r>
              <a:rPr sz="1200" spc="-5" dirty="0" err="1">
                <a:solidFill>
                  <a:srgbClr val="FFFFFF"/>
                </a:solidFill>
                <a:latin typeface="Calibri"/>
                <a:cs typeface="Calibri"/>
              </a:rPr>
              <a:t>universo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base → 726  </a:t>
            </a: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docentes </a:t>
            </a:r>
            <a:r>
              <a:rPr sz="1200" spc="-5" dirty="0" err="1">
                <a:solidFill>
                  <a:srgbClr val="FFFFFF"/>
                </a:solidFill>
                <a:latin typeface="Calibri"/>
                <a:cs typeface="Calibri"/>
              </a:rPr>
              <a:t>formados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en P3 → 316 con </a:t>
            </a: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evaluación de satisfacción </a:t>
            </a:r>
            <a:r>
              <a:rPr sz="1200" spc="-5" dirty="0" err="1">
                <a:solidFill>
                  <a:srgbClr val="FFFFFF"/>
                </a:solidFill>
                <a:latin typeface="Calibri"/>
                <a:cs typeface="Calibri"/>
              </a:rPr>
              <a:t>válido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≥3 períodos (pre · durante · post) </a:t>
            </a:r>
            <a:endParaRPr lang="es-CL" sz="1200" spc="-5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254000" marR="43180" indent="-228600" algn="just">
              <a:lnSpc>
                <a:spcPct val="100000"/>
              </a:lnSpc>
              <a:spcBef>
                <a:spcPts val="375"/>
              </a:spcBef>
              <a:buFont typeface="+mj-lt"/>
              <a:buAutoNum type="arabicPeriod"/>
            </a:pPr>
            <a:r>
              <a:rPr sz="1200" spc="-5" dirty="0" err="1">
                <a:solidFill>
                  <a:srgbClr val="FFFFFF"/>
                </a:solidFill>
                <a:latin typeface="Calibri"/>
                <a:cs typeface="Calibri"/>
              </a:rPr>
              <a:t>Criterios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: cobertura ≥40%, sección ≥7 alumnos matriculados; excluye asignaturas prácticas, proyecto de  título, seminario y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ciclo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formativo.</a:t>
            </a:r>
            <a:endParaRPr sz="12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endParaRPr sz="1400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</a:pPr>
            <a:endParaRPr lang="es-CL" sz="1400" b="1" spc="-5" dirty="0">
              <a:solidFill>
                <a:srgbClr val="7DBEEF"/>
              </a:solidFill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</a:pPr>
            <a:endParaRPr lang="es-CL" sz="1400" b="1" spc="-5" dirty="0">
              <a:solidFill>
                <a:srgbClr val="7DBEEF"/>
              </a:solidFill>
              <a:latin typeface="Calibri"/>
              <a:cs typeface="Calibri"/>
            </a:endParaRPr>
          </a:p>
          <a:p>
            <a:pPr marL="12700" algn="ctr"/>
            <a:endParaRPr lang="es-CL" sz="1400" b="1" spc="-10" dirty="0">
              <a:solidFill>
                <a:srgbClr val="FFFFFF"/>
              </a:solidFill>
              <a:cs typeface="Calibri"/>
            </a:endParaRPr>
          </a:p>
          <a:p>
            <a:pPr marL="12700" algn="ctr"/>
            <a:r>
              <a:rPr lang="es-CL" sz="1400" b="1" spc="-10" dirty="0">
                <a:solidFill>
                  <a:srgbClr val="FFFFFF"/>
                </a:solidFill>
                <a:cs typeface="Calibri"/>
              </a:rPr>
              <a:t>BLOQUE </a:t>
            </a:r>
            <a:r>
              <a:rPr lang="es-CL" sz="1400" b="1" dirty="0">
                <a:solidFill>
                  <a:srgbClr val="FFFFFF"/>
                </a:solidFill>
                <a:cs typeface="Calibri"/>
              </a:rPr>
              <a:t>I ·</a:t>
            </a:r>
            <a:r>
              <a:rPr lang="es-CL" sz="1400" b="1" spc="295" dirty="0">
                <a:solidFill>
                  <a:srgbClr val="FFFFFF"/>
                </a:solidFill>
                <a:cs typeface="Calibri"/>
              </a:rPr>
              <a:t> </a:t>
            </a:r>
            <a:r>
              <a:rPr lang="es-CL" sz="1400" b="1" spc="-5" dirty="0">
                <a:solidFill>
                  <a:srgbClr val="FFFFFF"/>
                </a:solidFill>
                <a:cs typeface="Calibri"/>
              </a:rPr>
              <a:t>Caracterización</a:t>
            </a:r>
            <a:endParaRPr lang="es-CL" sz="1400" dirty="0">
              <a:cs typeface="Calibri"/>
            </a:endParaRPr>
          </a:p>
          <a:p>
            <a:pPr marL="12700" algn="ctr">
              <a:lnSpc>
                <a:spcPct val="100000"/>
              </a:lnSpc>
            </a:pPr>
            <a:endParaRPr lang="es-CL" sz="1400" b="1" spc="-5" dirty="0">
              <a:solidFill>
                <a:srgbClr val="7DBEEF"/>
              </a:solidFill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</a:pPr>
            <a:r>
              <a:rPr sz="1400" b="1" u="sng" spc="-5" dirty="0" err="1">
                <a:solidFill>
                  <a:schemeClr val="bg1"/>
                </a:solidFill>
                <a:latin typeface="Calibri"/>
                <a:cs typeface="Calibri"/>
              </a:rPr>
              <a:t>Descripción</a:t>
            </a:r>
            <a:r>
              <a:rPr sz="1400" b="1" u="sng" spc="-5" dirty="0">
                <a:solidFill>
                  <a:schemeClr val="bg1"/>
                </a:solidFill>
                <a:latin typeface="Calibri"/>
                <a:cs typeface="Calibri"/>
              </a:rPr>
              <a:t> del</a:t>
            </a:r>
            <a:r>
              <a:rPr sz="1400" b="1" u="sng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400" b="1" u="sng" spc="-5" dirty="0" err="1">
                <a:solidFill>
                  <a:schemeClr val="bg1"/>
                </a:solidFill>
                <a:latin typeface="Calibri"/>
                <a:cs typeface="Calibri"/>
              </a:rPr>
              <a:t>Análisis</a:t>
            </a:r>
            <a:endParaRPr lang="es-CL" sz="1400" b="1" u="sng" spc="-5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254000" marR="5080" indent="-228600" algn="just">
              <a:lnSpc>
                <a:spcPct val="100000"/>
              </a:lnSpc>
              <a:spcBef>
                <a:spcPts val="505"/>
              </a:spcBef>
              <a:buFont typeface="+mj-lt"/>
              <a:buAutoNum type="arabicPeriod"/>
            </a:pPr>
            <a:endParaRPr lang="es-CL" sz="1200" spc="-5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254000" marR="5080" indent="-228600" algn="just">
              <a:lnSpc>
                <a:spcPct val="100000"/>
              </a:lnSpc>
              <a:spcBef>
                <a:spcPts val="505"/>
              </a:spcBef>
              <a:buFont typeface="+mj-lt"/>
              <a:buAutoNum type="arabicPeriod"/>
            </a:pP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200" spc="-5" dirty="0" err="1">
                <a:solidFill>
                  <a:srgbClr val="FFFFFF"/>
                </a:solidFill>
                <a:latin typeface="Calibri"/>
                <a:cs typeface="Calibri"/>
              </a:rPr>
              <a:t>istribución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de los 316 </a:t>
            </a: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docentes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Aptos P3 por tipo de formación: </a:t>
            </a: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Oferta Formativa 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N°=270 · Diplomado N°=19 · Proyecto  N°=3 · Mixta</a:t>
            </a:r>
            <a:r>
              <a:rPr sz="12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N°=24.</a:t>
            </a:r>
            <a:endParaRPr sz="1200" dirty="0">
              <a:latin typeface="Calibri"/>
              <a:cs typeface="Calibri"/>
            </a:endParaRPr>
          </a:p>
          <a:p>
            <a:pPr marL="254000" marR="146050" indent="-228600" algn="just">
              <a:lnSpc>
                <a:spcPct val="100000"/>
              </a:lnSpc>
              <a:buFont typeface="+mj-lt"/>
              <a:buAutoNum type="arabicPeriod"/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Frecuencias y porcentajes por categoría, jerarquía académica, tipo de contrato (Jornada / Honorario),  facultad y período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(2022–2025).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68248" y="3531635"/>
            <a:ext cx="5608320" cy="536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302895" indent="-228600">
              <a:lnSpc>
                <a:spcPct val="100000"/>
              </a:lnSpc>
              <a:buFont typeface="+mj-lt"/>
              <a:buAutoNum type="arabicPeriod"/>
            </a:pPr>
            <a:endParaRPr lang="es-CL" sz="1200" spc="-5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12700" marR="302895">
              <a:lnSpc>
                <a:spcPct val="100000"/>
              </a:lnSpc>
            </a:pPr>
            <a:endParaRPr lang="es-CL" sz="1200" spc="-5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12700" marR="302895">
              <a:lnSpc>
                <a:spcPct val="100000"/>
              </a:lnSpc>
            </a:pPr>
            <a:endParaRPr sz="10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51900" y="854127"/>
            <a:ext cx="5171756" cy="56662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120" algn="ctr">
              <a:lnSpc>
                <a:spcPct val="100000"/>
              </a:lnSpc>
              <a:spcBef>
                <a:spcPts val="105"/>
              </a:spcBef>
            </a:pPr>
            <a:endParaRPr lang="es-CL" sz="1200" b="1" spc="-1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71120" algn="ctr">
              <a:lnSpc>
                <a:spcPct val="100000"/>
              </a:lnSpc>
              <a:spcBef>
                <a:spcPts val="105"/>
              </a:spcBef>
            </a:pPr>
            <a:endParaRPr lang="es-CL" sz="1200" b="1" spc="-1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71120" algn="ctr">
              <a:lnSpc>
                <a:spcPct val="100000"/>
              </a:lnSpc>
              <a:spcBef>
                <a:spcPts val="105"/>
              </a:spcBef>
            </a:pPr>
            <a:endParaRPr lang="es-CL" sz="1200" b="1" spc="-1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71120" algn="ctr">
              <a:lnSpc>
                <a:spcPct val="100000"/>
              </a:lnSpc>
              <a:spcBef>
                <a:spcPts val="105"/>
              </a:spcBef>
            </a:pPr>
            <a:endParaRPr lang="es-CL" sz="1200" b="1" spc="-1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71120" algn="ctr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BLOQUE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II · </a:t>
            </a:r>
            <a:r>
              <a:rPr sz="1400" b="1" spc="-5" dirty="0" err="1">
                <a:solidFill>
                  <a:srgbClr val="FFFFFF"/>
                </a:solidFill>
                <a:latin typeface="Calibri"/>
                <a:cs typeface="Calibri"/>
              </a:rPr>
              <a:t>Satisfacción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s-CL" sz="1400" b="1" spc="-5" dirty="0">
                <a:solidFill>
                  <a:srgbClr val="FFFFFF"/>
                </a:solidFill>
                <a:latin typeface="Calibri"/>
                <a:cs typeface="Calibri"/>
              </a:rPr>
              <a:t>y Recomendación </a:t>
            </a:r>
            <a:r>
              <a:rPr sz="1400" b="1" dirty="0" err="1">
                <a:solidFill>
                  <a:srgbClr val="FFFFFF"/>
                </a:solidFill>
                <a:latin typeface="Calibri"/>
                <a:cs typeface="Calibri"/>
              </a:rPr>
              <a:t>Estudiantil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 —</a:t>
            </a:r>
            <a:r>
              <a:rPr sz="1400" b="1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40" dirty="0">
                <a:solidFill>
                  <a:srgbClr val="FFFFFF"/>
                </a:solidFill>
                <a:latin typeface="Calibri"/>
                <a:cs typeface="Calibri"/>
              </a:rPr>
              <a:t>SAT</a:t>
            </a:r>
            <a:endParaRPr sz="1400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</a:pPr>
            <a:endParaRPr lang="es-CL" sz="1200" b="1" spc="-5" dirty="0">
              <a:solidFill>
                <a:srgbClr val="7DBEEF"/>
              </a:solidFill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</a:pPr>
            <a:r>
              <a:rPr sz="1400" b="1" u="sng" spc="-5" dirty="0" err="1">
                <a:solidFill>
                  <a:schemeClr val="bg1"/>
                </a:solidFill>
                <a:latin typeface="Calibri"/>
                <a:cs typeface="Calibri"/>
              </a:rPr>
              <a:t>Descripción</a:t>
            </a:r>
            <a:r>
              <a:rPr sz="1400" b="1" u="sng" spc="-5" dirty="0">
                <a:solidFill>
                  <a:schemeClr val="bg1"/>
                </a:solidFill>
                <a:latin typeface="Calibri"/>
                <a:cs typeface="Calibri"/>
              </a:rPr>
              <a:t> del Universo — Filtros y</a:t>
            </a:r>
            <a:r>
              <a:rPr sz="1400" b="1" u="sng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400" b="1" u="sng" spc="-5" dirty="0" err="1">
                <a:solidFill>
                  <a:schemeClr val="bg1"/>
                </a:solidFill>
                <a:latin typeface="Calibri"/>
                <a:cs typeface="Calibri"/>
              </a:rPr>
              <a:t>Metodología</a:t>
            </a:r>
            <a:endParaRPr lang="es-CL" sz="1400" b="1" u="sng" spc="-5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endParaRPr sz="1200" dirty="0">
              <a:latin typeface="Calibri"/>
              <a:cs typeface="Calibri"/>
            </a:endParaRPr>
          </a:p>
          <a:p>
            <a:pPr marL="241300" indent="-228600" algn="just">
              <a:lnSpc>
                <a:spcPct val="100000"/>
              </a:lnSpc>
              <a:spcBef>
                <a:spcPts val="375"/>
              </a:spcBef>
              <a:buFont typeface="+mj-lt"/>
              <a:buAutoNum type="arabicPeriod"/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Tratamiento N°=316 Aptos P3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(SAT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válido pre y post, cobertura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≥40%).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Control N°=300</a:t>
            </a:r>
            <a:r>
              <a:rPr sz="1200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docentes sin P3, con</a:t>
            </a: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≥1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SAT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en período 2023–2025. De 726 formados, 316 cumplen el criterio de validez en ambas</a:t>
            </a:r>
            <a:r>
              <a:rPr sz="12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ventanas.</a:t>
            </a:r>
            <a:endParaRPr sz="1200" dirty="0">
              <a:latin typeface="Calibri"/>
              <a:cs typeface="Calibri"/>
            </a:endParaRPr>
          </a:p>
          <a:p>
            <a:pPr marL="241300" indent="-228600" algn="just">
              <a:lnSpc>
                <a:spcPct val="100000"/>
              </a:lnSpc>
              <a:buFont typeface="+mj-lt"/>
              <a:buAutoNum type="arabicPeriod"/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Estandarización: z = (SAT docente − media facultad · período) / DE facultad · período. </a:t>
            </a:r>
            <a:endParaRPr lang="es-CL" sz="1200" spc="-5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241300" indent="-228600" algn="just">
              <a:lnSpc>
                <a:spcPct val="100000"/>
              </a:lnSpc>
              <a:buFont typeface="+mj-lt"/>
              <a:buAutoNum type="arabicPeriod"/>
            </a:pPr>
            <a:r>
              <a:rPr sz="1200" spc="-5" dirty="0" err="1">
                <a:solidFill>
                  <a:srgbClr val="FFFFFF"/>
                </a:solidFill>
                <a:latin typeface="Calibri"/>
                <a:cs typeface="Calibri"/>
              </a:rPr>
              <a:t>Criterios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1200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 err="1">
                <a:solidFill>
                  <a:srgbClr val="FFFFFF"/>
                </a:solidFill>
                <a:latin typeface="Calibri"/>
                <a:cs typeface="Calibri"/>
              </a:rPr>
              <a:t>cobertura</a:t>
            </a: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≥40%, sección ≥7 alumnos; </a:t>
            </a:r>
            <a:r>
              <a:rPr sz="1200" spc="-5" dirty="0" err="1">
                <a:solidFill>
                  <a:srgbClr val="FFFFFF"/>
                </a:solidFill>
                <a:latin typeface="Calibri"/>
                <a:cs typeface="Calibri"/>
              </a:rPr>
              <a:t>excluye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 err="1">
                <a:solidFill>
                  <a:srgbClr val="FFFFFF"/>
                </a:solidFill>
                <a:latin typeface="Calibri"/>
                <a:cs typeface="Calibri"/>
              </a:rPr>
              <a:t>asig</a:t>
            </a: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naturas </a:t>
            </a:r>
            <a:r>
              <a:rPr sz="1200" spc="-5" dirty="0" err="1">
                <a:solidFill>
                  <a:srgbClr val="FFFFFF"/>
                </a:solidFill>
                <a:latin typeface="Calibri"/>
                <a:cs typeface="Calibri"/>
              </a:rPr>
              <a:t>prácticas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y de escala no</a:t>
            </a:r>
            <a:r>
              <a:rPr sz="120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comparable.</a:t>
            </a:r>
            <a:endParaRPr sz="1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lang="es-CL" sz="1400" dirty="0">
              <a:latin typeface="Calibri"/>
              <a:cs typeface="Calibri"/>
            </a:endParaRPr>
          </a:p>
          <a:p>
            <a:pPr algn="ctr">
              <a:spcBef>
                <a:spcPts val="40"/>
              </a:spcBef>
            </a:pPr>
            <a:endParaRPr lang="es-ES" sz="1400" b="1" spc="-10" dirty="0">
              <a:solidFill>
                <a:srgbClr val="FFFFFF"/>
              </a:solidFill>
              <a:cs typeface="Calibri"/>
            </a:endParaRPr>
          </a:p>
          <a:p>
            <a:pPr algn="ctr">
              <a:spcBef>
                <a:spcPts val="40"/>
              </a:spcBef>
            </a:pPr>
            <a:endParaRPr lang="es-ES" sz="1400" b="1" spc="-10" dirty="0">
              <a:solidFill>
                <a:srgbClr val="FFFFFF"/>
              </a:solidFill>
              <a:cs typeface="Calibri"/>
            </a:endParaRPr>
          </a:p>
          <a:p>
            <a:pPr algn="ctr">
              <a:spcBef>
                <a:spcPts val="40"/>
              </a:spcBef>
            </a:pPr>
            <a:r>
              <a:rPr lang="es-ES" sz="1400" b="1" spc="-10" dirty="0">
                <a:solidFill>
                  <a:srgbClr val="FFFFFF"/>
                </a:solidFill>
                <a:cs typeface="Calibri"/>
              </a:rPr>
              <a:t>BLOQUE </a:t>
            </a:r>
            <a:r>
              <a:rPr lang="es-ES" sz="1400" b="1" dirty="0">
                <a:solidFill>
                  <a:srgbClr val="FFFFFF"/>
                </a:solidFill>
                <a:cs typeface="Calibri"/>
              </a:rPr>
              <a:t>II · </a:t>
            </a:r>
            <a:r>
              <a:rPr lang="es-ES" sz="1400" b="1" spc="-5" dirty="0">
                <a:solidFill>
                  <a:srgbClr val="FFFFFF"/>
                </a:solidFill>
                <a:cs typeface="Calibri"/>
              </a:rPr>
              <a:t>Satisfacción </a:t>
            </a:r>
            <a:r>
              <a:rPr lang="es-ES" sz="1400" b="1" dirty="0">
                <a:solidFill>
                  <a:srgbClr val="FFFFFF"/>
                </a:solidFill>
                <a:cs typeface="Calibri"/>
              </a:rPr>
              <a:t>Estudiantil —</a:t>
            </a:r>
            <a:r>
              <a:rPr lang="es-ES" sz="1400" b="1" spc="-90" dirty="0">
                <a:solidFill>
                  <a:srgbClr val="FFFFFF"/>
                </a:solidFill>
                <a:cs typeface="Calibri"/>
              </a:rPr>
              <a:t> </a:t>
            </a:r>
            <a:r>
              <a:rPr lang="es-ES" sz="1400" b="1" spc="-40" dirty="0">
                <a:solidFill>
                  <a:srgbClr val="FFFFFF"/>
                </a:solidFill>
                <a:cs typeface="Calibri"/>
              </a:rPr>
              <a:t>SAT</a:t>
            </a:r>
            <a:endParaRPr lang="es-ES" sz="1400" dirty="0"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lang="es-CL" sz="1400" dirty="0">
              <a:latin typeface="Calibri"/>
              <a:cs typeface="Calibri"/>
            </a:endParaRPr>
          </a:p>
          <a:p>
            <a:pPr marL="71120" algn="ctr">
              <a:lnSpc>
                <a:spcPct val="100000"/>
              </a:lnSpc>
            </a:pPr>
            <a:r>
              <a:rPr sz="1400" b="1" u="sng" spc="-5" dirty="0" err="1">
                <a:solidFill>
                  <a:schemeClr val="bg1"/>
                </a:solidFill>
                <a:latin typeface="Calibri"/>
                <a:cs typeface="Calibri"/>
              </a:rPr>
              <a:t>Descripción</a:t>
            </a:r>
            <a:r>
              <a:rPr sz="1400" b="1" u="sng" spc="-5" dirty="0">
                <a:solidFill>
                  <a:schemeClr val="bg1"/>
                </a:solidFill>
                <a:latin typeface="Calibri"/>
                <a:cs typeface="Calibri"/>
              </a:rPr>
              <a:t> del</a:t>
            </a:r>
            <a:r>
              <a:rPr sz="1400" b="1" u="sng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400" b="1" u="sng" spc="-5" dirty="0" err="1">
                <a:solidFill>
                  <a:schemeClr val="bg1"/>
                </a:solidFill>
                <a:latin typeface="Calibri"/>
                <a:cs typeface="Calibri"/>
              </a:rPr>
              <a:t>Análisis</a:t>
            </a:r>
            <a:endParaRPr lang="es-CL" sz="1400" b="1" u="sng" spc="-5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71120" algn="ctr">
              <a:lnSpc>
                <a:spcPct val="100000"/>
              </a:lnSpc>
            </a:pPr>
            <a:endParaRPr lang="es-CL" sz="1400" b="1" spc="-5" dirty="0">
              <a:solidFill>
                <a:srgbClr val="7DBEEF"/>
              </a:solidFill>
              <a:latin typeface="Calibri"/>
              <a:cs typeface="Calibri"/>
            </a:endParaRPr>
          </a:p>
          <a:p>
            <a:pPr marL="299720" marR="137795" indent="-228600" algn="just">
              <a:lnSpc>
                <a:spcPct val="100000"/>
              </a:lnSpc>
              <a:spcBef>
                <a:spcPts val="375"/>
              </a:spcBef>
              <a:buFont typeface="+mj-lt"/>
              <a:buAutoNum type="arabicPeriod"/>
            </a:pPr>
            <a:r>
              <a:rPr sz="1200" spc="-5" dirty="0" err="1">
                <a:solidFill>
                  <a:srgbClr val="FFFFFF"/>
                </a:solidFill>
                <a:latin typeface="Calibri"/>
                <a:cs typeface="Calibri"/>
              </a:rPr>
              <a:t>Comparación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del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SAT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z-score: baseline (período pre) vs resultado (durante y post intervención P3). </a:t>
            </a:r>
            <a:endParaRPr lang="es-CL" sz="1200" spc="-5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299720" marR="137795" indent="-228600" algn="just">
              <a:lnSpc>
                <a:spcPct val="100000"/>
              </a:lnSpc>
              <a:spcBef>
                <a:spcPts val="375"/>
              </a:spcBef>
              <a:buFont typeface="+mj-lt"/>
              <a:buAutoNum type="arabicPeriod"/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% de  Recomendación </a:t>
            </a:r>
            <a:r>
              <a:rPr sz="1200" spc="-5" dirty="0" err="1">
                <a:solidFill>
                  <a:srgbClr val="FFFFFF"/>
                </a:solidFill>
                <a:latin typeface="Calibri"/>
                <a:cs typeface="Calibri"/>
              </a:rPr>
              <a:t>Estudiantil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sz="1200" spc="-5" dirty="0" err="1">
                <a:solidFill>
                  <a:srgbClr val="FFFFFF"/>
                </a:solidFill>
                <a:latin typeface="Calibri"/>
                <a:cs typeface="Calibri"/>
              </a:rPr>
              <a:t>Sí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/No) ponderada por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N°</a:t>
            </a:r>
            <a:r>
              <a:rPr sz="1200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respondentes.</a:t>
            </a:r>
            <a:endParaRPr sz="1200" dirty="0">
              <a:latin typeface="Calibri"/>
              <a:cs typeface="Calibri"/>
            </a:endParaRPr>
          </a:p>
          <a:p>
            <a:pPr marL="299720" indent="-228600" algn="just">
              <a:lnSpc>
                <a:spcPct val="100000"/>
              </a:lnSpc>
              <a:buFont typeface="+mj-lt"/>
              <a:buAutoNum type="arabicPeriod"/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Período pre = promedio de todos los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semestres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anteriores a la primera instancia formativa del</a:t>
            </a:r>
            <a:r>
              <a:rPr sz="1200" spc="1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docente.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32C9F-A696-FFEE-9244-B44B124EB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EFA9435B-76F6-11B8-4D38-C9C98CB62C0F}"/>
              </a:ext>
            </a:extLst>
          </p:cNvPr>
          <p:cNvGrpSpPr/>
          <p:nvPr/>
        </p:nvGrpSpPr>
        <p:grpSpPr>
          <a:xfrm>
            <a:off x="457200" y="1524000"/>
            <a:ext cx="11107758" cy="6400800"/>
            <a:chOff x="121920" y="-361266"/>
            <a:chExt cx="12036552" cy="7205552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D94759A-0ACE-1669-BF49-47EB89EDBBE4}"/>
                </a:ext>
              </a:extLst>
            </p:cNvPr>
            <p:cNvSpPr/>
            <p:nvPr/>
          </p:nvSpPr>
          <p:spPr>
            <a:xfrm>
              <a:off x="143256" y="492298"/>
              <a:ext cx="11900916" cy="9164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8ED3378-05FE-D1F3-45EF-FE1611B149BE}"/>
                </a:ext>
              </a:extLst>
            </p:cNvPr>
            <p:cNvSpPr/>
            <p:nvPr/>
          </p:nvSpPr>
          <p:spPr>
            <a:xfrm>
              <a:off x="134112" y="464819"/>
              <a:ext cx="12024360" cy="602894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7453DE7-8B38-52E0-628C-0A0BC1ABB466}"/>
                </a:ext>
              </a:extLst>
            </p:cNvPr>
            <p:cNvSpPr/>
            <p:nvPr/>
          </p:nvSpPr>
          <p:spPr>
            <a:xfrm>
              <a:off x="191244" y="-361266"/>
              <a:ext cx="11899816" cy="5465379"/>
            </a:xfrm>
            <a:custGeom>
              <a:avLst/>
              <a:gdLst/>
              <a:ahLst/>
              <a:cxnLst/>
              <a:rect l="l" t="t" r="r" b="b"/>
              <a:pathLst>
                <a:path w="11934190" h="5937250">
                  <a:moveTo>
                    <a:pt x="11933936" y="0"/>
                  </a:moveTo>
                  <a:lnTo>
                    <a:pt x="0" y="0"/>
                  </a:lnTo>
                  <a:lnTo>
                    <a:pt x="0" y="5937250"/>
                  </a:lnTo>
                  <a:lnTo>
                    <a:pt x="11933936" y="5937250"/>
                  </a:lnTo>
                  <a:lnTo>
                    <a:pt x="11933936" y="0"/>
                  </a:lnTo>
                  <a:close/>
                </a:path>
              </a:pathLst>
            </a:custGeom>
            <a:solidFill>
              <a:srgbClr val="0A1A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F9CB887-7C29-7A21-9C93-D969CD1AD6E2}"/>
                </a:ext>
              </a:extLst>
            </p:cNvPr>
            <p:cNvSpPr/>
            <p:nvPr/>
          </p:nvSpPr>
          <p:spPr>
            <a:xfrm>
              <a:off x="181000" y="489991"/>
              <a:ext cx="11934190" cy="5937250"/>
            </a:xfrm>
            <a:custGeom>
              <a:avLst/>
              <a:gdLst/>
              <a:ahLst/>
              <a:cxnLst/>
              <a:rect l="l" t="t" r="r" b="b"/>
              <a:pathLst>
                <a:path w="11934190" h="5937250">
                  <a:moveTo>
                    <a:pt x="0" y="5937250"/>
                  </a:moveTo>
                  <a:lnTo>
                    <a:pt x="11933936" y="5937250"/>
                  </a:lnTo>
                  <a:lnTo>
                    <a:pt x="11933936" y="0"/>
                  </a:lnTo>
                  <a:lnTo>
                    <a:pt x="0" y="0"/>
                  </a:lnTo>
                  <a:lnTo>
                    <a:pt x="0" y="5937250"/>
                  </a:lnTo>
                  <a:close/>
                </a:path>
              </a:pathLst>
            </a:custGeom>
            <a:ln w="9525">
              <a:solidFill>
                <a:srgbClr val="396D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F01CD02B-705B-7848-BB83-4F95191E4083}"/>
                </a:ext>
              </a:extLst>
            </p:cNvPr>
            <p:cNvSpPr/>
            <p:nvPr/>
          </p:nvSpPr>
          <p:spPr>
            <a:xfrm>
              <a:off x="6053328" y="505970"/>
              <a:ext cx="93102" cy="633831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81CB1F47-12ED-9468-4DD1-F711B65F43C8}"/>
                </a:ext>
              </a:extLst>
            </p:cNvPr>
            <p:cNvSpPr/>
            <p:nvPr/>
          </p:nvSpPr>
          <p:spPr>
            <a:xfrm>
              <a:off x="6095999" y="524946"/>
              <a:ext cx="12065" cy="6258560"/>
            </a:xfrm>
            <a:custGeom>
              <a:avLst/>
              <a:gdLst/>
              <a:ahLst/>
              <a:cxnLst/>
              <a:rect l="l" t="t" r="r" b="b"/>
              <a:pathLst>
                <a:path w="12064" h="6258559">
                  <a:moveTo>
                    <a:pt x="12000" y="0"/>
                  </a:moveTo>
                  <a:lnTo>
                    <a:pt x="0" y="0"/>
                  </a:lnTo>
                  <a:lnTo>
                    <a:pt x="0" y="6258052"/>
                  </a:lnTo>
                  <a:lnTo>
                    <a:pt x="12000" y="6258052"/>
                  </a:lnTo>
                  <a:lnTo>
                    <a:pt x="12000" y="0"/>
                  </a:lnTo>
                  <a:close/>
                </a:path>
              </a:pathLst>
            </a:custGeom>
            <a:solidFill>
              <a:srgbClr val="396D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40B419FC-46F7-96B0-5ED7-9B34C9AEBC3C}"/>
                </a:ext>
              </a:extLst>
            </p:cNvPr>
            <p:cNvSpPr/>
            <p:nvPr/>
          </p:nvSpPr>
          <p:spPr>
            <a:xfrm>
              <a:off x="121920" y="3407709"/>
              <a:ext cx="11900916" cy="9164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56134C9B-D82C-F41A-16E6-E929415834DF}"/>
                </a:ext>
              </a:extLst>
            </p:cNvPr>
            <p:cNvSpPr/>
            <p:nvPr/>
          </p:nvSpPr>
          <p:spPr>
            <a:xfrm>
              <a:off x="163995" y="3426651"/>
              <a:ext cx="11820525" cy="12065"/>
            </a:xfrm>
            <a:custGeom>
              <a:avLst/>
              <a:gdLst/>
              <a:ahLst/>
              <a:cxnLst/>
              <a:rect l="l" t="t" r="r" b="b"/>
              <a:pathLst>
                <a:path w="11820525" h="12064">
                  <a:moveTo>
                    <a:pt x="11820017" y="0"/>
                  </a:moveTo>
                  <a:lnTo>
                    <a:pt x="0" y="0"/>
                  </a:lnTo>
                  <a:lnTo>
                    <a:pt x="0" y="12000"/>
                  </a:lnTo>
                  <a:lnTo>
                    <a:pt x="11820017" y="12000"/>
                  </a:lnTo>
                  <a:lnTo>
                    <a:pt x="11820017" y="0"/>
                  </a:lnTo>
                  <a:close/>
                </a:path>
              </a:pathLst>
            </a:custGeom>
            <a:solidFill>
              <a:srgbClr val="396D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>
            <a:extLst>
              <a:ext uri="{FF2B5EF4-FFF2-40B4-BE49-F238E27FC236}">
                <a16:creationId xmlns:a16="http://schemas.microsoft.com/office/drawing/2014/main" id="{16A329C2-66B5-2437-4455-FA1B617E4AD4}"/>
              </a:ext>
            </a:extLst>
          </p:cNvPr>
          <p:cNvSpPr txBox="1"/>
          <p:nvPr/>
        </p:nvSpPr>
        <p:spPr>
          <a:xfrm>
            <a:off x="6368247" y="1084027"/>
            <a:ext cx="5009427" cy="572015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2390" algn="ctr">
              <a:lnSpc>
                <a:spcPct val="100000"/>
              </a:lnSpc>
              <a:spcBef>
                <a:spcPts val="105"/>
              </a:spcBef>
            </a:pPr>
            <a:endParaRPr lang="es-CL" sz="1400" b="1" spc="-1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72390" algn="ctr">
              <a:lnSpc>
                <a:spcPct val="100000"/>
              </a:lnSpc>
              <a:spcBef>
                <a:spcPts val="105"/>
              </a:spcBef>
            </a:pPr>
            <a:endParaRPr lang="es-CL" sz="1400" b="1" spc="-1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72390" algn="ctr">
              <a:lnSpc>
                <a:spcPct val="100000"/>
              </a:lnSpc>
              <a:spcBef>
                <a:spcPts val="105"/>
              </a:spcBef>
            </a:pPr>
            <a:endParaRPr lang="es-CL" sz="1400" b="1" spc="-1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72390" algn="ctr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BLOQUE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IV ·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Evaluación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Desempeño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1400" b="1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EDD</a:t>
            </a:r>
            <a:endParaRPr sz="1400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endParaRPr lang="es-CL" sz="1400" b="1" spc="-5" dirty="0">
              <a:solidFill>
                <a:srgbClr val="7DBEEF"/>
              </a:solidFill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endParaRPr lang="es-CL" sz="1400" b="1" spc="-5" dirty="0">
              <a:solidFill>
                <a:srgbClr val="7DBEEF"/>
              </a:solidFill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sz="1400" b="1" spc="-5" dirty="0" err="1">
                <a:solidFill>
                  <a:schemeClr val="bg1"/>
                </a:solidFill>
                <a:latin typeface="Calibri"/>
                <a:cs typeface="Calibri"/>
              </a:rPr>
              <a:t>Descripción</a:t>
            </a:r>
            <a:r>
              <a:rPr sz="1400" b="1" spc="-5" dirty="0">
                <a:solidFill>
                  <a:schemeClr val="bg1"/>
                </a:solidFill>
                <a:latin typeface="Calibri"/>
                <a:cs typeface="Calibri"/>
              </a:rPr>
              <a:t> del Universo — Filtros y</a:t>
            </a:r>
            <a:r>
              <a:rPr sz="1400" b="1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400" b="1" spc="-5" dirty="0" err="1">
                <a:solidFill>
                  <a:schemeClr val="bg1"/>
                </a:solidFill>
                <a:latin typeface="Calibri"/>
                <a:cs typeface="Calibri"/>
              </a:rPr>
              <a:t>Metodología</a:t>
            </a:r>
            <a:endParaRPr lang="es-CL" sz="1400" b="1" spc="-5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endParaRPr sz="1200" dirty="0">
              <a:latin typeface="Calibri"/>
              <a:cs typeface="Calibri"/>
            </a:endParaRPr>
          </a:p>
          <a:p>
            <a:pPr marL="241300" marR="81280" indent="-228600" algn="just">
              <a:lnSpc>
                <a:spcPct val="100000"/>
              </a:lnSpc>
              <a:spcBef>
                <a:spcPts val="370"/>
              </a:spcBef>
              <a:buFont typeface="+mj-lt"/>
              <a:buAutoNum type="arabicPeriod"/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Tratamiento N°=206 </a:t>
            </a: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docentes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Aptos P3 con EDD disponible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(110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de los 316 </a:t>
            </a: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docentes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no tienen registro EDD —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son excluidos).  </a:t>
            </a:r>
            <a:endParaRPr lang="es-CL" sz="1200" spc="-1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241300" marR="81280" indent="-228600" algn="just">
              <a:lnSpc>
                <a:spcPct val="100000"/>
              </a:lnSpc>
              <a:spcBef>
                <a:spcPts val="370"/>
              </a:spcBef>
              <a:buFont typeface="+mj-lt"/>
              <a:buAutoNum type="arabicPeriod"/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Control N°=130 docentes sin P3, con EDD disponible en ventana</a:t>
            </a:r>
            <a:r>
              <a:rPr sz="12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2023–2024.</a:t>
            </a:r>
            <a:endParaRPr sz="1200" dirty="0">
              <a:latin typeface="Calibri"/>
              <a:cs typeface="Calibri"/>
            </a:endParaRPr>
          </a:p>
          <a:p>
            <a:pPr marL="241300" indent="-228600" algn="just">
              <a:lnSpc>
                <a:spcPct val="100000"/>
              </a:lnSpc>
              <a:buFont typeface="+mj-lt"/>
              <a:buAutoNum type="arabicPeriod"/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Instrumento: evaluación anual por jefatura directa, escala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0–1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expresada como %</a:t>
            </a:r>
            <a:r>
              <a:rPr sz="1200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(0%–100%).</a:t>
            </a:r>
            <a:endParaRPr sz="1200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30"/>
              </a:spcBef>
            </a:pPr>
            <a:endParaRPr sz="120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endParaRPr lang="es-CL" sz="1200" b="1" spc="-5" dirty="0">
              <a:solidFill>
                <a:srgbClr val="7DBEEF"/>
              </a:solidFill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endParaRPr lang="es-CL" sz="1200" b="1" spc="-5" dirty="0">
              <a:solidFill>
                <a:srgbClr val="7DBEEF"/>
              </a:solidFill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endParaRPr lang="es-CL" sz="1200" b="1" spc="-5" dirty="0">
              <a:solidFill>
                <a:srgbClr val="7DBEEF"/>
              </a:solidFill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endParaRPr lang="es-CL" sz="1200" b="1" spc="-5" dirty="0">
              <a:solidFill>
                <a:srgbClr val="7DBEEF"/>
              </a:solidFill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endParaRPr lang="es-CL" sz="1200" b="1" spc="-5" dirty="0">
              <a:solidFill>
                <a:srgbClr val="7DBEEF"/>
              </a:solidFill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sz="1400" b="1" u="sng" spc="-5" dirty="0" err="1">
                <a:solidFill>
                  <a:schemeClr val="bg1"/>
                </a:solidFill>
                <a:latin typeface="Calibri"/>
                <a:cs typeface="Calibri"/>
              </a:rPr>
              <a:t>Descripción</a:t>
            </a:r>
            <a:r>
              <a:rPr sz="1400" b="1" u="sng" spc="-5" dirty="0">
                <a:solidFill>
                  <a:schemeClr val="bg1"/>
                </a:solidFill>
                <a:latin typeface="Calibri"/>
                <a:cs typeface="Calibri"/>
              </a:rPr>
              <a:t> del</a:t>
            </a:r>
            <a:r>
              <a:rPr sz="1400" b="1" u="sng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400" b="1" u="sng" spc="-5" dirty="0">
                <a:solidFill>
                  <a:schemeClr val="bg1"/>
                </a:solidFill>
                <a:latin typeface="Calibri"/>
                <a:cs typeface="Calibri"/>
              </a:rPr>
              <a:t>Análisis</a:t>
            </a:r>
            <a:endParaRPr sz="1400" u="sng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241300" marR="5080" indent="-228600" algn="just">
              <a:lnSpc>
                <a:spcPct val="100000"/>
              </a:lnSpc>
              <a:spcBef>
                <a:spcPts val="690"/>
              </a:spcBef>
              <a:buFont typeface="+mj-lt"/>
              <a:buAutoNum type="arabicPeriod"/>
            </a:pPr>
            <a:r>
              <a:rPr sz="1200" spc="-5" dirty="0">
                <a:solidFill>
                  <a:schemeClr val="bg1"/>
                </a:solidFill>
                <a:latin typeface="Calibri"/>
                <a:cs typeface="Calibri"/>
              </a:rPr>
              <a:t>Comparación de EDD promedio entre formados P3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y control </a:t>
            </a:r>
            <a:r>
              <a:rPr sz="1200" spc="-5" dirty="0" err="1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período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2023–2024. </a:t>
            </a:r>
            <a:endParaRPr lang="es-CL" sz="1200" spc="-5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241300" marR="5080" indent="-228600" algn="just">
              <a:lnSpc>
                <a:spcPct val="100000"/>
              </a:lnSpc>
              <a:spcBef>
                <a:spcPts val="690"/>
              </a:spcBef>
              <a:buFont typeface="+mj-lt"/>
              <a:buAutoNum type="arabicPeriod"/>
            </a:pPr>
            <a:r>
              <a:rPr sz="1200" spc="-5" dirty="0" err="1">
                <a:solidFill>
                  <a:srgbClr val="FFFFFF"/>
                </a:solidFill>
                <a:latin typeface="Calibri"/>
                <a:cs typeface="Calibri"/>
              </a:rPr>
              <a:t>Evolución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temporal por  año y distribución por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facultad.</a:t>
            </a:r>
            <a:endParaRPr sz="1200" dirty="0">
              <a:latin typeface="Calibri"/>
              <a:cs typeface="Calibri"/>
            </a:endParaRPr>
          </a:p>
          <a:p>
            <a:pPr marL="241300" marR="302895" indent="-228600" algn="just">
              <a:lnSpc>
                <a:spcPct val="100000"/>
              </a:lnSpc>
              <a:buFont typeface="+mj-lt"/>
              <a:buAutoNum type="arabicPeriod"/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Control seleccionado del universo base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docentes sin formación P3 con registro EDD disponible </a:t>
            </a:r>
            <a:r>
              <a:rPr sz="1200" spc="-5" dirty="0" err="1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 mismo período.</a:t>
            </a:r>
          </a:p>
          <a:p>
            <a:pPr marL="12700" marR="302895">
              <a:lnSpc>
                <a:spcPct val="100000"/>
              </a:lnSpc>
            </a:pPr>
            <a:endParaRPr lang="es-CL" sz="1200" spc="-5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12700" marR="302895">
              <a:lnSpc>
                <a:spcPct val="100000"/>
              </a:lnSpc>
            </a:pPr>
            <a:endParaRPr sz="1000" dirty="0">
              <a:latin typeface="Calibri"/>
              <a:cs typeface="Calibri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6E804B9D-1D52-CA50-4290-1454E59BC554}"/>
              </a:ext>
            </a:extLst>
          </p:cNvPr>
          <p:cNvSpPr txBox="1"/>
          <p:nvPr/>
        </p:nvSpPr>
        <p:spPr>
          <a:xfrm>
            <a:off x="627042" y="1071961"/>
            <a:ext cx="5345840" cy="49199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 algn="ctr">
              <a:lnSpc>
                <a:spcPct val="100000"/>
              </a:lnSpc>
              <a:spcBef>
                <a:spcPts val="105"/>
              </a:spcBef>
            </a:pPr>
            <a:endParaRPr lang="es-CL" sz="1400" b="1" spc="-1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25400" algn="ctr">
              <a:lnSpc>
                <a:spcPct val="100000"/>
              </a:lnSpc>
              <a:spcBef>
                <a:spcPts val="105"/>
              </a:spcBef>
            </a:pPr>
            <a:endParaRPr lang="es-CL" sz="1400" b="1" spc="-1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25400" algn="ctr">
              <a:lnSpc>
                <a:spcPct val="100000"/>
              </a:lnSpc>
              <a:spcBef>
                <a:spcPts val="105"/>
              </a:spcBef>
            </a:pPr>
            <a:endParaRPr lang="es-CL" sz="1400" b="1" spc="-1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25400" algn="ctr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BLOQUE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III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·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Rendimiento</a:t>
            </a: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Académico</a:t>
            </a:r>
            <a:endParaRPr sz="1400" dirty="0">
              <a:latin typeface="Calibri"/>
              <a:cs typeface="Calibri"/>
            </a:endParaRPr>
          </a:p>
          <a:p>
            <a:pPr marL="25400" algn="ctr">
              <a:lnSpc>
                <a:spcPct val="100000"/>
              </a:lnSpc>
            </a:pPr>
            <a:endParaRPr lang="es-CL" sz="1400" b="1" spc="-5" dirty="0">
              <a:solidFill>
                <a:srgbClr val="7DBEEF"/>
              </a:solidFill>
              <a:latin typeface="Calibri"/>
              <a:cs typeface="Calibri"/>
            </a:endParaRPr>
          </a:p>
          <a:p>
            <a:pPr marL="25400" algn="ctr">
              <a:lnSpc>
                <a:spcPct val="100000"/>
              </a:lnSpc>
            </a:pPr>
            <a:endParaRPr lang="es-CL" sz="1400" b="1" spc="-5" dirty="0">
              <a:solidFill>
                <a:srgbClr val="7DBEEF"/>
              </a:solidFill>
              <a:latin typeface="Calibri"/>
              <a:cs typeface="Calibri"/>
            </a:endParaRPr>
          </a:p>
          <a:p>
            <a:pPr marL="25400" algn="ctr">
              <a:lnSpc>
                <a:spcPct val="100000"/>
              </a:lnSpc>
            </a:pPr>
            <a:r>
              <a:rPr sz="1400" b="1" spc="-5" dirty="0" err="1">
                <a:solidFill>
                  <a:schemeClr val="bg1"/>
                </a:solidFill>
                <a:latin typeface="Calibri"/>
                <a:cs typeface="Calibri"/>
              </a:rPr>
              <a:t>Descripción</a:t>
            </a:r>
            <a:r>
              <a:rPr sz="1400" b="1" spc="-5" dirty="0">
                <a:solidFill>
                  <a:schemeClr val="bg1"/>
                </a:solidFill>
                <a:latin typeface="Calibri"/>
                <a:cs typeface="Calibri"/>
              </a:rPr>
              <a:t> del Universo — Filtros y</a:t>
            </a:r>
            <a:r>
              <a:rPr sz="1400" b="1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400" b="1" spc="-5" dirty="0" err="1">
                <a:solidFill>
                  <a:schemeClr val="bg1"/>
                </a:solidFill>
                <a:latin typeface="Calibri"/>
                <a:cs typeface="Calibri"/>
              </a:rPr>
              <a:t>Metodología</a:t>
            </a:r>
            <a:endParaRPr lang="es-CL" sz="1400" b="1" spc="-5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25400" algn="ctr">
              <a:lnSpc>
                <a:spcPct val="100000"/>
              </a:lnSpc>
            </a:pPr>
            <a:endParaRPr sz="1100" dirty="0">
              <a:latin typeface="Calibri"/>
              <a:cs typeface="Calibri"/>
            </a:endParaRPr>
          </a:p>
          <a:p>
            <a:pPr marL="254000" marR="386080" indent="-228600" algn="just">
              <a:lnSpc>
                <a:spcPct val="100000"/>
              </a:lnSpc>
              <a:spcBef>
                <a:spcPts val="375"/>
              </a:spcBef>
              <a:buFont typeface="+mj-lt"/>
              <a:buAutoNum type="arabicPeriod"/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Tratamiento (perfil): N°=316 Aptos P3. Tratamiento (amplio): N°=619 formados con notas disponibles.  Control: N°=300 sin P3, con notas en período 2023–2025. Los 316 </a:t>
            </a: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docentes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son </a:t>
            </a:r>
            <a:r>
              <a:rPr lang="es-CL" sz="1200" spc="-10" dirty="0">
                <a:solidFill>
                  <a:srgbClr val="FFFFFF"/>
                </a:solidFill>
                <a:latin typeface="Calibri"/>
                <a:cs typeface="Calibri"/>
              </a:rPr>
              <a:t>un </a:t>
            </a:r>
            <a:r>
              <a:rPr sz="1200" spc="-5" dirty="0" err="1">
                <a:solidFill>
                  <a:srgbClr val="FFFFFF"/>
                </a:solidFill>
                <a:latin typeface="Calibri"/>
                <a:cs typeface="Calibri"/>
              </a:rPr>
              <a:t>subconjunto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de </a:t>
            </a:r>
            <a:r>
              <a:rPr sz="1200" spc="-5" dirty="0" err="1">
                <a:solidFill>
                  <a:srgbClr val="FFFFFF"/>
                </a:solidFill>
                <a:latin typeface="Calibri"/>
                <a:cs typeface="Calibri"/>
              </a:rPr>
              <a:t>los</a:t>
            </a:r>
            <a:r>
              <a:rPr sz="1200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619</a:t>
            </a: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 docentes.</a:t>
            </a:r>
            <a:endParaRPr sz="1200" dirty="0">
              <a:latin typeface="Calibri"/>
              <a:cs typeface="Calibri"/>
            </a:endParaRPr>
          </a:p>
          <a:p>
            <a:pPr marL="254000" indent="-228600" algn="just">
              <a:lnSpc>
                <a:spcPct val="100000"/>
              </a:lnSpc>
              <a:buFont typeface="+mj-lt"/>
              <a:buAutoNum type="arabicPeriod"/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Criterios: sección ≥7 alumnos matriculados; excluye asignaturas prácticas y de escala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no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comparable.</a:t>
            </a:r>
            <a:r>
              <a:rPr sz="1200" spc="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 err="1">
                <a:solidFill>
                  <a:srgbClr val="FFFFFF"/>
                </a:solidFill>
                <a:latin typeface="Calibri"/>
                <a:cs typeface="Calibri"/>
              </a:rPr>
              <a:t>Período</a:t>
            </a: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pre = promedio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semestres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anteriores a primera instancia</a:t>
            </a:r>
            <a:r>
              <a:rPr sz="120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P3.</a:t>
            </a:r>
            <a:endParaRPr sz="1200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50"/>
              </a:spcBef>
            </a:pPr>
            <a:endParaRPr lang="es-CL" sz="1200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50"/>
              </a:spcBef>
            </a:pPr>
            <a:endParaRPr lang="es-CL" sz="1200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50"/>
              </a:spcBef>
            </a:pPr>
            <a:endParaRPr lang="es-CL" sz="1200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50"/>
              </a:spcBef>
            </a:pPr>
            <a:endParaRPr lang="es-CL" sz="1200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</a:pPr>
            <a:r>
              <a:rPr sz="1400" b="1" u="sng" spc="-5" dirty="0" err="1">
                <a:solidFill>
                  <a:schemeClr val="bg1"/>
                </a:solidFill>
                <a:latin typeface="Calibri"/>
                <a:cs typeface="Calibri"/>
              </a:rPr>
              <a:t>Descripción</a:t>
            </a:r>
            <a:r>
              <a:rPr sz="1400" b="1" u="sng" spc="-5" dirty="0">
                <a:solidFill>
                  <a:schemeClr val="bg1"/>
                </a:solidFill>
                <a:latin typeface="Calibri"/>
                <a:cs typeface="Calibri"/>
              </a:rPr>
              <a:t> del</a:t>
            </a:r>
            <a:r>
              <a:rPr sz="1400" b="1" u="sng" spc="-7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400" b="1" u="sng" spc="-5" dirty="0">
                <a:solidFill>
                  <a:schemeClr val="bg1"/>
                </a:solidFill>
                <a:latin typeface="Calibri"/>
                <a:cs typeface="Calibri"/>
              </a:rPr>
              <a:t>Análisis</a:t>
            </a:r>
            <a:endParaRPr sz="1400" u="sng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254000" marR="5080" indent="-228600" algn="just">
              <a:lnSpc>
                <a:spcPct val="100000"/>
              </a:lnSpc>
              <a:spcBef>
                <a:spcPts val="815"/>
              </a:spcBef>
              <a:buFont typeface="+mj-lt"/>
              <a:buAutoNum type="arabicPeriod"/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Comparación antes–después de la intervención formativa. Métricas: nota promedio alumnos (escala 1–7) y %  aprobación (nota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≥4.0).</a:t>
            </a:r>
            <a:endParaRPr sz="1200" dirty="0">
              <a:latin typeface="Calibri"/>
              <a:cs typeface="Calibri"/>
            </a:endParaRPr>
          </a:p>
          <a:p>
            <a:pPr marL="254000" marR="6350" indent="-228600" algn="just">
              <a:lnSpc>
                <a:spcPct val="100000"/>
              </a:lnSpc>
              <a:buFont typeface="+mj-lt"/>
              <a:buAutoNum type="arabicPeriod"/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La doble muestra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(316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y 619) permite triangular resultados y </a:t>
            </a:r>
            <a:r>
              <a:rPr sz="1200" spc="-5" dirty="0" err="1">
                <a:solidFill>
                  <a:srgbClr val="FFFFFF"/>
                </a:solidFill>
                <a:latin typeface="Calibri"/>
                <a:cs typeface="Calibri"/>
              </a:rPr>
              <a:t>descartar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sesgos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de selección en el grupo de  tratamiento.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FEDA43E6-88ED-75DE-E41E-244242304430}"/>
              </a:ext>
            </a:extLst>
          </p:cNvPr>
          <p:cNvSpPr txBox="1">
            <a:spLocks/>
          </p:cNvSpPr>
          <p:nvPr/>
        </p:nvSpPr>
        <p:spPr>
          <a:xfrm>
            <a:off x="3962400" y="589802"/>
            <a:ext cx="464820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pt-BR" sz="1600" kern="0" spc="-15" dirty="0"/>
              <a:t>Marco </a:t>
            </a:r>
            <a:r>
              <a:rPr lang="pt-BR" sz="1600" kern="0" spc="-10" dirty="0"/>
              <a:t>Metodológico </a:t>
            </a:r>
            <a:r>
              <a:rPr lang="pt-BR" sz="1600" kern="0" spc="-5" dirty="0"/>
              <a:t>por Bloque (4) — Objetivo N°3</a:t>
            </a:r>
            <a:endParaRPr lang="pt-BR" sz="1600" kern="0" dirty="0"/>
          </a:p>
        </p:txBody>
      </p:sp>
    </p:spTree>
    <p:extLst>
      <p:ext uri="{BB962C8B-B14F-4D97-AF65-F5344CB8AC3E}">
        <p14:creationId xmlns:p14="http://schemas.microsoft.com/office/powerpoint/2010/main" val="2420386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214508"/>
            <a:ext cx="924936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/>
              <a:t>Bloque I —</a:t>
            </a:r>
            <a:r>
              <a:rPr lang="es-ES" sz="1800" dirty="0">
                <a:solidFill>
                  <a:srgbClr val="FFFFFF"/>
                </a:solidFill>
              </a:rPr>
              <a:t>Caracterización de la muestra de docentes formados antes- durante –después (N°316)</a:t>
            </a:r>
            <a:endParaRPr sz="18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108060" y="1431757"/>
            <a:ext cx="10160279" cy="4662292"/>
            <a:chOff x="603504" y="1999488"/>
            <a:chExt cx="10690860" cy="2778760"/>
          </a:xfrm>
        </p:grpSpPr>
        <p:sp>
          <p:nvSpPr>
            <p:cNvPr id="4" name="object 4"/>
            <p:cNvSpPr/>
            <p:nvPr/>
          </p:nvSpPr>
          <p:spPr>
            <a:xfrm>
              <a:off x="603504" y="1999488"/>
              <a:ext cx="10690860" cy="277825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51586" y="2025142"/>
              <a:ext cx="10599420" cy="2686685"/>
            </a:xfrm>
            <a:custGeom>
              <a:avLst/>
              <a:gdLst/>
              <a:ahLst/>
              <a:cxnLst/>
              <a:rect l="l" t="t" r="r" b="b"/>
              <a:pathLst>
                <a:path w="10599420" h="2686685">
                  <a:moveTo>
                    <a:pt x="10599166" y="0"/>
                  </a:moveTo>
                  <a:lnTo>
                    <a:pt x="0" y="0"/>
                  </a:lnTo>
                  <a:lnTo>
                    <a:pt x="0" y="2686176"/>
                  </a:lnTo>
                  <a:lnTo>
                    <a:pt x="10599166" y="2686176"/>
                  </a:lnTo>
                  <a:lnTo>
                    <a:pt x="10599166" y="0"/>
                  </a:lnTo>
                  <a:close/>
                </a:path>
              </a:pathLst>
            </a:custGeom>
            <a:solidFill>
              <a:srgbClr val="001C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1586" y="2025142"/>
              <a:ext cx="10599420" cy="2686685"/>
            </a:xfrm>
            <a:custGeom>
              <a:avLst/>
              <a:gdLst/>
              <a:ahLst/>
              <a:cxnLst/>
              <a:rect l="l" t="t" r="r" b="b"/>
              <a:pathLst>
                <a:path w="10599420" h="2686685">
                  <a:moveTo>
                    <a:pt x="0" y="2686176"/>
                  </a:moveTo>
                  <a:lnTo>
                    <a:pt x="10599166" y="2686176"/>
                  </a:lnTo>
                  <a:lnTo>
                    <a:pt x="10599166" y="0"/>
                  </a:lnTo>
                  <a:lnTo>
                    <a:pt x="0" y="0"/>
                  </a:lnTo>
                  <a:lnTo>
                    <a:pt x="0" y="2686176"/>
                  </a:lnTo>
                  <a:close/>
                </a:path>
              </a:pathLst>
            </a:custGeom>
            <a:ln w="11999">
              <a:solidFill>
                <a:srgbClr val="1E5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176526" y="2046477"/>
            <a:ext cx="6711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ni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er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so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43712" y="2377382"/>
            <a:ext cx="10410825" cy="97790"/>
            <a:chOff x="743712" y="2377382"/>
            <a:chExt cx="10410825" cy="97790"/>
          </a:xfrm>
        </p:grpSpPr>
        <p:sp>
          <p:nvSpPr>
            <p:cNvPr id="9" name="object 9"/>
            <p:cNvSpPr/>
            <p:nvPr/>
          </p:nvSpPr>
          <p:spPr>
            <a:xfrm>
              <a:off x="743712" y="2377382"/>
              <a:ext cx="3424428" cy="9746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6587" y="2396549"/>
              <a:ext cx="3343275" cy="17780"/>
            </a:xfrm>
            <a:custGeom>
              <a:avLst/>
              <a:gdLst/>
              <a:ahLst/>
              <a:cxnLst/>
              <a:rect l="l" t="t" r="r" b="b"/>
              <a:pathLst>
                <a:path w="3343275" h="17780">
                  <a:moveTo>
                    <a:pt x="3343021" y="0"/>
                  </a:moveTo>
                  <a:lnTo>
                    <a:pt x="0" y="0"/>
                  </a:lnTo>
                  <a:lnTo>
                    <a:pt x="0" y="17212"/>
                  </a:lnTo>
                  <a:lnTo>
                    <a:pt x="3343021" y="17212"/>
                  </a:lnTo>
                  <a:lnTo>
                    <a:pt x="3343021" y="0"/>
                  </a:lnTo>
                  <a:close/>
                </a:path>
              </a:pathLst>
            </a:custGeom>
            <a:solidFill>
              <a:srgbClr val="1E5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36720" y="2377382"/>
              <a:ext cx="3424428" cy="9746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79646" y="2396549"/>
              <a:ext cx="3343275" cy="17780"/>
            </a:xfrm>
            <a:custGeom>
              <a:avLst/>
              <a:gdLst/>
              <a:ahLst/>
              <a:cxnLst/>
              <a:rect l="l" t="t" r="r" b="b"/>
              <a:pathLst>
                <a:path w="3343275" h="17780">
                  <a:moveTo>
                    <a:pt x="3343021" y="0"/>
                  </a:moveTo>
                  <a:lnTo>
                    <a:pt x="0" y="0"/>
                  </a:lnTo>
                  <a:lnTo>
                    <a:pt x="0" y="17212"/>
                  </a:lnTo>
                  <a:lnTo>
                    <a:pt x="3343021" y="17212"/>
                  </a:lnTo>
                  <a:lnTo>
                    <a:pt x="3343021" y="0"/>
                  </a:lnTo>
                  <a:close/>
                </a:path>
              </a:pathLst>
            </a:custGeom>
            <a:solidFill>
              <a:srgbClr val="1E5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29728" y="2377382"/>
              <a:ext cx="3424428" cy="9746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772654" y="2396549"/>
              <a:ext cx="3343275" cy="17780"/>
            </a:xfrm>
            <a:custGeom>
              <a:avLst/>
              <a:gdLst/>
              <a:ahLst/>
              <a:cxnLst/>
              <a:rect l="l" t="t" r="r" b="b"/>
              <a:pathLst>
                <a:path w="3343275" h="17780">
                  <a:moveTo>
                    <a:pt x="3343021" y="0"/>
                  </a:moveTo>
                  <a:lnTo>
                    <a:pt x="0" y="0"/>
                  </a:lnTo>
                  <a:lnTo>
                    <a:pt x="0" y="17212"/>
                  </a:lnTo>
                  <a:lnTo>
                    <a:pt x="3343021" y="17212"/>
                  </a:lnTo>
                  <a:lnTo>
                    <a:pt x="3343021" y="0"/>
                  </a:lnTo>
                  <a:close/>
                </a:path>
              </a:pathLst>
            </a:custGeom>
            <a:solidFill>
              <a:srgbClr val="1E5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727191" y="2046477"/>
            <a:ext cx="46100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Índice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95400" y="2457417"/>
            <a:ext cx="2888027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316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docentes Aptos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P3 —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participaron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en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≥1  instancia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formación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y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cuentan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con 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SAT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válido 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en al menos 3 períodos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consecutivos (pre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· 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durante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·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post).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Este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bloque es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descriptivo: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no 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existe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grupo de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control,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todos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los </a:t>
            </a:r>
            <a:r>
              <a:rPr sz="1200" spc="-5" dirty="0" err="1">
                <a:solidFill>
                  <a:srgbClr val="FFFFFF"/>
                </a:solidFill>
                <a:latin typeface="Calibri"/>
                <a:cs typeface="Calibri"/>
              </a:rPr>
              <a:t>formados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 err="1">
                <a:solidFill>
                  <a:srgbClr val="FFFFFF"/>
                </a:solidFill>
                <a:latin typeface="Calibri"/>
                <a:cs typeface="Calibri"/>
              </a:rPr>
              <a:t>conforman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s-CL" sz="1200" spc="-10" dirty="0">
                <a:solidFill>
                  <a:srgbClr val="FFFFFF"/>
                </a:solidFill>
                <a:latin typeface="Calibri"/>
                <a:cs typeface="Calibri"/>
              </a:rPr>
              <a:t>la muestra de 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análisis.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86630" y="2500502"/>
            <a:ext cx="2970329" cy="2439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965" indent="-228600" algn="just">
              <a:spcBef>
                <a:spcPts val="100"/>
              </a:spcBef>
              <a:buFont typeface="+mj-lt"/>
              <a:buAutoNum type="arabicPeriod"/>
              <a:tabLst>
                <a:tab pos="172720" algn="l"/>
              </a:tabLst>
            </a:pPr>
            <a:r>
              <a:rPr lang="es-ES" sz="1200" dirty="0">
                <a:solidFill>
                  <a:schemeClr val="bg1"/>
                </a:solidFill>
              </a:rPr>
              <a:t>El perfil del docente Apto P3 observa mayor presencia en Asistente Docente e Instructor Docente, con concentración en el tramo de edad 40–44 años.</a:t>
            </a:r>
          </a:p>
          <a:p>
            <a:pPr marL="227965" indent="-228600" algn="just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  <a:tabLst>
                <a:tab pos="172720" algn="l"/>
              </a:tabLst>
            </a:pPr>
            <a:r>
              <a:rPr lang="es-ES" sz="1200" spc="-5" dirty="0">
                <a:solidFill>
                  <a:schemeClr val="bg1"/>
                </a:solidFill>
                <a:latin typeface="Calibri"/>
                <a:cs typeface="Calibri"/>
              </a:rPr>
              <a:t>La Oferta formativa domina de forma absoluta en todas las jerarquías académicas del cuerpo docente y regular</a:t>
            </a:r>
          </a:p>
          <a:p>
            <a:pPr marL="227965" indent="-228600" algn="just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  <a:tabLst>
                <a:tab pos="172720" algn="l"/>
              </a:tabLst>
            </a:pPr>
            <a:r>
              <a:rPr lang="es-CL" sz="1200" b="1" dirty="0">
                <a:solidFill>
                  <a:schemeClr val="bg1"/>
                </a:solidFill>
              </a:rPr>
              <a:t>Corrección del sesgo de volumen en análisis de jerarquía:</a:t>
            </a:r>
            <a:r>
              <a:rPr lang="es-CL" sz="1200" dirty="0">
                <a:solidFill>
                  <a:schemeClr val="bg1"/>
                </a:solidFill>
              </a:rPr>
              <a:t> Este indicador evita la distorsión de mirar solo los totales absolutos, mostrando la proporción real frente al tamaño total del estamento en la muestra.</a:t>
            </a:r>
            <a:endParaRPr sz="12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69718" y="2444212"/>
            <a:ext cx="3252564" cy="389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8600" indent="-228600" algn="just">
              <a:spcBef>
                <a:spcPts val="105"/>
              </a:spcBef>
              <a:buFont typeface="+mj-lt"/>
              <a:buAutoNum type="arabicPeriod"/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(D</a:t>
            </a:r>
            <a:r>
              <a:rPr lang="es-CL" sz="120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1200" dirty="0">
                <a:solidFill>
                  <a:schemeClr val="bg1"/>
                </a:solidFill>
                <a:latin typeface="Calibri"/>
                <a:cs typeface="Calibri"/>
              </a:rPr>
              <a:t>) - </a:t>
            </a:r>
            <a:r>
              <a:rPr lang="es-ES" sz="1200" spc="-10" dirty="0">
                <a:solidFill>
                  <a:schemeClr val="bg1"/>
                </a:solidFill>
              </a:rPr>
              <a:t>Universo </a:t>
            </a:r>
            <a:r>
              <a:rPr lang="es-ES" sz="1200" dirty="0">
                <a:solidFill>
                  <a:schemeClr val="bg1"/>
                </a:solidFill>
              </a:rPr>
              <a:t>Base: Selección y </a:t>
            </a:r>
            <a:r>
              <a:rPr lang="es-ES" sz="1200" spc="-5" dirty="0">
                <a:solidFill>
                  <a:schemeClr val="bg1"/>
                </a:solidFill>
              </a:rPr>
              <a:t>Composición </a:t>
            </a:r>
            <a:r>
              <a:rPr lang="es-ES" sz="1200" dirty="0">
                <a:solidFill>
                  <a:schemeClr val="bg1"/>
                </a:solidFill>
              </a:rPr>
              <a:t>de </a:t>
            </a:r>
            <a:r>
              <a:rPr lang="es-ES" sz="1200" spc="-5" dirty="0">
                <a:solidFill>
                  <a:schemeClr val="bg1"/>
                </a:solidFill>
              </a:rPr>
              <a:t>Aptos</a:t>
            </a:r>
            <a:r>
              <a:rPr lang="es-ES" sz="1200" spc="-60" dirty="0">
                <a:solidFill>
                  <a:schemeClr val="bg1"/>
                </a:solidFill>
              </a:rPr>
              <a:t> </a:t>
            </a:r>
            <a:r>
              <a:rPr lang="es-ES" sz="1200" spc="-5" dirty="0">
                <a:solidFill>
                  <a:schemeClr val="bg1"/>
                </a:solidFill>
              </a:rPr>
              <a:t>P3 </a:t>
            </a:r>
          </a:p>
          <a:p>
            <a:pPr marL="228600" indent="-228600" algn="just">
              <a:spcBef>
                <a:spcPts val="105"/>
              </a:spcBef>
              <a:buFont typeface="+mj-lt"/>
              <a:buAutoNum type="arabicPeriod"/>
            </a:pPr>
            <a:r>
              <a:rPr lang="pt-BR" sz="1200" dirty="0">
                <a:solidFill>
                  <a:srgbClr val="FFFFFF"/>
                </a:solidFill>
                <a:cs typeface="Calibri"/>
              </a:rPr>
              <a:t>(D6) - Diagrama </a:t>
            </a:r>
            <a:r>
              <a:rPr lang="pt-BR" sz="1200" spc="-5" dirty="0">
                <a:solidFill>
                  <a:srgbClr val="FFFFFF"/>
                </a:solidFill>
                <a:cs typeface="Calibri"/>
              </a:rPr>
              <a:t>de </a:t>
            </a:r>
            <a:r>
              <a:rPr lang="pt-BR" sz="1200" spc="-5" dirty="0" err="1">
                <a:solidFill>
                  <a:srgbClr val="FFFFFF"/>
                </a:solidFill>
                <a:cs typeface="Calibri"/>
              </a:rPr>
              <a:t>Venn</a:t>
            </a:r>
            <a:r>
              <a:rPr lang="pt-BR" sz="1200" spc="-5" dirty="0">
                <a:solidFill>
                  <a:srgbClr val="FFFFFF"/>
                </a:solidFill>
                <a:cs typeface="Calibri"/>
              </a:rPr>
              <a:t> </a:t>
            </a:r>
            <a:r>
              <a:rPr lang="pt-BR" sz="1200" dirty="0">
                <a:solidFill>
                  <a:srgbClr val="FFFFFF"/>
                </a:solidFill>
                <a:cs typeface="Calibri"/>
              </a:rPr>
              <a:t>(nº 316 Aptos</a:t>
            </a:r>
            <a:r>
              <a:rPr lang="pt-BR" sz="1200" spc="-120" dirty="0">
                <a:solidFill>
                  <a:srgbClr val="FFFFFF"/>
                </a:solidFill>
                <a:cs typeface="Calibri"/>
              </a:rPr>
              <a:t> </a:t>
            </a:r>
            <a:r>
              <a:rPr lang="pt-BR" sz="1200" dirty="0">
                <a:solidFill>
                  <a:srgbClr val="FFFFFF"/>
                </a:solidFill>
                <a:cs typeface="Calibri"/>
              </a:rPr>
              <a:t>P3)</a:t>
            </a:r>
            <a:r>
              <a:rPr lang="es-ES" sz="1200" dirty="0">
                <a:solidFill>
                  <a:srgbClr val="FFFFFF"/>
                </a:solidFill>
                <a:cs typeface="Calibri"/>
              </a:rPr>
              <a:t> </a:t>
            </a:r>
          </a:p>
          <a:p>
            <a:pPr marL="228600" indent="-228600" algn="just">
              <a:spcBef>
                <a:spcPts val="105"/>
              </a:spcBef>
              <a:buFont typeface="+mj-lt"/>
              <a:buAutoNum type="arabicPeriod"/>
            </a:pPr>
            <a:r>
              <a:rPr lang="es-ES" sz="1200" dirty="0">
                <a:solidFill>
                  <a:srgbClr val="FFFFFF"/>
                </a:solidFill>
                <a:cs typeface="Calibri"/>
              </a:rPr>
              <a:t>(D7) – Distribución de Modalidades de Formación</a:t>
            </a:r>
          </a:p>
          <a:p>
            <a:pPr marL="228600" indent="-228600" algn="just">
              <a:spcBef>
                <a:spcPts val="105"/>
              </a:spcBef>
              <a:buFont typeface="+mj-lt"/>
              <a:buAutoNum type="arabicPeriod"/>
            </a:pPr>
            <a:r>
              <a:rPr lang="es-ES" sz="1200" dirty="0">
                <a:solidFill>
                  <a:srgbClr val="FFFFFF"/>
                </a:solidFill>
                <a:cs typeface="Calibri"/>
              </a:rPr>
              <a:t>(D8) - </a:t>
            </a:r>
            <a:r>
              <a:rPr lang="es-ES" sz="1200" spc="-5" dirty="0">
                <a:solidFill>
                  <a:srgbClr val="FFFFFF"/>
                </a:solidFill>
                <a:cs typeface="Calibri"/>
              </a:rPr>
              <a:t>Distribución de </a:t>
            </a:r>
            <a:r>
              <a:rPr lang="es-ES" sz="1200" dirty="0">
                <a:solidFill>
                  <a:srgbClr val="FFFFFF"/>
                </a:solidFill>
                <a:cs typeface="Calibri"/>
              </a:rPr>
              <a:t>los docentes </a:t>
            </a:r>
            <a:r>
              <a:rPr lang="es-ES" sz="1200" spc="-5" dirty="0">
                <a:solidFill>
                  <a:srgbClr val="FFFFFF"/>
                </a:solidFill>
                <a:cs typeface="Calibri"/>
              </a:rPr>
              <a:t>de </a:t>
            </a:r>
            <a:r>
              <a:rPr lang="es-ES" sz="1200" dirty="0">
                <a:solidFill>
                  <a:srgbClr val="FFFFFF"/>
                </a:solidFill>
                <a:cs typeface="Calibri"/>
              </a:rPr>
              <a:t>la</a:t>
            </a:r>
            <a:r>
              <a:rPr lang="es-ES" sz="1200" spc="-105" dirty="0">
                <a:solidFill>
                  <a:srgbClr val="FFFFFF"/>
                </a:solidFill>
                <a:cs typeface="Calibri"/>
              </a:rPr>
              <a:t> </a:t>
            </a:r>
            <a:r>
              <a:rPr lang="es-ES" sz="1200" dirty="0">
                <a:solidFill>
                  <a:srgbClr val="FFFFFF"/>
                </a:solidFill>
                <a:cs typeface="Calibri"/>
              </a:rPr>
              <a:t>muestra  </a:t>
            </a:r>
            <a:r>
              <a:rPr lang="es-ES" sz="1200" spc="-5" dirty="0">
                <a:solidFill>
                  <a:srgbClr val="FFFFFF"/>
                </a:solidFill>
                <a:cs typeface="Calibri"/>
              </a:rPr>
              <a:t>según </a:t>
            </a:r>
            <a:r>
              <a:rPr lang="es-ES" sz="1200" dirty="0">
                <a:solidFill>
                  <a:srgbClr val="FFFFFF"/>
                </a:solidFill>
                <a:cs typeface="Calibri"/>
              </a:rPr>
              <a:t>Tramo </a:t>
            </a:r>
            <a:r>
              <a:rPr lang="es-ES" sz="1200" spc="-5" dirty="0">
                <a:solidFill>
                  <a:srgbClr val="FFFFFF"/>
                </a:solidFill>
                <a:cs typeface="Calibri"/>
              </a:rPr>
              <a:t>de Edad </a:t>
            </a:r>
            <a:r>
              <a:rPr lang="es-ES" sz="1200" dirty="0">
                <a:solidFill>
                  <a:srgbClr val="FFFFFF"/>
                </a:solidFill>
                <a:cs typeface="Calibri"/>
              </a:rPr>
              <a:t>y</a:t>
            </a:r>
            <a:r>
              <a:rPr lang="es-ES" sz="1200" spc="-65" dirty="0">
                <a:solidFill>
                  <a:srgbClr val="FFFFFF"/>
                </a:solidFill>
                <a:cs typeface="Calibri"/>
              </a:rPr>
              <a:t> </a:t>
            </a:r>
            <a:r>
              <a:rPr lang="es-ES" sz="1200" spc="-5" dirty="0">
                <a:solidFill>
                  <a:srgbClr val="FFFFFF"/>
                </a:solidFill>
                <a:cs typeface="Calibri"/>
              </a:rPr>
              <a:t>Sexo</a:t>
            </a:r>
            <a:r>
              <a:rPr lang="es-CL" sz="1200" dirty="0">
                <a:solidFill>
                  <a:srgbClr val="FFFFFF"/>
                </a:solidFill>
                <a:cs typeface="Calibri"/>
              </a:rPr>
              <a:t> </a:t>
            </a:r>
          </a:p>
          <a:p>
            <a:pPr marL="228600" indent="-228600" algn="just">
              <a:spcBef>
                <a:spcPts val="105"/>
              </a:spcBef>
              <a:buFont typeface="+mj-lt"/>
              <a:buAutoNum type="arabicPeriod"/>
            </a:pPr>
            <a:r>
              <a:rPr lang="es-CL" sz="1200" dirty="0">
                <a:solidFill>
                  <a:srgbClr val="FFFFFF"/>
                </a:solidFill>
                <a:cs typeface="Calibri"/>
              </a:rPr>
              <a:t>D9) - Grado Académico</a:t>
            </a:r>
            <a:r>
              <a:rPr lang="es-CL" sz="1200" spc="-110" dirty="0">
                <a:solidFill>
                  <a:srgbClr val="FFFFFF"/>
                </a:solidFill>
                <a:cs typeface="Calibri"/>
              </a:rPr>
              <a:t> </a:t>
            </a:r>
            <a:r>
              <a:rPr lang="es-CL" sz="1200" dirty="0">
                <a:solidFill>
                  <a:srgbClr val="FFFFFF"/>
                </a:solidFill>
                <a:cs typeface="Calibri"/>
              </a:rPr>
              <a:t>Reconocido </a:t>
            </a:r>
          </a:p>
          <a:p>
            <a:pPr marL="228600" indent="-228600" algn="just">
              <a:spcBef>
                <a:spcPts val="105"/>
              </a:spcBef>
              <a:buFont typeface="+mj-lt"/>
              <a:buAutoNum type="arabicPeriod"/>
            </a:pPr>
            <a:r>
              <a:rPr lang="es-ES" sz="1200" dirty="0">
                <a:solidFill>
                  <a:schemeClr val="bg1"/>
                </a:solidFill>
                <a:cs typeface="Calibri"/>
              </a:rPr>
              <a:t>(D10) - </a:t>
            </a:r>
            <a:r>
              <a:rPr lang="es-ES" sz="1200" spc="-5" dirty="0">
                <a:solidFill>
                  <a:schemeClr val="bg1"/>
                </a:solidFill>
              </a:rPr>
              <a:t>Distribución </a:t>
            </a:r>
            <a:r>
              <a:rPr lang="es-ES" sz="1200" dirty="0">
                <a:solidFill>
                  <a:schemeClr val="bg1"/>
                </a:solidFill>
              </a:rPr>
              <a:t>por</a:t>
            </a:r>
            <a:r>
              <a:rPr lang="es-ES" sz="1200" spc="-95" dirty="0">
                <a:solidFill>
                  <a:schemeClr val="bg1"/>
                </a:solidFill>
              </a:rPr>
              <a:t> </a:t>
            </a:r>
            <a:r>
              <a:rPr lang="es-ES" sz="1200" spc="-5" dirty="0">
                <a:solidFill>
                  <a:schemeClr val="bg1"/>
                </a:solidFill>
              </a:rPr>
              <a:t>Unidad/Facultad</a:t>
            </a:r>
          </a:p>
          <a:p>
            <a:pPr marL="228600" indent="-228600" algn="just">
              <a:spcBef>
                <a:spcPts val="105"/>
              </a:spcBef>
              <a:buFont typeface="+mj-lt"/>
              <a:buAutoNum type="arabicPeriod"/>
            </a:pPr>
            <a:r>
              <a:rPr lang="es-CL" sz="1200" dirty="0">
                <a:solidFill>
                  <a:srgbClr val="FFFFFF"/>
                </a:solidFill>
                <a:cs typeface="Calibri"/>
              </a:rPr>
              <a:t>(D11) - </a:t>
            </a:r>
            <a:r>
              <a:rPr lang="es-ES" sz="1200" dirty="0">
                <a:solidFill>
                  <a:srgbClr val="FFFFFF"/>
                </a:solidFill>
              </a:rPr>
              <a:t>Distribución de los docentes de la muestra según Antigüedad en la Institución</a:t>
            </a:r>
          </a:p>
          <a:p>
            <a:pPr marL="228600" indent="-228600" algn="just">
              <a:spcBef>
                <a:spcPts val="105"/>
              </a:spcBef>
              <a:buFont typeface="+mj-lt"/>
              <a:buAutoNum type="arabicPeriod"/>
            </a:pPr>
            <a:r>
              <a:rPr lang="es-CL" sz="1200" dirty="0">
                <a:solidFill>
                  <a:schemeClr val="bg1"/>
                </a:solidFill>
                <a:cs typeface="Calibri"/>
              </a:rPr>
              <a:t>(D12) - </a:t>
            </a:r>
            <a:r>
              <a:rPr lang="es-ES" sz="1200" spc="-10" dirty="0">
                <a:solidFill>
                  <a:schemeClr val="bg1"/>
                </a:solidFill>
              </a:rPr>
              <a:t>Participación en iniciativas de formación según </a:t>
            </a:r>
            <a:r>
              <a:rPr lang="es-ES" sz="1200" spc="-5" dirty="0">
                <a:solidFill>
                  <a:schemeClr val="bg1"/>
                </a:solidFill>
              </a:rPr>
              <a:t>Antigüedad </a:t>
            </a:r>
            <a:r>
              <a:rPr lang="es-ES" sz="1200" dirty="0">
                <a:solidFill>
                  <a:schemeClr val="bg1"/>
                </a:solidFill>
              </a:rPr>
              <a:t>y </a:t>
            </a:r>
            <a:r>
              <a:rPr lang="es-ES" sz="1200" spc="-5" dirty="0">
                <a:solidFill>
                  <a:schemeClr val="bg1"/>
                </a:solidFill>
              </a:rPr>
              <a:t>Tipo </a:t>
            </a:r>
            <a:r>
              <a:rPr lang="es-ES" sz="1200" dirty="0">
                <a:solidFill>
                  <a:schemeClr val="bg1"/>
                </a:solidFill>
              </a:rPr>
              <a:t>de</a:t>
            </a:r>
            <a:r>
              <a:rPr lang="es-ES" sz="1200" spc="-40" dirty="0">
                <a:solidFill>
                  <a:schemeClr val="bg1"/>
                </a:solidFill>
              </a:rPr>
              <a:t> </a:t>
            </a:r>
            <a:r>
              <a:rPr lang="es-ES" sz="1200" spc="-5" dirty="0">
                <a:solidFill>
                  <a:schemeClr val="bg1"/>
                </a:solidFill>
              </a:rPr>
              <a:t>Formación </a:t>
            </a:r>
          </a:p>
          <a:p>
            <a:pPr marL="228600" indent="-228600" algn="just">
              <a:spcBef>
                <a:spcPts val="105"/>
              </a:spcBef>
              <a:buFont typeface="+mj-lt"/>
              <a:buAutoNum type="arabicPeriod"/>
            </a:pPr>
            <a:r>
              <a:rPr lang="es-CL" sz="1200" dirty="0">
                <a:solidFill>
                  <a:srgbClr val="FFFFFF"/>
                </a:solidFill>
                <a:cs typeface="Calibri"/>
              </a:rPr>
              <a:t>(D13) - </a:t>
            </a:r>
            <a:r>
              <a:rPr lang="es-ES" sz="1200" dirty="0">
                <a:solidFill>
                  <a:srgbClr val="FFFFFF"/>
                </a:solidFill>
              </a:rPr>
              <a:t>Distribución de los docentes de la muestra según Jerarquía Académica</a:t>
            </a:r>
          </a:p>
          <a:p>
            <a:pPr marL="228600" indent="-228600" algn="just">
              <a:spcBef>
                <a:spcPts val="105"/>
              </a:spcBef>
              <a:buFont typeface="+mj-lt"/>
              <a:buAutoNum type="arabicPeriod"/>
            </a:pPr>
            <a:r>
              <a:rPr lang="es-CL" sz="1200" dirty="0">
                <a:solidFill>
                  <a:srgbClr val="FFFFFF"/>
                </a:solidFill>
                <a:cs typeface="Calibri"/>
              </a:rPr>
              <a:t>(D14) - </a:t>
            </a:r>
            <a:r>
              <a:rPr lang="es-ES" sz="1200" spc="-10" dirty="0">
                <a:solidFill>
                  <a:schemeClr val="bg1"/>
                </a:solidFill>
              </a:rPr>
              <a:t>Participación </a:t>
            </a:r>
            <a:r>
              <a:rPr lang="es-ES" sz="1200" dirty="0">
                <a:solidFill>
                  <a:schemeClr val="bg1"/>
                </a:solidFill>
              </a:rPr>
              <a:t>por </a:t>
            </a:r>
            <a:r>
              <a:rPr lang="es-ES" sz="1200" spc="-10" dirty="0">
                <a:solidFill>
                  <a:schemeClr val="bg1"/>
                </a:solidFill>
              </a:rPr>
              <a:t>Jerarquía </a:t>
            </a:r>
            <a:r>
              <a:rPr lang="es-ES" sz="1200" spc="5" dirty="0">
                <a:solidFill>
                  <a:schemeClr val="bg1"/>
                </a:solidFill>
              </a:rPr>
              <a:t>— </a:t>
            </a:r>
            <a:r>
              <a:rPr lang="es-ES" sz="1200" dirty="0">
                <a:solidFill>
                  <a:schemeClr val="bg1"/>
                </a:solidFill>
              </a:rPr>
              <a:t>Composición y </a:t>
            </a:r>
            <a:r>
              <a:rPr lang="es-ES" sz="1200" spc="-35" dirty="0">
                <a:solidFill>
                  <a:schemeClr val="bg1"/>
                </a:solidFill>
              </a:rPr>
              <a:t>Tasa</a:t>
            </a:r>
            <a:r>
              <a:rPr lang="es-ES" sz="1200" spc="-55" dirty="0">
                <a:solidFill>
                  <a:schemeClr val="bg1"/>
                </a:solidFill>
              </a:rPr>
              <a:t> </a:t>
            </a:r>
            <a:r>
              <a:rPr lang="es-ES" sz="1200" spc="-10" dirty="0">
                <a:solidFill>
                  <a:schemeClr val="bg1"/>
                </a:solidFill>
              </a:rPr>
              <a:t>Real</a:t>
            </a:r>
          </a:p>
          <a:p>
            <a:pPr marL="228600" indent="-228600" algn="just">
              <a:spcBef>
                <a:spcPts val="105"/>
              </a:spcBef>
              <a:buFont typeface="+mj-lt"/>
              <a:buAutoNum type="arabicPeriod"/>
            </a:pPr>
            <a:r>
              <a:rPr lang="es-CL" sz="1200" dirty="0">
                <a:solidFill>
                  <a:srgbClr val="FFFFFF"/>
                </a:solidFill>
                <a:cs typeface="Calibri"/>
              </a:rPr>
              <a:t>(D15</a:t>
            </a:r>
            <a:r>
              <a:rPr lang="es-CL" sz="1200" dirty="0">
                <a:solidFill>
                  <a:schemeClr val="bg1"/>
                </a:solidFill>
                <a:cs typeface="Calibri"/>
              </a:rPr>
              <a:t>) - </a:t>
            </a:r>
            <a:r>
              <a:rPr lang="es-ES" sz="1200" spc="-5" dirty="0">
                <a:solidFill>
                  <a:schemeClr val="bg1"/>
                </a:solidFill>
              </a:rPr>
              <a:t>Intensidad </a:t>
            </a:r>
            <a:r>
              <a:rPr lang="es-ES" sz="1200" dirty="0">
                <a:solidFill>
                  <a:schemeClr val="bg1"/>
                </a:solidFill>
              </a:rPr>
              <a:t>de </a:t>
            </a:r>
            <a:r>
              <a:rPr lang="es-ES" sz="1200" spc="-5" dirty="0">
                <a:solidFill>
                  <a:schemeClr val="bg1"/>
                </a:solidFill>
              </a:rPr>
              <a:t>Participación </a:t>
            </a:r>
            <a:r>
              <a:rPr lang="es-ES" sz="1200" dirty="0">
                <a:solidFill>
                  <a:schemeClr val="bg1"/>
                </a:solidFill>
              </a:rPr>
              <a:t>en</a:t>
            </a:r>
            <a:r>
              <a:rPr lang="es-ES" sz="1200" spc="-145" dirty="0">
                <a:solidFill>
                  <a:schemeClr val="bg1"/>
                </a:solidFill>
              </a:rPr>
              <a:t> </a:t>
            </a:r>
            <a:r>
              <a:rPr lang="es-ES" sz="1200" spc="-5" dirty="0">
                <a:solidFill>
                  <a:schemeClr val="bg1"/>
                </a:solidFill>
              </a:rPr>
              <a:t>Formación</a:t>
            </a:r>
            <a:endParaRPr lang="es-CL" sz="1200" dirty="0">
              <a:cs typeface="Calibri"/>
            </a:endParaRPr>
          </a:p>
          <a:p>
            <a:pPr marL="228600" indent="-228600" algn="just">
              <a:spcBef>
                <a:spcPts val="105"/>
              </a:spcBef>
              <a:buFont typeface="+mj-lt"/>
              <a:buAutoNum type="arabicPeriod"/>
            </a:pPr>
            <a:endParaRPr lang="es-CL" sz="1200" dirty="0">
              <a:cs typeface="Calibri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400" dirty="0">
              <a:latin typeface="Calibri"/>
              <a:cs typeface="Calibri"/>
            </a:endParaRPr>
          </a:p>
        </p:txBody>
      </p:sp>
      <p:sp>
        <p:nvSpPr>
          <p:cNvPr id="21" name="object 16">
            <a:extLst>
              <a:ext uri="{FF2B5EF4-FFF2-40B4-BE49-F238E27FC236}">
                <a16:creationId xmlns:a16="http://schemas.microsoft.com/office/drawing/2014/main" id="{04B9D678-DEAF-7329-8DEC-56251F7B232D}"/>
              </a:ext>
            </a:extLst>
          </p:cNvPr>
          <p:cNvSpPr txBox="1"/>
          <p:nvPr/>
        </p:nvSpPr>
        <p:spPr>
          <a:xfrm>
            <a:off x="8610600" y="2135232"/>
            <a:ext cx="128930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spcBef>
                <a:spcPts val="105"/>
              </a:spcBef>
            </a:pPr>
            <a:r>
              <a:rPr lang="es-CL" sz="1400" dirty="0">
                <a:solidFill>
                  <a:schemeClr val="bg1"/>
                </a:solidFill>
                <a:cs typeface="Calibri"/>
              </a:rPr>
              <a:t>Hallazgos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3400" y="0"/>
            <a:ext cx="11492738" cy="65090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00200" y="250258"/>
            <a:ext cx="7559928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L" dirty="0"/>
              <a:t>Bloque I — </a:t>
            </a:r>
            <a:r>
              <a:rPr spc="-10" dirty="0"/>
              <a:t>Universo </a:t>
            </a:r>
            <a:r>
              <a:rPr dirty="0"/>
              <a:t>Base: </a:t>
            </a:r>
            <a:r>
              <a:rPr lang="es-CL" dirty="0"/>
              <a:t>Selección y </a:t>
            </a:r>
            <a:r>
              <a:rPr spc="-5" dirty="0" err="1"/>
              <a:t>Composición</a:t>
            </a:r>
            <a:r>
              <a:rPr lang="es-ES" spc="-5" dirty="0"/>
              <a:t> </a:t>
            </a:r>
            <a:r>
              <a:rPr lang="es-ES" dirty="0"/>
              <a:t>de </a:t>
            </a:r>
            <a:r>
              <a:rPr lang="es-ES" spc="-5" dirty="0"/>
              <a:t>Aptos</a:t>
            </a:r>
            <a:r>
              <a:rPr lang="es-ES" spc="-60" dirty="0"/>
              <a:t> </a:t>
            </a:r>
            <a:r>
              <a:rPr lang="es-ES" spc="-5" dirty="0"/>
              <a:t>P3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1143000" y="1143000"/>
            <a:ext cx="5715000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Universo base: 1.144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docentes (Jornada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+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Honorario)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· 726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formados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en P3 · 316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Aptos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P3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con SAT</a:t>
            </a:r>
            <a:r>
              <a:rPr sz="1000" i="1" spc="10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válido</a:t>
            </a:r>
            <a:endParaRPr sz="10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5182" y="5042661"/>
            <a:ext cx="10393680" cy="11406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900" algn="just">
              <a:lnSpc>
                <a:spcPct val="100000"/>
              </a:lnSpc>
              <a:spcBef>
                <a:spcPts val="95"/>
              </a:spcBef>
              <a:buFont typeface="+mj-lt"/>
              <a:buAutoNum type="arabicPeriod"/>
              <a:tabLst>
                <a:tab pos="299085" algn="l"/>
                <a:tab pos="299720" algn="l"/>
              </a:tabLst>
            </a:pP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De</a:t>
            </a:r>
            <a:r>
              <a:rPr sz="1300" b="1" spc="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los</a:t>
            </a:r>
            <a:r>
              <a:rPr sz="1300" b="1" spc="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1.144</a:t>
            </a:r>
            <a:r>
              <a:rPr sz="1300" b="1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docentes</a:t>
            </a:r>
            <a:r>
              <a:rPr sz="1300" b="1" spc="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del</a:t>
            </a:r>
            <a:r>
              <a:rPr sz="1300" b="1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chemeClr val="bg1"/>
                </a:solidFill>
                <a:latin typeface="Calibri"/>
                <a:cs typeface="Calibri"/>
              </a:rPr>
              <a:t>universo</a:t>
            </a:r>
            <a:r>
              <a:rPr sz="1300" b="1" spc="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base,</a:t>
            </a:r>
            <a:r>
              <a:rPr sz="1300" b="1" spc="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726</a:t>
            </a:r>
            <a:r>
              <a:rPr sz="1300" b="1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participaron</a:t>
            </a:r>
            <a:r>
              <a:rPr sz="1300" b="1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en</a:t>
            </a:r>
            <a:r>
              <a:rPr sz="1300" b="1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al</a:t>
            </a:r>
            <a:r>
              <a:rPr sz="1300" b="1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menos</a:t>
            </a:r>
            <a:r>
              <a:rPr sz="1300" b="1" spc="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una</a:t>
            </a:r>
            <a:r>
              <a:rPr sz="1300" b="1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iniciativa</a:t>
            </a:r>
            <a:r>
              <a:rPr sz="1300" b="1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de</a:t>
            </a:r>
            <a:r>
              <a:rPr sz="1300" b="1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chemeClr val="bg1"/>
                </a:solidFill>
                <a:latin typeface="Calibri"/>
                <a:cs typeface="Calibri"/>
              </a:rPr>
              <a:t>formación</a:t>
            </a:r>
            <a:r>
              <a:rPr sz="1300" b="1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P3</a:t>
            </a:r>
            <a:r>
              <a:rPr sz="1300" b="1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(63%).</a:t>
            </a:r>
            <a:r>
              <a:rPr sz="1300" b="1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De</a:t>
            </a:r>
            <a:r>
              <a:rPr sz="1300" b="1" spc="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ellos,</a:t>
            </a:r>
            <a:r>
              <a:rPr sz="1300" b="1" spc="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316</a:t>
            </a:r>
            <a:r>
              <a:rPr sz="1300" b="1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chemeClr val="bg1"/>
                </a:solidFill>
                <a:latin typeface="Calibri"/>
                <a:cs typeface="Calibri"/>
              </a:rPr>
              <a:t>cumplen</a:t>
            </a:r>
            <a:r>
              <a:rPr sz="1300" b="1" spc="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la</a:t>
            </a:r>
            <a:r>
              <a:rPr sz="1300" b="1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 err="1">
                <a:solidFill>
                  <a:schemeClr val="bg1"/>
                </a:solidFill>
                <a:latin typeface="Calibri"/>
                <a:cs typeface="Calibri"/>
              </a:rPr>
              <a:t>condición</a:t>
            </a:r>
            <a:r>
              <a:rPr sz="1300" b="1" spc="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chemeClr val="bg1"/>
                </a:solidFill>
                <a:latin typeface="Calibri"/>
                <a:cs typeface="Calibri"/>
              </a:rPr>
              <a:t>de</a:t>
            </a:r>
            <a:r>
              <a:rPr lang="es-CL" sz="1300" b="1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chemeClr val="bg1"/>
                </a:solidFill>
                <a:latin typeface="Calibri"/>
                <a:cs typeface="Calibri"/>
              </a:rPr>
              <a:t>Aptos</a:t>
            </a:r>
            <a:r>
              <a:rPr sz="1300" b="1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P3</a:t>
            </a:r>
            <a:r>
              <a:rPr sz="1300" b="1" spc="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—</a:t>
            </a:r>
            <a:r>
              <a:rPr sz="1300" b="1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chemeClr val="bg1"/>
                </a:solidFill>
                <a:latin typeface="Calibri"/>
                <a:cs typeface="Calibri"/>
              </a:rPr>
              <a:t>contar</a:t>
            </a:r>
            <a:r>
              <a:rPr sz="1300" b="1" spc="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chemeClr val="bg1"/>
                </a:solidFill>
                <a:latin typeface="Calibri"/>
                <a:cs typeface="Calibri"/>
              </a:rPr>
              <a:t>con</a:t>
            </a:r>
            <a:r>
              <a:rPr sz="1300" b="1" spc="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evaluación</a:t>
            </a:r>
            <a:r>
              <a:rPr sz="1300" b="1" spc="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40" dirty="0">
                <a:solidFill>
                  <a:schemeClr val="bg1"/>
                </a:solidFill>
                <a:latin typeface="Calibri"/>
                <a:cs typeface="Calibri"/>
              </a:rPr>
              <a:t>SAT</a:t>
            </a:r>
            <a:r>
              <a:rPr sz="1300" b="1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chemeClr val="bg1"/>
                </a:solidFill>
                <a:latin typeface="Calibri"/>
                <a:cs typeface="Calibri"/>
              </a:rPr>
              <a:t>válida</a:t>
            </a:r>
            <a:r>
              <a:rPr sz="1300" b="1" spc="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15" dirty="0">
                <a:solidFill>
                  <a:schemeClr val="bg1"/>
                </a:solidFill>
                <a:latin typeface="Calibri"/>
                <a:cs typeface="Calibri"/>
              </a:rPr>
              <a:t>tanto</a:t>
            </a:r>
            <a:r>
              <a:rPr sz="1300" b="1" spc="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en</a:t>
            </a:r>
            <a:r>
              <a:rPr sz="1300" b="1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el</a:t>
            </a:r>
            <a:r>
              <a:rPr sz="1300" b="1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período</a:t>
            </a:r>
            <a:r>
              <a:rPr sz="1300" b="1" spc="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baseline</a:t>
            </a:r>
            <a:r>
              <a:rPr sz="1300" b="1" spc="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chemeClr val="bg1"/>
                </a:solidFill>
                <a:latin typeface="Calibri"/>
                <a:cs typeface="Calibri"/>
              </a:rPr>
              <a:t>como</a:t>
            </a:r>
            <a:r>
              <a:rPr sz="1300" b="1" spc="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en</a:t>
            </a:r>
            <a:r>
              <a:rPr sz="1300" b="1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el</a:t>
            </a:r>
            <a:r>
              <a:rPr sz="1300" b="1" spc="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de</a:t>
            </a:r>
            <a:r>
              <a:rPr sz="1300" b="1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resultado</a:t>
            </a:r>
            <a:r>
              <a:rPr sz="1300" b="1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—</a:t>
            </a:r>
            <a:r>
              <a:rPr sz="1300" b="1" spc="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representando</a:t>
            </a:r>
            <a:r>
              <a:rPr sz="1300" b="1" spc="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el</a:t>
            </a:r>
            <a:r>
              <a:rPr sz="1300" b="1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43%</a:t>
            </a:r>
            <a:r>
              <a:rPr sz="1300" b="1" spc="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de</a:t>
            </a:r>
            <a:r>
              <a:rPr sz="1300" b="1" spc="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los</a:t>
            </a:r>
            <a:r>
              <a:rPr sz="1300" b="1" spc="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chemeClr val="bg1"/>
                </a:solidFill>
                <a:latin typeface="Calibri"/>
                <a:cs typeface="Calibri"/>
              </a:rPr>
              <a:t>formados.</a:t>
            </a:r>
            <a:endParaRPr sz="1300" b="1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54965" marR="5080" indent="-342900" algn="just">
              <a:lnSpc>
                <a:spcPct val="100000"/>
              </a:lnSpc>
              <a:spcBef>
                <a:spcPts val="985"/>
              </a:spcBef>
              <a:buFont typeface="+mj-lt"/>
              <a:buAutoNum type="arabicPeriod"/>
              <a:tabLst>
                <a:tab pos="299085" algn="l"/>
                <a:tab pos="299720" algn="l"/>
              </a:tabLst>
            </a:pP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La </a:t>
            </a:r>
            <a:r>
              <a:rPr sz="1300" b="1" spc="-10" dirty="0">
                <a:solidFill>
                  <a:schemeClr val="bg1"/>
                </a:solidFill>
                <a:latin typeface="Calibri"/>
                <a:cs typeface="Calibri"/>
              </a:rPr>
              <a:t>composición contractual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de los </a:t>
            </a:r>
            <a:r>
              <a:rPr sz="1300" b="1" spc="-10" dirty="0">
                <a:solidFill>
                  <a:schemeClr val="bg1"/>
                </a:solidFill>
                <a:latin typeface="Calibri"/>
                <a:cs typeface="Calibri"/>
              </a:rPr>
              <a:t>Aptos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P3 </a:t>
            </a:r>
            <a:r>
              <a:rPr sz="1300" b="1" spc="-10" dirty="0">
                <a:solidFill>
                  <a:schemeClr val="bg1"/>
                </a:solidFill>
                <a:latin typeface="Calibri"/>
                <a:cs typeface="Calibri"/>
              </a:rPr>
              <a:t>muestra </a:t>
            </a:r>
            <a:r>
              <a:rPr sz="1300" b="1" spc="-15" dirty="0">
                <a:solidFill>
                  <a:schemeClr val="bg1"/>
                </a:solidFill>
                <a:latin typeface="Calibri"/>
                <a:cs typeface="Calibri"/>
              </a:rPr>
              <a:t>mayor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concentración de docentes de Jornada (68%) respecto al </a:t>
            </a:r>
            <a:r>
              <a:rPr sz="1300" b="1" spc="-10" dirty="0">
                <a:solidFill>
                  <a:schemeClr val="bg1"/>
                </a:solidFill>
                <a:latin typeface="Calibri"/>
                <a:cs typeface="Calibri"/>
              </a:rPr>
              <a:t>universo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base (55%), </a:t>
            </a:r>
            <a:r>
              <a:rPr sz="1300" b="1" spc="-10" dirty="0" err="1">
                <a:solidFill>
                  <a:schemeClr val="bg1"/>
                </a:solidFill>
                <a:latin typeface="Calibri"/>
                <a:cs typeface="Calibri"/>
              </a:rPr>
              <a:t>mientras</a:t>
            </a:r>
            <a:r>
              <a:rPr sz="1300" b="1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s-CL" sz="1300" b="1" spc="-10" dirty="0">
                <a:solidFill>
                  <a:schemeClr val="bg1"/>
                </a:solidFill>
                <a:latin typeface="Calibri"/>
                <a:cs typeface="Calibri"/>
              </a:rPr>
              <a:t>que </a:t>
            </a:r>
            <a:r>
              <a:rPr sz="1300" b="1" spc="-5" dirty="0" err="1">
                <a:solidFill>
                  <a:schemeClr val="bg1"/>
                </a:solidFill>
                <a:latin typeface="Calibri"/>
                <a:cs typeface="Calibri"/>
              </a:rPr>
              <a:t>los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  </a:t>
            </a:r>
            <a:r>
              <a:rPr lang="es-CL" sz="1300" b="1" spc="-5" dirty="0">
                <a:solidFill>
                  <a:schemeClr val="bg1"/>
                </a:solidFill>
                <a:latin typeface="Calibri"/>
                <a:cs typeface="Calibri"/>
              </a:rPr>
              <a:t>docentes a </a:t>
            </a:r>
            <a:r>
              <a:rPr sz="1300" b="1" spc="-10" dirty="0" err="1">
                <a:solidFill>
                  <a:schemeClr val="bg1"/>
                </a:solidFill>
                <a:latin typeface="Calibri"/>
                <a:cs typeface="Calibri"/>
              </a:rPr>
              <a:t>Honorarios</a:t>
            </a:r>
            <a:r>
              <a:rPr sz="1300" b="1" spc="-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caen de 45% a 32%. </a:t>
            </a:r>
            <a:r>
              <a:rPr sz="1300" b="1" spc="-15" dirty="0">
                <a:solidFill>
                  <a:schemeClr val="bg1"/>
                </a:solidFill>
                <a:latin typeface="Calibri"/>
                <a:cs typeface="Calibri"/>
              </a:rPr>
              <a:t>Esto </a:t>
            </a:r>
            <a:r>
              <a:rPr sz="1300" b="1" spc="-10" dirty="0">
                <a:solidFill>
                  <a:schemeClr val="bg1"/>
                </a:solidFill>
                <a:latin typeface="Calibri"/>
                <a:cs typeface="Calibri"/>
              </a:rPr>
              <a:t>refleja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que los docentes de Jornada, al tener </a:t>
            </a:r>
            <a:r>
              <a:rPr sz="1300" b="1" spc="-15" dirty="0">
                <a:solidFill>
                  <a:schemeClr val="bg1"/>
                </a:solidFill>
                <a:latin typeface="Calibri"/>
                <a:cs typeface="Calibri"/>
              </a:rPr>
              <a:t>mayor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continuidad en la institución, tienen más probabilidad </a:t>
            </a:r>
            <a:r>
              <a:rPr sz="1300" b="1" spc="-10" dirty="0">
                <a:solidFill>
                  <a:schemeClr val="bg1"/>
                </a:solidFill>
                <a:latin typeface="Calibri"/>
                <a:cs typeface="Calibri"/>
              </a:rPr>
              <a:t>de  registrar </a:t>
            </a:r>
            <a:r>
              <a:rPr sz="1300" b="1" spc="-45" dirty="0">
                <a:solidFill>
                  <a:schemeClr val="bg1"/>
                </a:solidFill>
                <a:latin typeface="Calibri"/>
                <a:cs typeface="Calibri"/>
              </a:rPr>
              <a:t>SAT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en ambos períodos de</a:t>
            </a:r>
            <a:r>
              <a:rPr sz="1300" b="1" spc="14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medición.</a:t>
            </a:r>
            <a:endParaRPr sz="13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199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9201" y="200990"/>
            <a:ext cx="7993634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L" dirty="0"/>
              <a:t>Bloque I — </a:t>
            </a:r>
            <a:r>
              <a:rPr spc="-5" dirty="0" err="1"/>
              <a:t>Tipos</a:t>
            </a:r>
            <a:r>
              <a:rPr spc="-5" dirty="0"/>
              <a:t> </a:t>
            </a:r>
            <a:r>
              <a:rPr dirty="0"/>
              <a:t>de </a:t>
            </a:r>
            <a:r>
              <a:rPr spc="-5" dirty="0"/>
              <a:t>Formación </a:t>
            </a:r>
            <a:r>
              <a:rPr spc="5" dirty="0"/>
              <a:t>— </a:t>
            </a:r>
            <a:r>
              <a:rPr spc="-10" dirty="0"/>
              <a:t>Diagrama </a:t>
            </a:r>
            <a:r>
              <a:rPr dirty="0"/>
              <a:t>de </a:t>
            </a:r>
            <a:r>
              <a:rPr spc="-30" dirty="0"/>
              <a:t>Venn </a:t>
            </a:r>
            <a:r>
              <a:rPr spc="-5" dirty="0"/>
              <a:t>(nº </a:t>
            </a:r>
            <a:r>
              <a:rPr dirty="0"/>
              <a:t>316 </a:t>
            </a:r>
            <a:r>
              <a:rPr spc="-5" dirty="0"/>
              <a:t>Aptos</a:t>
            </a:r>
            <a:r>
              <a:rPr spc="-40" dirty="0"/>
              <a:t> </a:t>
            </a:r>
            <a:r>
              <a:rPr spc="-5" dirty="0"/>
              <a:t>P3)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5428" y="872108"/>
            <a:ext cx="8659572" cy="5520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Universo: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316 </a:t>
            </a:r>
            <a:r>
              <a:rPr lang="es-CL" sz="1000" i="1" dirty="0">
                <a:solidFill>
                  <a:schemeClr val="bg1"/>
                </a:solidFill>
                <a:latin typeface="Calibri"/>
                <a:cs typeface="Calibri"/>
              </a:rPr>
              <a:t>docentes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Aptos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P3 · </a:t>
            </a:r>
            <a:r>
              <a:rPr lang="es-CL" sz="1000" i="1" spc="-5" dirty="0">
                <a:solidFill>
                  <a:schemeClr val="bg1"/>
                </a:solidFill>
                <a:latin typeface="Calibri"/>
                <a:cs typeface="Calibri"/>
              </a:rPr>
              <a:t>T</a:t>
            </a:r>
            <a:r>
              <a:rPr sz="1000" i="1" spc="-5" dirty="0" err="1">
                <a:solidFill>
                  <a:schemeClr val="bg1"/>
                </a:solidFill>
                <a:latin typeface="Calibri"/>
                <a:cs typeface="Calibri"/>
              </a:rPr>
              <a:t>odos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s-CL" sz="1000" i="1" spc="-5" dirty="0">
                <a:solidFill>
                  <a:schemeClr val="bg1"/>
                </a:solidFill>
                <a:latin typeface="Calibri"/>
                <a:cs typeface="Calibri"/>
              </a:rPr>
              <a:t>F</a:t>
            </a:r>
            <a:r>
              <a:rPr sz="1000" i="1" spc="-5" dirty="0" err="1">
                <a:solidFill>
                  <a:schemeClr val="bg1"/>
                </a:solidFill>
                <a:latin typeface="Calibri"/>
                <a:cs typeface="Calibri"/>
              </a:rPr>
              <a:t>ormados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· </a:t>
            </a:r>
            <a:r>
              <a:rPr lang="es-CL" sz="1000" i="1" spc="-5" dirty="0">
                <a:solidFill>
                  <a:schemeClr val="bg1"/>
                </a:solidFill>
                <a:cs typeface="Calibri"/>
              </a:rPr>
              <a:t>Período</a:t>
            </a:r>
            <a:r>
              <a:rPr sz="1000" i="1" spc="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2022–2025</a:t>
            </a:r>
            <a:endParaRPr sz="1000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00" dirty="0">
              <a:latin typeface="Calibri"/>
              <a:cs typeface="Calibri"/>
            </a:endParaRPr>
          </a:p>
          <a:p>
            <a:pPr marL="1597660">
              <a:lnSpc>
                <a:spcPct val="100000"/>
              </a:lnSpc>
            </a:pP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200" spc="-5" dirty="0" err="1">
                <a:solidFill>
                  <a:srgbClr val="FFFFFF"/>
                </a:solidFill>
                <a:latin typeface="Calibri"/>
                <a:cs typeface="Calibri"/>
              </a:rPr>
              <a:t>os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316 </a:t>
            </a:r>
            <a:r>
              <a:rPr lang="es-CL" sz="1200" dirty="0">
                <a:solidFill>
                  <a:srgbClr val="FFFFFF"/>
                </a:solidFill>
                <a:latin typeface="Calibri"/>
                <a:cs typeface="Calibri"/>
              </a:rPr>
              <a:t>docentes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son formados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·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Oferta formativa: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294 ·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Diplomado: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39 ·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Proyecto: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7 ·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Participación Mixta: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24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5182" y="5218836"/>
            <a:ext cx="10047605" cy="786113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4965" indent="-342900" algn="just">
              <a:lnSpc>
                <a:spcPct val="100000"/>
              </a:lnSpc>
              <a:spcBef>
                <a:spcPts val="5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sz="1400" b="1" spc="-5" dirty="0" err="1">
                <a:solidFill>
                  <a:srgbClr val="FFFFFF"/>
                </a:solidFill>
                <a:latin typeface="Calibri"/>
                <a:cs typeface="Calibri"/>
              </a:rPr>
              <a:t>Oferta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s-CL" sz="1400" b="1" spc="-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400" b="1" spc="-5" dirty="0" err="1">
                <a:solidFill>
                  <a:srgbClr val="FFFFFF"/>
                </a:solidFill>
                <a:latin typeface="Calibri"/>
                <a:cs typeface="Calibri"/>
              </a:rPr>
              <a:t>ormativa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es la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modalidad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más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frecuente (294 docentes, 93%), seguido por Diplomado (39)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y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Proyecto de Innovación</a:t>
            </a:r>
            <a:r>
              <a:rPr sz="1400" b="1" spc="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(7).</a:t>
            </a:r>
            <a:endParaRPr sz="1400" b="1" dirty="0">
              <a:latin typeface="Calibri"/>
              <a:cs typeface="Calibri"/>
            </a:endParaRPr>
          </a:p>
          <a:p>
            <a:pPr marL="354965" indent="-342900" algn="just">
              <a:lnSpc>
                <a:spcPct val="100000"/>
              </a:lnSpc>
              <a:spcBef>
                <a:spcPts val="495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270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docentes</a:t>
            </a:r>
            <a:r>
              <a:rPr sz="14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realizaron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solo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Oferta</a:t>
            </a:r>
            <a:r>
              <a:rPr sz="14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formativa</a:t>
            </a:r>
            <a:r>
              <a:rPr sz="1400" b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4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19</a:t>
            </a:r>
            <a:r>
              <a:rPr sz="14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solo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Diplomado</a:t>
            </a:r>
            <a:r>
              <a:rPr sz="14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14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3 solo</a:t>
            </a:r>
            <a:r>
              <a:rPr sz="14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Proyecto.</a:t>
            </a:r>
            <a:r>
              <a:rPr sz="1400" b="1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Las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combinaciones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(T+D=20,</a:t>
            </a:r>
            <a:r>
              <a:rPr sz="14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T+P=4)</a:t>
            </a:r>
            <a:r>
              <a:rPr sz="1400" b="1" spc="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representan</a:t>
            </a:r>
            <a:r>
              <a:rPr sz="14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24</a:t>
            </a:r>
            <a:r>
              <a:rPr sz="14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docentes</a:t>
            </a:r>
            <a:r>
              <a:rPr sz="14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" dirty="0" err="1">
                <a:solidFill>
                  <a:srgbClr val="FFFFFF"/>
                </a:solidFill>
                <a:latin typeface="Calibri"/>
                <a:cs typeface="Calibri"/>
              </a:rPr>
              <a:t>Participación</a:t>
            </a:r>
            <a:r>
              <a:rPr lang="es-CL" sz="14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Mixta.</a:t>
            </a:r>
            <a:endParaRPr sz="14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6587" y="656247"/>
            <a:ext cx="10810240" cy="60807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33360" y="278159"/>
            <a:ext cx="696531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s-CL" dirty="0"/>
              <a:t>Bloque I — Distribución de modalidades de formación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786587" y="1066800"/>
            <a:ext cx="8507172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Universo: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316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Aptos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P3 · </a:t>
            </a:r>
            <a:r>
              <a:rPr lang="es-CL" sz="1000" i="1" spc="-5" dirty="0">
                <a:solidFill>
                  <a:schemeClr val="bg1"/>
                </a:solidFill>
                <a:cs typeface="Calibri"/>
              </a:rPr>
              <a:t>Todos Formados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· </a:t>
            </a:r>
            <a:r>
              <a:rPr sz="1000" i="1" spc="-5" dirty="0" err="1">
                <a:solidFill>
                  <a:schemeClr val="bg1"/>
                </a:solidFill>
                <a:latin typeface="Calibri"/>
                <a:cs typeface="Calibri"/>
              </a:rPr>
              <a:t>Periodo</a:t>
            </a:r>
            <a:r>
              <a:rPr sz="1000" i="1" spc="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2022–2025</a:t>
            </a:r>
            <a:endParaRPr sz="1000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700" b="1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00" dirty="0">
              <a:latin typeface="Calibri"/>
              <a:cs typeface="Calibri"/>
            </a:endParaRPr>
          </a:p>
          <a:p>
            <a:pPr marL="1597660">
              <a:lnSpc>
                <a:spcPct val="100000"/>
              </a:lnSpc>
            </a:pPr>
            <a:r>
              <a:rPr lang="es-CL" sz="900" spc="-5" dirty="0">
                <a:solidFill>
                  <a:srgbClr val="FFFFFF"/>
                </a:solidFill>
                <a:latin typeface="Calibri"/>
                <a:cs typeface="Calibri"/>
              </a:rPr>
              <a:t>                                                     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9268" y="5218836"/>
            <a:ext cx="10125075" cy="1001556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4965" indent="-342900" algn="just">
              <a:lnSpc>
                <a:spcPct val="100000"/>
              </a:lnSpc>
              <a:spcBef>
                <a:spcPts val="5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292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los 316 </a:t>
            </a:r>
            <a:r>
              <a:rPr lang="es-CL" sz="1400" b="1" dirty="0">
                <a:solidFill>
                  <a:srgbClr val="FFFFFF"/>
                </a:solidFill>
                <a:latin typeface="Calibri"/>
                <a:cs typeface="Calibri"/>
              </a:rPr>
              <a:t>docentes </a:t>
            </a:r>
            <a:r>
              <a:rPr sz="1400" b="1" spc="-5" dirty="0" err="1">
                <a:solidFill>
                  <a:srgbClr val="FFFFFF"/>
                </a:solidFill>
                <a:latin typeface="Calibri"/>
                <a:cs typeface="Calibri"/>
              </a:rPr>
              <a:t>formados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 (92%) participaron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en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una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sola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modalidad;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24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tienen Participación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Mixta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(combinaron dos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o más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tipos de</a:t>
            </a:r>
            <a:r>
              <a:rPr sz="1400" b="1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formación).</a:t>
            </a:r>
            <a:endParaRPr sz="1400" b="1" dirty="0">
              <a:latin typeface="Calibri"/>
              <a:cs typeface="Calibri"/>
            </a:endParaRPr>
          </a:p>
          <a:p>
            <a:pPr marL="354965" indent="-342900" algn="just">
              <a:lnSpc>
                <a:spcPct val="100000"/>
              </a:lnSpc>
              <a:spcBef>
                <a:spcPts val="495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Las combinaciones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con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Participación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Mixta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(Diplomado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|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Oferta formativa, Proyecto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|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Oferta formativa) representan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el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subconjunto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con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mayor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exposición </a:t>
            </a:r>
            <a:r>
              <a:rPr sz="1400" b="1" spc="-5" dirty="0" err="1">
                <a:solidFill>
                  <a:srgbClr val="FFFFFF"/>
                </a:solidFill>
                <a:latin typeface="Calibri"/>
                <a:cs typeface="Calibri"/>
              </a:rPr>
              <a:t>acumulada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lang="es-CL" sz="14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" dirty="0" err="1">
                <a:solidFill>
                  <a:srgbClr val="FFFFFF"/>
                </a:solidFill>
                <a:latin typeface="Calibri"/>
                <a:cs typeface="Calibri"/>
              </a:rPr>
              <a:t>formación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4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199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000" y="200990"/>
            <a:ext cx="9082277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L" dirty="0"/>
              <a:t>Bloque I — </a:t>
            </a:r>
            <a:r>
              <a:rPr spc="-5" dirty="0" err="1"/>
              <a:t>Distribución</a:t>
            </a:r>
            <a:r>
              <a:rPr spc="-5" dirty="0"/>
              <a:t> </a:t>
            </a:r>
            <a:r>
              <a:rPr dirty="0"/>
              <a:t>de los </a:t>
            </a:r>
            <a:r>
              <a:rPr spc="-5" dirty="0"/>
              <a:t>docentes </a:t>
            </a:r>
            <a:r>
              <a:rPr dirty="0"/>
              <a:t>de la </a:t>
            </a:r>
            <a:r>
              <a:rPr spc="-10" dirty="0"/>
              <a:t>muestra </a:t>
            </a:r>
            <a:r>
              <a:rPr dirty="0"/>
              <a:t>según </a:t>
            </a:r>
            <a:r>
              <a:rPr spc="-35" dirty="0"/>
              <a:t>Tramo </a:t>
            </a:r>
            <a:r>
              <a:rPr dirty="0"/>
              <a:t>de </a:t>
            </a:r>
            <a:r>
              <a:rPr spc="-5" dirty="0"/>
              <a:t>Edad </a:t>
            </a:r>
            <a:r>
              <a:rPr dirty="0"/>
              <a:t>y</a:t>
            </a:r>
            <a:r>
              <a:rPr spc="-80" dirty="0"/>
              <a:t> </a:t>
            </a:r>
            <a:r>
              <a:rPr spc="-20" dirty="0"/>
              <a:t>Sexo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7200" y="872109"/>
            <a:ext cx="6324600" cy="5520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Universo: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316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Aptos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P3 · </a:t>
            </a:r>
            <a:r>
              <a:rPr lang="es-CL" sz="1000" i="1" spc="-5" dirty="0">
                <a:solidFill>
                  <a:schemeClr val="bg1"/>
                </a:solidFill>
                <a:cs typeface="Calibri"/>
              </a:rPr>
              <a:t>Todos Formados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· </a:t>
            </a:r>
            <a:r>
              <a:rPr sz="1000" i="1" spc="-5" dirty="0" err="1">
                <a:solidFill>
                  <a:schemeClr val="bg1"/>
                </a:solidFill>
                <a:latin typeface="Calibri"/>
                <a:cs typeface="Calibri"/>
              </a:rPr>
              <a:t>Periodo</a:t>
            </a:r>
            <a:r>
              <a:rPr sz="1000" i="1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2022–2025</a:t>
            </a:r>
            <a:endParaRPr sz="1000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00" dirty="0">
              <a:latin typeface="Calibri"/>
              <a:cs typeface="Calibri"/>
            </a:endParaRPr>
          </a:p>
          <a:p>
            <a:pPr marL="1527175">
              <a:lnSpc>
                <a:spcPct val="100000"/>
              </a:lnSpc>
            </a:pPr>
            <a:r>
              <a:rPr lang="es-CL" sz="1200" b="1" dirty="0">
                <a:solidFill>
                  <a:srgbClr val="FFFFFF"/>
                </a:solidFill>
                <a:latin typeface="Calibri"/>
                <a:cs typeface="Calibri"/>
              </a:rPr>
              <a:t>                                       </a:t>
            </a:r>
            <a:r>
              <a:rPr sz="1200" b="1" dirty="0" err="1">
                <a:solidFill>
                  <a:srgbClr val="FFFFFF"/>
                </a:solidFill>
                <a:latin typeface="Calibri"/>
                <a:cs typeface="Calibri"/>
              </a:rPr>
              <a:t>Tramo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de edad (</a:t>
            </a:r>
            <a:r>
              <a:rPr lang="es-CL" sz="1200" b="1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º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199 con 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dato)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· </a:t>
            </a:r>
            <a:r>
              <a:rPr sz="1200" b="1" spc="-10" dirty="0" err="1">
                <a:solidFill>
                  <a:srgbClr val="FFFFFF"/>
                </a:solidFill>
                <a:latin typeface="Calibri"/>
                <a:cs typeface="Calibri"/>
              </a:rPr>
              <a:t>Sexo</a:t>
            </a: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lang="es-CL" sz="1200" b="1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200" b="1" spc="-5" dirty="0">
                <a:solidFill>
                  <a:srgbClr val="FFFFFF"/>
                </a:solidFill>
                <a:latin typeface="Calibri"/>
                <a:cs typeface="Calibri"/>
              </a:rPr>
              <a:t>º</a:t>
            </a:r>
            <a:r>
              <a:rPr sz="12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315)</a:t>
            </a:r>
            <a:endParaRPr sz="1200" b="1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5428" y="4831898"/>
            <a:ext cx="9345372" cy="1002197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240665" indent="-228600" algn="just">
              <a:lnSpc>
                <a:spcPct val="100000"/>
              </a:lnSpc>
              <a:spcBef>
                <a:spcPts val="595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El tramo 40–44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años concentra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la mayor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frecuencia;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el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núcleo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35–54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agrupa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127 docentes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(64% de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los 199 con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dato de</a:t>
            </a:r>
            <a:r>
              <a:rPr sz="1400" b="1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edad).</a:t>
            </a:r>
            <a:endParaRPr sz="1400" b="1" dirty="0">
              <a:latin typeface="Calibri"/>
              <a:cs typeface="Calibri"/>
            </a:endParaRPr>
          </a:p>
          <a:p>
            <a:pPr marL="240665" indent="-228600" algn="just">
              <a:lnSpc>
                <a:spcPct val="100000"/>
              </a:lnSpc>
              <a:spcBef>
                <a:spcPts val="495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La distribución por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sexo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muestra mayor presencia de Mujer (55%). Perfil dentro de rangos esperados para docencia universitaria</a:t>
            </a:r>
            <a:r>
              <a:rPr sz="14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en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Chile.</a:t>
            </a:r>
            <a:endParaRPr sz="14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"/>
            <a:ext cx="1219199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71800" y="241022"/>
            <a:ext cx="5995669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L" dirty="0"/>
              <a:t>Bloque I — </a:t>
            </a:r>
            <a:r>
              <a:rPr spc="-15" dirty="0"/>
              <a:t>Grado </a:t>
            </a:r>
            <a:r>
              <a:rPr spc="-5" dirty="0"/>
              <a:t>Académico</a:t>
            </a:r>
            <a:r>
              <a:rPr spc="-20" dirty="0"/>
              <a:t> </a:t>
            </a:r>
            <a:r>
              <a:rPr spc="-5" dirty="0"/>
              <a:t>Reconocido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5428" y="872109"/>
            <a:ext cx="8811972" cy="5520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Universo: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316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Aptos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P3 · </a:t>
            </a:r>
            <a:r>
              <a:rPr lang="es-CL" sz="1000" i="1" spc="-5" dirty="0">
                <a:solidFill>
                  <a:schemeClr val="bg1"/>
                </a:solidFill>
                <a:cs typeface="Calibri"/>
              </a:rPr>
              <a:t>Todos Formados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· </a:t>
            </a:r>
            <a:r>
              <a:rPr lang="es-CL" sz="1000" i="1" spc="-5" dirty="0">
                <a:solidFill>
                  <a:schemeClr val="bg1"/>
                </a:solidFill>
                <a:cs typeface="Calibri"/>
              </a:rPr>
              <a:t>Período</a:t>
            </a:r>
            <a:r>
              <a:rPr lang="es-CL" sz="1000" i="1" spc="25" dirty="0">
                <a:solidFill>
                  <a:schemeClr val="bg1"/>
                </a:solidFill>
                <a:cs typeface="Calibri"/>
              </a:rPr>
              <a:t>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2022–2025</a:t>
            </a:r>
            <a:endParaRPr sz="1000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00" dirty="0">
              <a:latin typeface="Calibri"/>
              <a:cs typeface="Calibri"/>
            </a:endParaRPr>
          </a:p>
          <a:p>
            <a:pPr marL="1597660">
              <a:lnSpc>
                <a:spcPct val="100000"/>
              </a:lnSpc>
            </a:pP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                                                 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Grado Académico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— 316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Aptos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P3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º</a:t>
            </a: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198 con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dato</a:t>
            </a:r>
            <a:r>
              <a:rPr sz="12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5428" y="4831899"/>
            <a:ext cx="10314940" cy="786754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54965" indent="-342900" algn="just">
              <a:lnSpc>
                <a:spcPct val="100000"/>
              </a:lnSpc>
              <a:spcBef>
                <a:spcPts val="595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400" b="1" dirty="0">
                <a:solidFill>
                  <a:schemeClr val="bg1"/>
                </a:solidFill>
                <a:latin typeface="Calibri"/>
                <a:cs typeface="Calibri"/>
              </a:rPr>
              <a:t>El </a:t>
            </a:r>
            <a:r>
              <a:rPr sz="1400" b="1" spc="-5" dirty="0">
                <a:solidFill>
                  <a:schemeClr val="bg1"/>
                </a:solidFill>
                <a:latin typeface="Calibri"/>
                <a:cs typeface="Calibri"/>
              </a:rPr>
              <a:t>grado de </a:t>
            </a:r>
            <a:r>
              <a:rPr sz="1400" b="1" dirty="0">
                <a:solidFill>
                  <a:schemeClr val="bg1"/>
                </a:solidFill>
                <a:latin typeface="Calibri"/>
                <a:cs typeface="Calibri"/>
              </a:rPr>
              <a:t>Magíster (Profesional + Académico) es el más </a:t>
            </a:r>
            <a:r>
              <a:rPr sz="1400" b="1" spc="-5" dirty="0">
                <a:solidFill>
                  <a:schemeClr val="bg1"/>
                </a:solidFill>
                <a:latin typeface="Calibri"/>
                <a:cs typeface="Calibri"/>
              </a:rPr>
              <a:t>frecuente (134 doc</a:t>
            </a:r>
            <a:r>
              <a:rPr lang="es-CL" sz="1400" b="1" spc="-5" dirty="0">
                <a:solidFill>
                  <a:schemeClr val="bg1"/>
                </a:solidFill>
                <a:latin typeface="Calibri"/>
                <a:cs typeface="Calibri"/>
              </a:rPr>
              <a:t>entes</a:t>
            </a:r>
            <a:r>
              <a:rPr sz="1400" b="1" spc="-5" dirty="0">
                <a:solidFill>
                  <a:schemeClr val="bg1"/>
                </a:solidFill>
                <a:latin typeface="Calibri"/>
                <a:cs typeface="Calibri"/>
              </a:rPr>
              <a:t>), seguido por </a:t>
            </a:r>
            <a:r>
              <a:rPr sz="1400" b="1" dirty="0">
                <a:solidFill>
                  <a:schemeClr val="bg1"/>
                </a:solidFill>
                <a:latin typeface="Calibri"/>
                <a:cs typeface="Calibri"/>
              </a:rPr>
              <a:t>Doctor </a:t>
            </a:r>
            <a:r>
              <a:rPr sz="1400" b="1" spc="-5" dirty="0">
                <a:solidFill>
                  <a:schemeClr val="bg1"/>
                </a:solidFill>
                <a:latin typeface="Calibri"/>
                <a:cs typeface="Calibri"/>
              </a:rPr>
              <a:t>(41 doc</a:t>
            </a:r>
            <a:r>
              <a:rPr lang="es-CL" sz="1400" b="1" spc="-5" dirty="0">
                <a:solidFill>
                  <a:schemeClr val="bg1"/>
                </a:solidFill>
                <a:latin typeface="Calibri"/>
                <a:cs typeface="Calibri"/>
              </a:rPr>
              <a:t>entes</a:t>
            </a:r>
            <a:r>
              <a:rPr sz="1400" b="1" spc="-5" dirty="0">
                <a:solidFill>
                  <a:schemeClr val="bg1"/>
                </a:solidFill>
                <a:latin typeface="Calibri"/>
                <a:cs typeface="Calibri"/>
              </a:rPr>
              <a:t>). El perfil de posgrado predomina entre </a:t>
            </a:r>
            <a:r>
              <a:rPr sz="1400" b="1" dirty="0">
                <a:solidFill>
                  <a:schemeClr val="bg1"/>
                </a:solidFill>
                <a:latin typeface="Calibri"/>
                <a:cs typeface="Calibri"/>
              </a:rPr>
              <a:t>los docentes</a:t>
            </a:r>
            <a:r>
              <a:rPr sz="1400" b="1" spc="2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chemeClr val="bg1"/>
                </a:solidFill>
                <a:latin typeface="Calibri"/>
                <a:cs typeface="Calibri"/>
              </a:rPr>
              <a:t>formados.</a:t>
            </a:r>
            <a:endParaRPr sz="1400" b="1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54965" indent="-342900" algn="just">
              <a:lnSpc>
                <a:spcPct val="100000"/>
              </a:lnSpc>
              <a:spcBef>
                <a:spcPts val="495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400" b="1" spc="-5" dirty="0">
                <a:solidFill>
                  <a:schemeClr val="bg1"/>
                </a:solidFill>
                <a:latin typeface="Calibri"/>
                <a:cs typeface="Calibri"/>
              </a:rPr>
              <a:t>Los </a:t>
            </a:r>
            <a:r>
              <a:rPr sz="1400" b="1" dirty="0">
                <a:solidFill>
                  <a:schemeClr val="bg1"/>
                </a:solidFill>
                <a:latin typeface="Calibri"/>
                <a:cs typeface="Calibri"/>
              </a:rPr>
              <a:t>Doctores y Post-Doctores </a:t>
            </a:r>
            <a:r>
              <a:rPr sz="1400" b="1" spc="-5" dirty="0">
                <a:solidFill>
                  <a:schemeClr val="bg1"/>
                </a:solidFill>
                <a:latin typeface="Calibri"/>
                <a:cs typeface="Calibri"/>
              </a:rPr>
              <a:t>representan </a:t>
            </a:r>
            <a:r>
              <a:rPr sz="1400" b="1" dirty="0">
                <a:solidFill>
                  <a:schemeClr val="bg1"/>
                </a:solidFill>
                <a:latin typeface="Calibri"/>
                <a:cs typeface="Calibri"/>
              </a:rPr>
              <a:t>el </a:t>
            </a:r>
            <a:r>
              <a:rPr sz="1400" b="1" spc="-5" dirty="0">
                <a:solidFill>
                  <a:schemeClr val="bg1"/>
                </a:solidFill>
                <a:latin typeface="Calibri"/>
                <a:cs typeface="Calibri"/>
              </a:rPr>
              <a:t>núcleo de mayor </a:t>
            </a:r>
            <a:r>
              <a:rPr sz="1400" b="1" dirty="0">
                <a:solidFill>
                  <a:schemeClr val="bg1"/>
                </a:solidFill>
                <a:latin typeface="Calibri"/>
                <a:cs typeface="Calibri"/>
              </a:rPr>
              <a:t>calificación</a:t>
            </a:r>
            <a:r>
              <a:rPr sz="1400" b="1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chemeClr val="bg1"/>
                </a:solidFill>
                <a:latin typeface="Calibri"/>
                <a:cs typeface="Calibri"/>
              </a:rPr>
              <a:t>académica.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6246" y="720768"/>
            <a:ext cx="10757662" cy="60511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90800" y="346531"/>
            <a:ext cx="6409689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L" dirty="0"/>
              <a:t>                Bloque I — </a:t>
            </a:r>
            <a:r>
              <a:rPr spc="-5" dirty="0" err="1"/>
              <a:t>Distribución</a:t>
            </a:r>
            <a:r>
              <a:rPr spc="-5" dirty="0"/>
              <a:t> </a:t>
            </a:r>
            <a:r>
              <a:rPr dirty="0"/>
              <a:t>por</a:t>
            </a:r>
            <a:r>
              <a:rPr spc="-95" dirty="0"/>
              <a:t> </a:t>
            </a:r>
            <a:r>
              <a:rPr spc="-5" dirty="0"/>
              <a:t>Unidad/Facultad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5428" y="872109"/>
            <a:ext cx="8811972" cy="82907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Universo: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316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Aptos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P3 · </a:t>
            </a:r>
            <a:r>
              <a:rPr lang="es-CL" sz="1000" i="1" spc="-5" dirty="0">
                <a:solidFill>
                  <a:schemeClr val="bg1"/>
                </a:solidFill>
                <a:cs typeface="Calibri"/>
              </a:rPr>
              <a:t>Todos Formados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· </a:t>
            </a:r>
            <a:r>
              <a:rPr lang="es-CL" sz="1000" i="1" spc="-5" dirty="0">
                <a:solidFill>
                  <a:schemeClr val="bg1"/>
                </a:solidFill>
                <a:cs typeface="Calibri"/>
              </a:rPr>
              <a:t>Período</a:t>
            </a:r>
            <a:r>
              <a:rPr lang="es-CL" sz="1000" i="1" spc="25" dirty="0">
                <a:solidFill>
                  <a:schemeClr val="bg1"/>
                </a:solidFill>
                <a:cs typeface="Calibri"/>
              </a:rPr>
              <a:t>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2022–2025</a:t>
            </a:r>
            <a:endParaRPr sz="1000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00" dirty="0">
              <a:latin typeface="Calibri"/>
              <a:cs typeface="Calibri"/>
            </a:endParaRPr>
          </a:p>
          <a:p>
            <a:pPr marL="1597660">
              <a:lnSpc>
                <a:spcPct val="100000"/>
              </a:lnSpc>
            </a:pPr>
            <a:endParaRPr lang="es-CL" sz="900" spc="-5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1597660">
              <a:lnSpc>
                <a:spcPct val="100000"/>
              </a:lnSpc>
            </a:pPr>
            <a:endParaRPr lang="es-CL" sz="900" spc="-5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1597660">
              <a:lnSpc>
                <a:spcPct val="100000"/>
              </a:lnSpc>
            </a:pPr>
            <a:r>
              <a:rPr lang="es-CL" sz="900" spc="-5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lang="es-CL" sz="1200" b="1" spc="-5" dirty="0">
                <a:solidFill>
                  <a:schemeClr val="bg1"/>
                </a:solidFill>
                <a:latin typeface="Calibri"/>
                <a:cs typeface="Calibri"/>
              </a:rPr>
              <a:t>                          </a:t>
            </a:r>
            <a:r>
              <a:rPr sz="1200" b="1" spc="-5" dirty="0" err="1">
                <a:solidFill>
                  <a:schemeClr val="bg1"/>
                </a:solidFill>
                <a:latin typeface="Calibri"/>
                <a:cs typeface="Calibri"/>
              </a:rPr>
              <a:t>Distribución</a:t>
            </a:r>
            <a:r>
              <a:rPr sz="1200" b="1" spc="-5" dirty="0">
                <a:solidFill>
                  <a:schemeClr val="bg1"/>
                </a:solidFill>
                <a:latin typeface="Calibri"/>
                <a:cs typeface="Calibri"/>
              </a:rPr>
              <a:t> por Unidad/Facultad </a:t>
            </a:r>
            <a:r>
              <a:rPr sz="1200" b="1" dirty="0">
                <a:solidFill>
                  <a:schemeClr val="bg1"/>
                </a:solidFill>
                <a:latin typeface="Calibri"/>
                <a:cs typeface="Calibri"/>
              </a:rPr>
              <a:t>— 316 </a:t>
            </a:r>
            <a:r>
              <a:rPr sz="1200" b="1" spc="-5" dirty="0">
                <a:solidFill>
                  <a:schemeClr val="bg1"/>
                </a:solidFill>
                <a:latin typeface="Calibri"/>
                <a:cs typeface="Calibri"/>
              </a:rPr>
              <a:t>Aptos </a:t>
            </a:r>
            <a:r>
              <a:rPr sz="1200" b="1" dirty="0">
                <a:solidFill>
                  <a:schemeClr val="bg1"/>
                </a:solidFill>
                <a:latin typeface="Calibri"/>
                <a:cs typeface="Calibri"/>
              </a:rPr>
              <a:t>P3 </a:t>
            </a:r>
            <a:r>
              <a:rPr sz="1200" b="1" spc="-5" dirty="0">
                <a:solidFill>
                  <a:schemeClr val="bg1"/>
                </a:solidFill>
                <a:latin typeface="Calibri"/>
                <a:cs typeface="Calibri"/>
              </a:rPr>
              <a:t>(</a:t>
            </a:r>
            <a:r>
              <a:rPr lang="es-CL" sz="1200" b="1" spc="-5" dirty="0" err="1">
                <a:solidFill>
                  <a:schemeClr val="bg1"/>
                </a:solidFill>
                <a:latin typeface="Calibri"/>
                <a:cs typeface="Calibri"/>
              </a:rPr>
              <a:t>N°</a:t>
            </a:r>
            <a:r>
              <a:rPr lang="es-CL" sz="1200" b="1" spc="-5" dirty="0">
                <a:solidFill>
                  <a:schemeClr val="bg1"/>
                </a:solidFill>
                <a:latin typeface="Calibri"/>
                <a:cs typeface="Calibri"/>
              </a:rPr>
              <a:t>=</a:t>
            </a:r>
            <a:r>
              <a:rPr sz="1200" b="1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chemeClr val="bg1"/>
                </a:solidFill>
                <a:latin typeface="Calibri"/>
                <a:cs typeface="Calibri"/>
              </a:rPr>
              <a:t>231 con</a:t>
            </a:r>
            <a:r>
              <a:rPr sz="1200" b="1" spc="-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200" b="1" spc="-5" dirty="0">
                <a:solidFill>
                  <a:schemeClr val="bg1"/>
                </a:solidFill>
                <a:latin typeface="Calibri"/>
                <a:cs typeface="Calibri"/>
              </a:rPr>
              <a:t>dato)</a:t>
            </a:r>
            <a:endParaRPr sz="12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2847" y="5349036"/>
            <a:ext cx="9330690" cy="940001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4965" indent="-342900" algn="just">
              <a:lnSpc>
                <a:spcPct val="100000"/>
              </a:lnSpc>
              <a:spcBef>
                <a:spcPts val="5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Medicina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y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C. Salud concentra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el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mayor número de Aptos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P3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(68 doc., 29%), seguida por Ingeniería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y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Arq. (33,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14%) </a:t>
            </a:r>
            <a:r>
              <a:rPr lang="es-CL" sz="1300" b="1" dirty="0">
                <a:solidFill>
                  <a:srgbClr val="FFFFFF"/>
                </a:solidFill>
                <a:latin typeface="Calibri"/>
                <a:cs typeface="Calibri"/>
              </a:rPr>
              <a:t>y </a:t>
            </a:r>
            <a:r>
              <a:rPr sz="1300" b="1" spc="5" dirty="0">
                <a:solidFill>
                  <a:srgbClr val="FFFFFF"/>
                </a:solidFill>
                <a:latin typeface="Calibri"/>
                <a:cs typeface="Calibri"/>
              </a:rPr>
              <a:t>Derecho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y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Humanidades (31,</a:t>
            </a:r>
            <a:r>
              <a:rPr sz="1300" b="1" spc="1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13%).</a:t>
            </a:r>
            <a:endParaRPr sz="1300" b="1" dirty="0">
              <a:latin typeface="Calibri"/>
              <a:cs typeface="Calibri"/>
            </a:endParaRPr>
          </a:p>
          <a:p>
            <a:pPr marL="354965" indent="-342900" algn="just">
              <a:lnSpc>
                <a:spcPct val="100000"/>
              </a:lnSpc>
              <a:spcBef>
                <a:spcPts val="4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Las </a:t>
            </a:r>
            <a:r>
              <a:rPr sz="1300" b="1" spc="-5" dirty="0" err="1">
                <a:solidFill>
                  <a:srgbClr val="FFFFFF"/>
                </a:solidFill>
                <a:latin typeface="Calibri"/>
                <a:cs typeface="Calibri"/>
              </a:rPr>
              <a:t>cinco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s-CL" sz="1300" b="1" spc="-5" dirty="0">
                <a:solidFill>
                  <a:srgbClr val="FFFFFF"/>
                </a:solidFill>
                <a:latin typeface="Calibri"/>
                <a:cs typeface="Calibri"/>
              </a:rPr>
              <a:t>Facultades </a:t>
            </a:r>
            <a:r>
              <a:rPr sz="1300" b="1" spc="-5" dirty="0" err="1">
                <a:solidFill>
                  <a:srgbClr val="FFFFFF"/>
                </a:solidFill>
                <a:latin typeface="Calibri"/>
                <a:cs typeface="Calibri"/>
              </a:rPr>
              <a:t>principales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 agrupan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más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del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90%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los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docentes Aptos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P3.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La distribución refleja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concentración de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actividad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SAT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en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salud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300" b="1" spc="2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derecho.</a:t>
            </a:r>
            <a:endParaRPr sz="13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199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5800" y="243091"/>
            <a:ext cx="99822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lang="es-CL" dirty="0"/>
              <a:t>Bloque I — </a:t>
            </a:r>
            <a:r>
              <a:rPr lang="es-ES" dirty="0">
                <a:solidFill>
                  <a:srgbClr val="FFFFFF"/>
                </a:solidFill>
              </a:rPr>
              <a:t>Distribución de los docentes de la muestra según Antigüedad en la Institución</a:t>
            </a:r>
            <a:br>
              <a:rPr lang="es-ES" dirty="0">
                <a:solidFill>
                  <a:srgbClr val="FFFFFF"/>
                </a:solidFill>
              </a:rPr>
            </a:b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865428" y="872109"/>
            <a:ext cx="8811972" cy="5520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i="1" spc="-5" dirty="0">
                <a:solidFill>
                  <a:schemeClr val="bg1"/>
                </a:solidFill>
                <a:latin typeface="+mj-lt"/>
                <a:cs typeface="Calibri"/>
              </a:rPr>
              <a:t>Universo: </a:t>
            </a:r>
            <a:r>
              <a:rPr sz="1000" i="1" dirty="0">
                <a:solidFill>
                  <a:schemeClr val="bg1"/>
                </a:solidFill>
                <a:latin typeface="+mj-lt"/>
                <a:cs typeface="Calibri"/>
              </a:rPr>
              <a:t>316 </a:t>
            </a:r>
            <a:r>
              <a:rPr sz="1000" i="1" spc="-5" dirty="0">
                <a:solidFill>
                  <a:schemeClr val="bg1"/>
                </a:solidFill>
                <a:latin typeface="+mj-lt"/>
                <a:cs typeface="Calibri"/>
              </a:rPr>
              <a:t>Aptos </a:t>
            </a:r>
            <a:r>
              <a:rPr sz="1000" i="1" dirty="0">
                <a:solidFill>
                  <a:schemeClr val="bg1"/>
                </a:solidFill>
                <a:latin typeface="+mj-lt"/>
                <a:cs typeface="Calibri"/>
              </a:rPr>
              <a:t>P3 · </a:t>
            </a:r>
            <a:r>
              <a:rPr lang="es-CL" sz="1000" i="1" spc="-5" dirty="0">
                <a:solidFill>
                  <a:schemeClr val="bg1"/>
                </a:solidFill>
                <a:latin typeface="+mj-lt"/>
                <a:cs typeface="Calibri"/>
              </a:rPr>
              <a:t>Todos Formados </a:t>
            </a:r>
            <a:r>
              <a:rPr sz="1000" i="1" dirty="0">
                <a:solidFill>
                  <a:schemeClr val="bg1"/>
                </a:solidFill>
                <a:latin typeface="+mj-lt"/>
                <a:cs typeface="Calibri"/>
              </a:rPr>
              <a:t>· </a:t>
            </a:r>
            <a:r>
              <a:rPr lang="es-CL" sz="1000" i="1" spc="-5" dirty="0">
                <a:solidFill>
                  <a:schemeClr val="bg1"/>
                </a:solidFill>
                <a:latin typeface="+mj-lt"/>
                <a:cs typeface="Calibri"/>
              </a:rPr>
              <a:t>Período</a:t>
            </a:r>
            <a:r>
              <a:rPr sz="1000" i="1" spc="20" dirty="0">
                <a:solidFill>
                  <a:schemeClr val="bg1"/>
                </a:solidFill>
                <a:latin typeface="+mj-lt"/>
                <a:cs typeface="Calibri"/>
              </a:rPr>
              <a:t> </a:t>
            </a:r>
            <a:r>
              <a:rPr sz="1000" i="1" dirty="0">
                <a:solidFill>
                  <a:schemeClr val="bg1"/>
                </a:solidFill>
                <a:latin typeface="+mj-lt"/>
                <a:cs typeface="Calibri"/>
              </a:rPr>
              <a:t>2022–2025</a:t>
            </a:r>
            <a:endParaRPr sz="1000" dirty="0">
              <a:solidFill>
                <a:schemeClr val="bg1"/>
              </a:solidFill>
              <a:latin typeface="+mj-lt"/>
              <a:cs typeface="Calibri"/>
            </a:endParaRPr>
          </a:p>
          <a:p>
            <a:pPr>
              <a:lnSpc>
                <a:spcPct val="100000"/>
              </a:lnSpc>
            </a:pPr>
            <a:endParaRPr sz="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00" dirty="0">
              <a:latin typeface="Calibri"/>
              <a:cs typeface="Calibri"/>
            </a:endParaRPr>
          </a:p>
          <a:p>
            <a:pPr marL="1597660">
              <a:lnSpc>
                <a:spcPct val="100000"/>
              </a:lnSpc>
            </a:pPr>
            <a:r>
              <a:rPr lang="es-CL" sz="900" spc="-5" dirty="0">
                <a:solidFill>
                  <a:srgbClr val="FFFFFF"/>
                </a:solidFill>
                <a:latin typeface="Calibri"/>
                <a:cs typeface="Calibri"/>
              </a:rPr>
              <a:t>                                                                                 </a:t>
            </a:r>
            <a:r>
              <a:rPr sz="1200" spc="-5" dirty="0" err="1">
                <a:solidFill>
                  <a:srgbClr val="FFFFFF"/>
                </a:solidFill>
                <a:latin typeface="Calibri"/>
                <a:cs typeface="Calibri"/>
              </a:rPr>
              <a:t>Antigüedad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en la Institución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— 316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Aptos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P3 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0176" y="5181600"/>
            <a:ext cx="10205085" cy="8778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8600" algn="just">
              <a:lnSpc>
                <a:spcPct val="100000"/>
              </a:lnSpc>
              <a:spcBef>
                <a:spcPts val="105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El tramo 5–9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años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(60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doc.)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es el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mayor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frecuencia, seguido de </a:t>
            </a:r>
            <a:r>
              <a:rPr sz="1300" b="1" spc="5" dirty="0">
                <a:solidFill>
                  <a:srgbClr val="FFFFFF"/>
                </a:solidFill>
                <a:latin typeface="Calibri"/>
                <a:cs typeface="Calibri"/>
              </a:rPr>
              <a:t>0–4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años (93). Los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docentes más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jóvenes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en la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institución reúnen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con mayor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frecuencia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las</a:t>
            </a:r>
            <a:r>
              <a:rPr sz="1300" b="1" spc="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5" dirty="0" err="1">
                <a:solidFill>
                  <a:srgbClr val="FFFFFF"/>
                </a:solidFill>
                <a:latin typeface="Calibri"/>
                <a:cs typeface="Calibri"/>
              </a:rPr>
              <a:t>condiciones</a:t>
            </a:r>
            <a:r>
              <a:rPr lang="es-CL" sz="13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Aptos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P3.</a:t>
            </a:r>
            <a:endParaRPr sz="1300" b="1" dirty="0">
              <a:latin typeface="Calibri"/>
              <a:cs typeface="Calibri"/>
            </a:endParaRPr>
          </a:p>
          <a:p>
            <a:pPr marL="240665" indent="-228600" algn="just">
              <a:lnSpc>
                <a:spcPct val="100000"/>
              </a:lnSpc>
              <a:spcBef>
                <a:spcPts val="495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mayor antigüedad,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menor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presencia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en el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grupo Aptos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P3,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consistente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con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que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los más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experimentados participan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menos en iniciativas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3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formación.</a:t>
            </a:r>
            <a:endParaRPr sz="13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2406" y="727976"/>
            <a:ext cx="10047605" cy="56517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317649"/>
            <a:ext cx="94488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s-CL" dirty="0"/>
              <a:t>Bloque I — </a:t>
            </a:r>
            <a:r>
              <a:rPr spc="-10" dirty="0" err="1"/>
              <a:t>Participación</a:t>
            </a:r>
            <a:r>
              <a:rPr spc="-10" dirty="0"/>
              <a:t> </a:t>
            </a:r>
            <a:r>
              <a:rPr lang="es-CL" spc="-10" dirty="0"/>
              <a:t>en iniciativas de formación según </a:t>
            </a:r>
            <a:r>
              <a:rPr spc="-5" dirty="0" err="1"/>
              <a:t>Antigüedad</a:t>
            </a:r>
            <a:r>
              <a:rPr spc="-5" dirty="0"/>
              <a:t> </a:t>
            </a:r>
            <a:r>
              <a:rPr dirty="0"/>
              <a:t>y </a:t>
            </a:r>
            <a:r>
              <a:rPr spc="-5" dirty="0"/>
              <a:t>Tipo </a:t>
            </a:r>
            <a:r>
              <a:rPr dirty="0"/>
              <a:t>de</a:t>
            </a:r>
            <a:r>
              <a:rPr spc="-40" dirty="0"/>
              <a:t> </a:t>
            </a:r>
            <a:r>
              <a:rPr spc="-5" dirty="0"/>
              <a:t>Formación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6800" y="1104040"/>
            <a:ext cx="82296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Universo: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316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Aptos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P3 · </a:t>
            </a:r>
            <a:r>
              <a:rPr lang="es-CL" sz="1000" i="1" spc="-5" dirty="0">
                <a:solidFill>
                  <a:schemeClr val="bg1"/>
                </a:solidFill>
                <a:cs typeface="Calibri"/>
              </a:rPr>
              <a:t>Todos Formados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· </a:t>
            </a:r>
            <a:r>
              <a:rPr lang="es-CL" sz="1000" i="1" spc="-5" dirty="0">
                <a:solidFill>
                  <a:schemeClr val="bg1"/>
                </a:solidFill>
                <a:cs typeface="Calibri"/>
              </a:rPr>
              <a:t>Período</a:t>
            </a:r>
            <a:r>
              <a:rPr lang="es-CL" sz="1000" i="1" spc="25" dirty="0">
                <a:solidFill>
                  <a:schemeClr val="bg1"/>
                </a:solidFill>
                <a:cs typeface="Calibri"/>
              </a:rPr>
              <a:t>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2022–2025</a:t>
            </a:r>
            <a:endParaRPr sz="1000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00" dirty="0">
              <a:latin typeface="Calibri"/>
              <a:cs typeface="Calibri"/>
            </a:endParaRPr>
          </a:p>
          <a:p>
            <a:pPr marL="1597660">
              <a:lnSpc>
                <a:spcPct val="100000"/>
              </a:lnSpc>
            </a:pPr>
            <a:r>
              <a:rPr lang="es-CL" sz="900" spc="-5" dirty="0">
                <a:solidFill>
                  <a:srgbClr val="FFFFFF"/>
                </a:solidFill>
                <a:latin typeface="Calibri"/>
                <a:cs typeface="Calibri"/>
              </a:rPr>
              <a:t>               </a:t>
            </a:r>
            <a:r>
              <a:rPr sz="900" spc="-5" dirty="0" err="1">
                <a:solidFill>
                  <a:srgbClr val="FFFFFF"/>
                </a:solidFill>
                <a:latin typeface="Calibri"/>
                <a:cs typeface="Calibri"/>
              </a:rPr>
              <a:t>Formados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Aptos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P3: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Antigüedad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×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Tipo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composición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100%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por tramo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· n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absoluto dentro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· total n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sobre</a:t>
            </a:r>
            <a:r>
              <a:rPr sz="900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columna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5182" y="5407863"/>
            <a:ext cx="9521825" cy="940001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40665" indent="-228600" algn="just">
              <a:lnSpc>
                <a:spcPct val="100000"/>
              </a:lnSpc>
              <a:spcBef>
                <a:spcPts val="5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Los tramos de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menor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antigüedad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(0–9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años) concentran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el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mayor volumen de participación entre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los 316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Aptos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P3; 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mayor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antigüedad el total</a:t>
            </a:r>
            <a:r>
              <a:rPr sz="1300" b="1" spc="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decae.</a:t>
            </a:r>
            <a:endParaRPr sz="1300" b="1" dirty="0">
              <a:latin typeface="Calibri"/>
              <a:cs typeface="Calibri"/>
            </a:endParaRPr>
          </a:p>
          <a:p>
            <a:pPr marL="240665" indent="-228600" algn="just">
              <a:lnSpc>
                <a:spcPct val="100000"/>
              </a:lnSpc>
              <a:spcBef>
                <a:spcPts val="4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Los Diplomados representan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solo 8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participaciones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en total —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docentes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que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participaron exclusivamente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en esa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modalidad,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sin oferta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formativa ni</a:t>
            </a:r>
            <a:r>
              <a:rPr sz="13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proyectos.</a:t>
            </a:r>
            <a:endParaRPr sz="13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5428" y="719714"/>
            <a:ext cx="10520934" cy="59180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200" y="200990"/>
            <a:ext cx="97536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lang="es-CL" dirty="0"/>
              <a:t>Bloque I — </a:t>
            </a:r>
            <a:r>
              <a:rPr lang="es-ES" dirty="0">
                <a:solidFill>
                  <a:srgbClr val="FFFFFF"/>
                </a:solidFill>
              </a:rPr>
              <a:t>Distribución de los docentes de la muestra según Jerarquía Académica</a:t>
            </a:r>
            <a:br>
              <a:rPr lang="es-ES" dirty="0">
                <a:solidFill>
                  <a:srgbClr val="FFFFFF"/>
                </a:solidFill>
              </a:rPr>
            </a:b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865428" y="872109"/>
            <a:ext cx="5382972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Universo: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316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Aptos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P3 · </a:t>
            </a:r>
            <a:r>
              <a:rPr lang="es-CL" sz="1000" i="1" spc="-5" dirty="0">
                <a:solidFill>
                  <a:schemeClr val="bg1"/>
                </a:solidFill>
                <a:cs typeface="Calibri"/>
              </a:rPr>
              <a:t>Todos Formados </a:t>
            </a:r>
            <a:r>
              <a:rPr lang="es-CL" sz="1000" i="1" dirty="0">
                <a:solidFill>
                  <a:schemeClr val="bg1"/>
                </a:solidFill>
                <a:latin typeface="Calibri"/>
                <a:cs typeface="Calibri"/>
              </a:rPr>
              <a:t>· </a:t>
            </a:r>
            <a:r>
              <a:rPr lang="es-CL" sz="1000" i="1" spc="-5" dirty="0">
                <a:solidFill>
                  <a:schemeClr val="bg1"/>
                </a:solidFill>
                <a:cs typeface="Calibri"/>
              </a:rPr>
              <a:t> Período</a:t>
            </a:r>
            <a:r>
              <a:rPr sz="1000" i="1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2022–2025</a:t>
            </a:r>
            <a:endParaRPr sz="1000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00" dirty="0">
              <a:latin typeface="Calibri"/>
              <a:cs typeface="Calibri"/>
            </a:endParaRPr>
          </a:p>
          <a:p>
            <a:pPr marL="1597660">
              <a:lnSpc>
                <a:spcPct val="100000"/>
              </a:lnSpc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Jerarquía Académica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— 316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Aptos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P3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(nº</a:t>
            </a:r>
            <a:r>
              <a:rPr sz="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282)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9268" y="5251297"/>
            <a:ext cx="9458325" cy="1004121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40665" indent="-228600" algn="just">
              <a:lnSpc>
                <a:spcPct val="100000"/>
              </a:lnSpc>
              <a:spcBef>
                <a:spcPts val="5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Los Aptos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P3 se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concentran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en Asistente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Docente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e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Instructor Docente,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en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línea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con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mayor participación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en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formación de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los</a:t>
            </a:r>
            <a:r>
              <a:rPr sz="1300" b="1" spc="5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rangos de entrada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al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escalafón.</a:t>
            </a:r>
            <a:endParaRPr sz="1300" b="1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240665" indent="-228600" algn="just">
              <a:lnSpc>
                <a:spcPct val="100000"/>
              </a:lnSpc>
              <a:spcBef>
                <a:spcPts val="4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Cuerpo Docente: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255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doc</a:t>
            </a:r>
            <a:r>
              <a:rPr lang="es-CL" sz="1300" b="1" spc="-5" dirty="0">
                <a:solidFill>
                  <a:schemeClr val="bg1"/>
                </a:solidFill>
                <a:latin typeface="Calibri"/>
                <a:cs typeface="Calibri"/>
              </a:rPr>
              <a:t>entes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 (81%)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·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Cuerpo Regular: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27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doc</a:t>
            </a:r>
            <a:r>
              <a:rPr lang="es-CL" sz="1300" b="1" spc="-5" dirty="0">
                <a:solidFill>
                  <a:schemeClr val="bg1"/>
                </a:solidFill>
                <a:latin typeface="Calibri"/>
                <a:cs typeface="Calibri"/>
              </a:rPr>
              <a:t>entes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 (9%). </a:t>
            </a:r>
            <a:endParaRPr lang="es-CL" sz="1300" b="1" spc="-5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240665" indent="-228600" algn="just">
              <a:lnSpc>
                <a:spcPct val="100000"/>
              </a:lnSpc>
              <a:spcBef>
                <a:spcPts val="490"/>
              </a:spcBef>
              <a:buFont typeface="+mj-lt"/>
              <a:buAutoNum type="arabicPeriod"/>
              <a:tabLst>
                <a:tab pos="153035" algn="l"/>
              </a:tabLst>
            </a:pPr>
            <a:endParaRPr sz="13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51128" y="844981"/>
            <a:ext cx="10089769" cy="56755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64741" y="337516"/>
            <a:ext cx="8090852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L" dirty="0"/>
              <a:t>Bloque I — </a:t>
            </a:r>
            <a:r>
              <a:rPr spc="-10" dirty="0" err="1"/>
              <a:t>Participación</a:t>
            </a:r>
            <a:r>
              <a:rPr spc="-10"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spc="-10" dirty="0" err="1"/>
              <a:t>Jerarquía</a:t>
            </a:r>
            <a:r>
              <a:rPr spc="-10" dirty="0"/>
              <a:t> </a:t>
            </a:r>
            <a:r>
              <a:rPr spc="5" dirty="0"/>
              <a:t>— </a:t>
            </a:r>
            <a:r>
              <a:rPr dirty="0" err="1"/>
              <a:t>Composición</a:t>
            </a:r>
            <a:r>
              <a:rPr dirty="0"/>
              <a:t> y </a:t>
            </a:r>
            <a:r>
              <a:rPr spc="-35" dirty="0"/>
              <a:t>Tasa</a:t>
            </a:r>
            <a:r>
              <a:rPr spc="-55" dirty="0"/>
              <a:t> </a:t>
            </a:r>
            <a:r>
              <a:rPr spc="-10" dirty="0"/>
              <a:t>Real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98627" y="609600"/>
            <a:ext cx="8639760" cy="10368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s-CL" sz="1000" b="1" i="1" spc="-5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Universo: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316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Aptos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P3 · </a:t>
            </a:r>
            <a:r>
              <a:rPr lang="es-CL" sz="1000" i="1" spc="-5" dirty="0">
                <a:solidFill>
                  <a:schemeClr val="bg1"/>
                </a:solidFill>
                <a:cs typeface="Calibri"/>
              </a:rPr>
              <a:t>Todos Formados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· </a:t>
            </a:r>
            <a:r>
              <a:rPr lang="es-CL" sz="1000" i="1" spc="-5" dirty="0">
                <a:solidFill>
                  <a:schemeClr val="bg1"/>
                </a:solidFill>
                <a:cs typeface="Calibri"/>
              </a:rPr>
              <a:t>Período</a:t>
            </a:r>
            <a:r>
              <a:rPr lang="es-CL" sz="1000" i="1" spc="25" dirty="0">
                <a:solidFill>
                  <a:schemeClr val="bg1"/>
                </a:solidFill>
                <a:cs typeface="Calibri"/>
              </a:rPr>
              <a:t> </a:t>
            </a:r>
            <a:r>
              <a:rPr sz="1000" i="1" spc="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2022–202</a:t>
            </a:r>
            <a:r>
              <a:rPr lang="es-CL" sz="1000" i="1" dirty="0">
                <a:solidFill>
                  <a:schemeClr val="bg1"/>
                </a:solidFill>
                <a:latin typeface="Calibri"/>
                <a:cs typeface="Calibri"/>
              </a:rPr>
              <a:t>5</a:t>
            </a:r>
            <a:endParaRPr lang="es-CL" sz="1000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lang="es-CL" sz="1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lang="es-CL" sz="1000" dirty="0">
              <a:latin typeface="Calibri"/>
              <a:cs typeface="Calibri"/>
            </a:endParaRPr>
          </a:p>
          <a:p>
            <a:pPr marL="891540">
              <a:lnSpc>
                <a:spcPct val="100000"/>
              </a:lnSpc>
              <a:spcBef>
                <a:spcPts val="5"/>
              </a:spcBef>
            </a:pP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    </a:t>
            </a:r>
            <a:r>
              <a:rPr sz="1200" spc="-5" dirty="0" err="1">
                <a:solidFill>
                  <a:srgbClr val="FFFFFF"/>
                </a:solidFill>
                <a:latin typeface="Calibri"/>
                <a:cs typeface="Calibri"/>
              </a:rPr>
              <a:t>Izq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.: del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total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formado, ¿qué tipo eligió?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(100%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por jerarquía)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·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Der.: de todos los docentes de esa jerarquía en la institución, ¿qué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%</a:t>
            </a:r>
            <a:r>
              <a:rPr sz="1200" spc="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participó </a:t>
            </a:r>
            <a:r>
              <a:rPr sz="1200" spc="-5" dirty="0" err="1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la iniciativa de </a:t>
            </a:r>
            <a:r>
              <a:rPr sz="1200" spc="-5" dirty="0" err="1">
                <a:solidFill>
                  <a:srgbClr val="FFFFFF"/>
                </a:solidFill>
                <a:latin typeface="Calibri"/>
                <a:cs typeface="Calibri"/>
              </a:rPr>
              <a:t>formación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5428" y="5454802"/>
            <a:ext cx="10427970" cy="940001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40665" indent="-228600" algn="just">
              <a:lnSpc>
                <a:spcPct val="100000"/>
              </a:lnSpc>
              <a:spcBef>
                <a:spcPts val="5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composición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(izq.) muestra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que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Oferta formativa dominan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en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todas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las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jerarquías; Diplomados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y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Proyectos tienen mayor peso relativo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en Asistente y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Asociado</a:t>
            </a:r>
            <a:r>
              <a:rPr sz="1300" b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Docente.</a:t>
            </a:r>
            <a:endParaRPr sz="1300" b="1" dirty="0">
              <a:latin typeface="Calibri"/>
              <a:cs typeface="Calibri"/>
            </a:endParaRPr>
          </a:p>
          <a:p>
            <a:pPr marL="240665" indent="-228600" algn="just">
              <a:lnSpc>
                <a:spcPct val="100000"/>
              </a:lnSpc>
              <a:spcBef>
                <a:spcPts val="4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tasa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(der.) corrige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el sesgo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de volumen: Instructor Docente tiene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la mayor tasa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de participación (45%), seguido de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Asociado</a:t>
            </a:r>
            <a:r>
              <a:rPr sz="1300" b="1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Docente (41%)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y Asistente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Docente (37%) </a:t>
            </a:r>
            <a:r>
              <a:rPr lang="es-CL" sz="1300" b="1" spc="-5" dirty="0">
                <a:solidFill>
                  <a:srgbClr val="FFFFFF"/>
                </a:solidFill>
                <a:latin typeface="Calibri"/>
                <a:cs typeface="Calibri"/>
              </a:rPr>
              <a:t>-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no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solo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participan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más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por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ser</a:t>
            </a:r>
            <a:r>
              <a:rPr sz="13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más.</a:t>
            </a:r>
            <a:endParaRPr sz="13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199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43200" y="330799"/>
            <a:ext cx="7064691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L" dirty="0"/>
              <a:t>Bloque I — </a:t>
            </a:r>
            <a:r>
              <a:rPr spc="-5" dirty="0" err="1"/>
              <a:t>Intensidad</a:t>
            </a:r>
            <a:r>
              <a:rPr spc="-5" dirty="0"/>
              <a:t> </a:t>
            </a:r>
            <a:r>
              <a:rPr dirty="0"/>
              <a:t>de </a:t>
            </a:r>
            <a:r>
              <a:rPr spc="-5" dirty="0"/>
              <a:t>Participación </a:t>
            </a:r>
            <a:r>
              <a:rPr dirty="0"/>
              <a:t>en</a:t>
            </a:r>
            <a:r>
              <a:rPr spc="-145" dirty="0"/>
              <a:t> </a:t>
            </a:r>
            <a:r>
              <a:rPr spc="-5" dirty="0"/>
              <a:t>Formación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5428" y="872109"/>
            <a:ext cx="8811972" cy="5520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Universo: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316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Aptos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P3 · </a:t>
            </a:r>
            <a:r>
              <a:rPr lang="es-CL" sz="1000" i="1" spc="-5" dirty="0">
                <a:solidFill>
                  <a:schemeClr val="bg1"/>
                </a:solidFill>
                <a:latin typeface="Calibri"/>
                <a:cs typeface="Calibri"/>
              </a:rPr>
              <a:t>T</a:t>
            </a:r>
            <a:r>
              <a:rPr sz="1000" i="1" spc="-5" dirty="0" err="1">
                <a:solidFill>
                  <a:schemeClr val="bg1"/>
                </a:solidFill>
                <a:latin typeface="Calibri"/>
                <a:cs typeface="Calibri"/>
              </a:rPr>
              <a:t>odos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s-CL" sz="1000" i="1" spc="-5" dirty="0">
                <a:solidFill>
                  <a:schemeClr val="bg1"/>
                </a:solidFill>
                <a:latin typeface="Calibri"/>
                <a:cs typeface="Calibri"/>
              </a:rPr>
              <a:t>F</a:t>
            </a:r>
            <a:r>
              <a:rPr sz="1000" i="1" spc="-5" dirty="0" err="1">
                <a:solidFill>
                  <a:schemeClr val="bg1"/>
                </a:solidFill>
                <a:latin typeface="Calibri"/>
                <a:cs typeface="Calibri"/>
              </a:rPr>
              <a:t>ormados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·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Per</a:t>
            </a:r>
            <a:r>
              <a:rPr lang="es-CL" sz="1000" i="1" spc="-5" dirty="0">
                <a:solidFill>
                  <a:schemeClr val="bg1"/>
                </a:solidFill>
                <a:latin typeface="Calibri"/>
                <a:cs typeface="Calibri"/>
              </a:rPr>
              <a:t>í</a:t>
            </a:r>
            <a:r>
              <a:rPr sz="1000" i="1" spc="-5" dirty="0" err="1">
                <a:solidFill>
                  <a:schemeClr val="bg1"/>
                </a:solidFill>
                <a:latin typeface="Calibri"/>
                <a:cs typeface="Calibri"/>
              </a:rPr>
              <a:t>odo</a:t>
            </a:r>
            <a:r>
              <a:rPr sz="1000" i="1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2022–2025</a:t>
            </a:r>
            <a:endParaRPr sz="1000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00" dirty="0">
              <a:latin typeface="Calibri"/>
              <a:cs typeface="Calibri"/>
            </a:endParaRPr>
          </a:p>
          <a:p>
            <a:pPr marL="1597660">
              <a:lnSpc>
                <a:spcPct val="100000"/>
              </a:lnSpc>
            </a:pP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                                            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N° instancias por docente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—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Formados Aptos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P3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º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316)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3691" y="5294814"/>
            <a:ext cx="9773920" cy="940642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54965" indent="-342900" algn="just">
              <a:lnSpc>
                <a:spcPct val="100000"/>
              </a:lnSpc>
              <a:spcBef>
                <a:spcPts val="595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La mayoría de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los 316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formados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Aptos P3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participó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en 1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instancia de formación. Solo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113 docentes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participaron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en 3 o más instancias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(heavy</a:t>
            </a:r>
            <a:r>
              <a:rPr sz="1300" b="1" spc="6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users).</a:t>
            </a:r>
            <a:endParaRPr sz="1300" b="1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354965" indent="-342900" algn="just">
              <a:lnSpc>
                <a:spcPct val="100000"/>
              </a:lnSpc>
              <a:spcBef>
                <a:spcPts val="495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Los heavy users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son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un grupo minoritario pero clave para evaluar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efectos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acumulativos: mayor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exposición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acumulada podría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correlacionar con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mayor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mejora</a:t>
            </a:r>
            <a:r>
              <a:rPr sz="1300" b="1" spc="18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SAT.</a:t>
            </a:r>
            <a:endParaRPr sz="13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4555" y="487580"/>
            <a:ext cx="53428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/>
              <a:t>Bloque II — </a:t>
            </a:r>
            <a:r>
              <a:rPr lang="es-CL" sz="1800" dirty="0"/>
              <a:t>Satisfacción </a:t>
            </a:r>
            <a:r>
              <a:rPr sz="1800" dirty="0"/>
              <a:t>y</a:t>
            </a:r>
            <a:r>
              <a:rPr sz="1800" spc="-20" dirty="0"/>
              <a:t> </a:t>
            </a:r>
            <a:r>
              <a:rPr sz="1800" spc="-10" dirty="0" err="1"/>
              <a:t>Recomendación</a:t>
            </a:r>
            <a:endParaRPr sz="1800" dirty="0"/>
          </a:p>
        </p:txBody>
      </p:sp>
      <p:grpSp>
        <p:nvGrpSpPr>
          <p:cNvPr id="3" name="object 3"/>
          <p:cNvGrpSpPr/>
          <p:nvPr/>
        </p:nvGrpSpPr>
        <p:grpSpPr>
          <a:xfrm>
            <a:off x="646379" y="2086737"/>
            <a:ext cx="10801909" cy="3791712"/>
            <a:chOff x="603504" y="1999488"/>
            <a:chExt cx="10690860" cy="2901950"/>
          </a:xfrm>
        </p:grpSpPr>
        <p:sp>
          <p:nvSpPr>
            <p:cNvPr id="4" name="object 4"/>
            <p:cNvSpPr/>
            <p:nvPr/>
          </p:nvSpPr>
          <p:spPr>
            <a:xfrm>
              <a:off x="603504" y="1999488"/>
              <a:ext cx="10690860" cy="29016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51586" y="2025269"/>
              <a:ext cx="10599420" cy="2809240"/>
            </a:xfrm>
            <a:custGeom>
              <a:avLst/>
              <a:gdLst/>
              <a:ahLst/>
              <a:cxnLst/>
              <a:rect l="l" t="t" r="r" b="b"/>
              <a:pathLst>
                <a:path w="10599420" h="2809240">
                  <a:moveTo>
                    <a:pt x="10599166" y="0"/>
                  </a:moveTo>
                  <a:lnTo>
                    <a:pt x="0" y="0"/>
                  </a:lnTo>
                  <a:lnTo>
                    <a:pt x="0" y="2809112"/>
                  </a:lnTo>
                  <a:lnTo>
                    <a:pt x="10599166" y="2809112"/>
                  </a:lnTo>
                  <a:lnTo>
                    <a:pt x="10599166" y="0"/>
                  </a:lnTo>
                  <a:close/>
                </a:path>
              </a:pathLst>
            </a:custGeom>
            <a:solidFill>
              <a:srgbClr val="001C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1586" y="2025269"/>
              <a:ext cx="10599420" cy="2809240"/>
            </a:xfrm>
            <a:custGeom>
              <a:avLst/>
              <a:gdLst/>
              <a:ahLst/>
              <a:cxnLst/>
              <a:rect l="l" t="t" r="r" b="b"/>
              <a:pathLst>
                <a:path w="10599420" h="2809240">
                  <a:moveTo>
                    <a:pt x="0" y="2809112"/>
                  </a:moveTo>
                  <a:lnTo>
                    <a:pt x="10599166" y="2809112"/>
                  </a:lnTo>
                  <a:lnTo>
                    <a:pt x="10599166" y="0"/>
                  </a:lnTo>
                  <a:lnTo>
                    <a:pt x="0" y="0"/>
                  </a:lnTo>
                  <a:lnTo>
                    <a:pt x="0" y="2809112"/>
                  </a:lnTo>
                  <a:close/>
                </a:path>
              </a:pathLst>
            </a:custGeom>
            <a:ln w="11999">
              <a:solidFill>
                <a:srgbClr val="1E5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176526" y="2046477"/>
            <a:ext cx="6711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ni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er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so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43712" y="2394215"/>
            <a:ext cx="10410825" cy="99060"/>
            <a:chOff x="743712" y="2394215"/>
            <a:chExt cx="10410825" cy="99060"/>
          </a:xfrm>
        </p:grpSpPr>
        <p:sp>
          <p:nvSpPr>
            <p:cNvPr id="9" name="object 9"/>
            <p:cNvSpPr/>
            <p:nvPr/>
          </p:nvSpPr>
          <p:spPr>
            <a:xfrm>
              <a:off x="743712" y="2394215"/>
              <a:ext cx="3424428" cy="9892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6587" y="2413542"/>
              <a:ext cx="3343275" cy="18415"/>
            </a:xfrm>
            <a:custGeom>
              <a:avLst/>
              <a:gdLst/>
              <a:ahLst/>
              <a:cxnLst/>
              <a:rect l="l" t="t" r="r" b="b"/>
              <a:pathLst>
                <a:path w="3343275" h="18414">
                  <a:moveTo>
                    <a:pt x="3343021" y="0"/>
                  </a:moveTo>
                  <a:lnTo>
                    <a:pt x="0" y="0"/>
                  </a:lnTo>
                  <a:lnTo>
                    <a:pt x="0" y="17999"/>
                  </a:lnTo>
                  <a:lnTo>
                    <a:pt x="3343021" y="17999"/>
                  </a:lnTo>
                  <a:lnTo>
                    <a:pt x="3343021" y="0"/>
                  </a:lnTo>
                  <a:close/>
                </a:path>
              </a:pathLst>
            </a:custGeom>
            <a:solidFill>
              <a:srgbClr val="1E5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36720" y="2394215"/>
              <a:ext cx="3424428" cy="9892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79646" y="2413542"/>
              <a:ext cx="3343275" cy="18415"/>
            </a:xfrm>
            <a:custGeom>
              <a:avLst/>
              <a:gdLst/>
              <a:ahLst/>
              <a:cxnLst/>
              <a:rect l="l" t="t" r="r" b="b"/>
              <a:pathLst>
                <a:path w="3343275" h="18414">
                  <a:moveTo>
                    <a:pt x="3343021" y="0"/>
                  </a:moveTo>
                  <a:lnTo>
                    <a:pt x="0" y="0"/>
                  </a:lnTo>
                  <a:lnTo>
                    <a:pt x="0" y="17999"/>
                  </a:lnTo>
                  <a:lnTo>
                    <a:pt x="3343021" y="17999"/>
                  </a:lnTo>
                  <a:lnTo>
                    <a:pt x="3343021" y="0"/>
                  </a:lnTo>
                  <a:close/>
                </a:path>
              </a:pathLst>
            </a:custGeom>
            <a:solidFill>
              <a:srgbClr val="1E5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29728" y="2394215"/>
              <a:ext cx="3424428" cy="9892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772654" y="2413542"/>
              <a:ext cx="3343275" cy="18415"/>
            </a:xfrm>
            <a:custGeom>
              <a:avLst/>
              <a:gdLst/>
              <a:ahLst/>
              <a:cxnLst/>
              <a:rect l="l" t="t" r="r" b="b"/>
              <a:pathLst>
                <a:path w="3343275" h="18414">
                  <a:moveTo>
                    <a:pt x="3343021" y="0"/>
                  </a:moveTo>
                  <a:lnTo>
                    <a:pt x="0" y="0"/>
                  </a:lnTo>
                  <a:lnTo>
                    <a:pt x="0" y="17999"/>
                  </a:lnTo>
                  <a:lnTo>
                    <a:pt x="3343021" y="17999"/>
                  </a:lnTo>
                  <a:lnTo>
                    <a:pt x="3343021" y="0"/>
                  </a:lnTo>
                  <a:close/>
                </a:path>
              </a:pathLst>
            </a:custGeom>
            <a:solidFill>
              <a:srgbClr val="1E5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727191" y="2046477"/>
            <a:ext cx="46100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Índice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921495" y="2086737"/>
            <a:ext cx="9239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s-CL" sz="1400" dirty="0">
                <a:solidFill>
                  <a:schemeClr val="bg1"/>
                </a:solidFill>
                <a:latin typeface="Calibri"/>
                <a:cs typeface="Calibri"/>
              </a:rPr>
              <a:t>Hallazgos </a:t>
            </a:r>
            <a:endParaRPr sz="14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83167" y="2477004"/>
            <a:ext cx="3406327" cy="18517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 indent="-228600" algn="just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r>
              <a:rPr sz="1300" dirty="0">
                <a:solidFill>
                  <a:schemeClr val="bg1"/>
                </a:solidFill>
                <a:latin typeface="Calibri"/>
                <a:cs typeface="Calibri"/>
              </a:rPr>
              <a:t>(</a:t>
            </a:r>
            <a:r>
              <a:rPr lang="es-ES" sz="1300" spc="-5" dirty="0">
                <a:solidFill>
                  <a:schemeClr val="bg1"/>
                </a:solidFill>
                <a:cs typeface="Calibri"/>
              </a:rPr>
              <a:t>D17) </a:t>
            </a:r>
            <a:r>
              <a:rPr lang="es-ES" sz="1300" dirty="0">
                <a:solidFill>
                  <a:schemeClr val="bg1"/>
                </a:solidFill>
                <a:cs typeface="Calibri"/>
              </a:rPr>
              <a:t>- </a:t>
            </a:r>
            <a:r>
              <a:rPr lang="es-ES" sz="1300" spc="-5" dirty="0">
                <a:solidFill>
                  <a:schemeClr val="bg1"/>
                </a:solidFill>
                <a:cs typeface="Calibri"/>
              </a:rPr>
              <a:t>Derivación </a:t>
            </a:r>
            <a:r>
              <a:rPr lang="es-ES" sz="1300" dirty="0">
                <a:solidFill>
                  <a:schemeClr val="bg1"/>
                </a:solidFill>
                <a:cs typeface="Calibri"/>
              </a:rPr>
              <a:t>de Grupos</a:t>
            </a:r>
            <a:r>
              <a:rPr lang="es-ES" sz="1300" dirty="0">
                <a:solidFill>
                  <a:schemeClr val="bg1"/>
                </a:solidFill>
              </a:rPr>
              <a:t>: Evaluación de Satisfacción y Recomendación estudiantes </a:t>
            </a:r>
          </a:p>
          <a:p>
            <a:pPr marL="228600" indent="-228600" algn="just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lang="es-CL" sz="1300" dirty="0">
                <a:solidFill>
                  <a:srgbClr val="FFFFFF"/>
                </a:solidFill>
                <a:latin typeface="Calibri"/>
                <a:cs typeface="Calibri"/>
              </a:rPr>
              <a:t>18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) </a:t>
            </a:r>
            <a:r>
              <a:rPr lang="es-CL" sz="13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s-CL" sz="1300" dirty="0">
                <a:solidFill>
                  <a:srgbClr val="FFFFFF"/>
                </a:solidFill>
                <a:latin typeface="Calibri"/>
                <a:cs typeface="Calibri"/>
              </a:rPr>
              <a:t>Perfil por </a:t>
            </a:r>
            <a:r>
              <a:rPr lang="es-CL" sz="1300" dirty="0">
                <a:solidFill>
                  <a:schemeClr val="bg1"/>
                </a:solidFill>
                <a:latin typeface="Calibri"/>
                <a:cs typeface="Calibri"/>
              </a:rPr>
              <a:t>Facultad</a:t>
            </a:r>
            <a:r>
              <a:rPr lang="es-CL" sz="1300" spc="5" dirty="0">
                <a:solidFill>
                  <a:schemeClr val="bg1"/>
                </a:solidFill>
              </a:rPr>
              <a:t> — </a:t>
            </a:r>
            <a:r>
              <a:rPr lang="es-CL" sz="1300" spc="-5" dirty="0">
                <a:solidFill>
                  <a:schemeClr val="bg1"/>
                </a:solidFill>
              </a:rPr>
              <a:t>Aptos </a:t>
            </a:r>
            <a:r>
              <a:rPr lang="es-CL" sz="1300" dirty="0">
                <a:solidFill>
                  <a:schemeClr val="bg1"/>
                </a:solidFill>
              </a:rPr>
              <a:t>P3 vs </a:t>
            </a:r>
            <a:r>
              <a:rPr lang="es-CL" sz="1300" spc="-5" dirty="0">
                <a:solidFill>
                  <a:schemeClr val="bg1"/>
                </a:solidFill>
              </a:rPr>
              <a:t>Grupo</a:t>
            </a:r>
            <a:r>
              <a:rPr lang="es-CL" sz="1300" spc="-100" dirty="0">
                <a:solidFill>
                  <a:schemeClr val="bg1"/>
                </a:solidFill>
              </a:rPr>
              <a:t> </a:t>
            </a:r>
            <a:r>
              <a:rPr lang="es-CL" sz="1300" spc="-10" dirty="0">
                <a:solidFill>
                  <a:schemeClr val="bg1"/>
                </a:solidFill>
              </a:rPr>
              <a:t>Control </a:t>
            </a:r>
          </a:p>
          <a:p>
            <a:pPr marL="228600" indent="-228600" algn="just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es-CL" sz="1300" dirty="0">
                <a:solidFill>
                  <a:srgbClr val="FFFFFF"/>
                </a:solidFill>
                <a:cs typeface="Calibri"/>
              </a:rPr>
              <a:t>(D19</a:t>
            </a:r>
            <a:r>
              <a:rPr lang="es-CL" sz="1300" dirty="0">
                <a:solidFill>
                  <a:schemeClr val="bg1"/>
                </a:solidFill>
                <a:cs typeface="Calibri"/>
              </a:rPr>
              <a:t>) - </a:t>
            </a:r>
            <a:r>
              <a:rPr lang="pt-BR" sz="1300" spc="-60" dirty="0">
                <a:solidFill>
                  <a:schemeClr val="bg1"/>
                </a:solidFill>
              </a:rPr>
              <a:t>SAT </a:t>
            </a:r>
            <a:r>
              <a:rPr lang="pt-BR" sz="1300" spc="-5" dirty="0">
                <a:solidFill>
                  <a:schemeClr val="bg1"/>
                </a:solidFill>
              </a:rPr>
              <a:t>z-score: Formados </a:t>
            </a:r>
            <a:r>
              <a:rPr lang="pt-BR" sz="1300" dirty="0" err="1">
                <a:solidFill>
                  <a:schemeClr val="bg1"/>
                </a:solidFill>
              </a:rPr>
              <a:t>vs</a:t>
            </a:r>
            <a:r>
              <a:rPr lang="pt-BR" sz="1300" dirty="0">
                <a:solidFill>
                  <a:schemeClr val="bg1"/>
                </a:solidFill>
              </a:rPr>
              <a:t> </a:t>
            </a:r>
            <a:r>
              <a:rPr lang="pt-BR" sz="1300" spc="-10" dirty="0" err="1">
                <a:solidFill>
                  <a:schemeClr val="bg1"/>
                </a:solidFill>
              </a:rPr>
              <a:t>Control</a:t>
            </a:r>
            <a:r>
              <a:rPr lang="pt-BR" sz="1300" spc="-10" dirty="0">
                <a:solidFill>
                  <a:schemeClr val="bg1"/>
                </a:solidFill>
              </a:rPr>
              <a:t> </a:t>
            </a:r>
            <a:r>
              <a:rPr lang="pt-BR" sz="1300" spc="5" dirty="0">
                <a:solidFill>
                  <a:schemeClr val="bg1"/>
                </a:solidFill>
              </a:rPr>
              <a:t>— </a:t>
            </a:r>
            <a:r>
              <a:rPr lang="pt-BR" sz="1300" dirty="0">
                <a:solidFill>
                  <a:schemeClr val="bg1"/>
                </a:solidFill>
              </a:rPr>
              <a:t>6</a:t>
            </a:r>
            <a:r>
              <a:rPr lang="pt-BR" sz="1300" spc="-40" dirty="0">
                <a:solidFill>
                  <a:schemeClr val="bg1"/>
                </a:solidFill>
              </a:rPr>
              <a:t> </a:t>
            </a:r>
            <a:r>
              <a:rPr lang="pt-BR" sz="1300" spc="-5" dirty="0">
                <a:solidFill>
                  <a:schemeClr val="bg1"/>
                </a:solidFill>
              </a:rPr>
              <a:t>Períodos </a:t>
            </a:r>
          </a:p>
          <a:p>
            <a:pPr marL="228600" indent="-228600" algn="just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es-CL" sz="1300" dirty="0">
                <a:solidFill>
                  <a:srgbClr val="FFFFFF"/>
                </a:solidFill>
                <a:cs typeface="Calibri"/>
              </a:rPr>
              <a:t>(D20</a:t>
            </a:r>
            <a:r>
              <a:rPr lang="es-CL" sz="1300" dirty="0">
                <a:solidFill>
                  <a:schemeClr val="bg1"/>
                </a:solidFill>
                <a:cs typeface="Calibri"/>
              </a:rPr>
              <a:t>) - </a:t>
            </a:r>
            <a:r>
              <a:rPr lang="es-ES" sz="1300" dirty="0">
                <a:solidFill>
                  <a:schemeClr val="bg1"/>
                </a:solidFill>
              </a:rPr>
              <a:t>% de </a:t>
            </a:r>
            <a:r>
              <a:rPr lang="es-ES" sz="1300" spc="-5" dirty="0">
                <a:solidFill>
                  <a:schemeClr val="bg1"/>
                </a:solidFill>
              </a:rPr>
              <a:t>Recomendación Estudiantil </a:t>
            </a:r>
          </a:p>
          <a:p>
            <a:pPr marL="228600" indent="-228600" algn="just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es-ES" sz="1300" spc="-5" dirty="0">
                <a:solidFill>
                  <a:schemeClr val="bg1"/>
                </a:solidFill>
              </a:rPr>
              <a:t>(</a:t>
            </a:r>
            <a:r>
              <a:rPr lang="es-CL" sz="1300" spc="-5" dirty="0">
                <a:solidFill>
                  <a:schemeClr val="bg1"/>
                </a:solidFill>
                <a:cs typeface="Calibri"/>
              </a:rPr>
              <a:t>D21) </a:t>
            </a:r>
            <a:r>
              <a:rPr lang="es-CL" sz="1300" dirty="0">
                <a:solidFill>
                  <a:schemeClr val="bg1"/>
                </a:solidFill>
                <a:cs typeface="Calibri"/>
              </a:rPr>
              <a:t>- </a:t>
            </a:r>
            <a:r>
              <a:rPr lang="es-ES" sz="1300" dirty="0">
                <a:solidFill>
                  <a:schemeClr val="bg1"/>
                </a:solidFill>
              </a:rPr>
              <a:t>Bloque II — </a:t>
            </a:r>
            <a:r>
              <a:rPr lang="es-ES" sz="1300" spc="-60" dirty="0">
                <a:solidFill>
                  <a:schemeClr val="bg1"/>
                </a:solidFill>
              </a:rPr>
              <a:t>SAT </a:t>
            </a:r>
            <a:r>
              <a:rPr lang="es-ES" sz="1300" dirty="0">
                <a:solidFill>
                  <a:schemeClr val="bg1"/>
                </a:solidFill>
              </a:rPr>
              <a:t>— </a:t>
            </a:r>
            <a:r>
              <a:rPr lang="es-ES" sz="1300" spc="-5" dirty="0">
                <a:solidFill>
                  <a:schemeClr val="bg1"/>
                </a:solidFill>
              </a:rPr>
              <a:t>Grupo Selecto: </a:t>
            </a:r>
            <a:r>
              <a:rPr lang="es-ES" sz="1300" dirty="0">
                <a:solidFill>
                  <a:srgbClr val="FFFFFF"/>
                </a:solidFill>
                <a:cs typeface="Calibri"/>
              </a:rPr>
              <a:t>Mejores vs Peores por Quintil SAT </a:t>
            </a:r>
            <a:r>
              <a:rPr lang="es-ES" sz="1300" dirty="0" err="1">
                <a:solidFill>
                  <a:srgbClr val="FFFFFF"/>
                </a:solidFill>
                <a:cs typeface="Calibri"/>
              </a:rPr>
              <a:t>Baseline</a:t>
            </a:r>
            <a:endParaRPr sz="1300" dirty="0">
              <a:solidFill>
                <a:srgbClr val="FFFFFF"/>
              </a:solidFill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85088" y="2518917"/>
            <a:ext cx="2816962" cy="14132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just">
              <a:lnSpc>
                <a:spcPct val="100000"/>
              </a:lnSpc>
              <a:spcBef>
                <a:spcPts val="100"/>
              </a:spcBef>
            </a:pPr>
            <a:r>
              <a:rPr sz="1300" spc="-15" dirty="0">
                <a:solidFill>
                  <a:srgbClr val="FFFFFF"/>
                </a:solidFill>
                <a:latin typeface="Calibri"/>
                <a:cs typeface="Calibri"/>
              </a:rPr>
              <a:t>Tratamiento </a:t>
            </a: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(perfil):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N°=316 </a:t>
            </a: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Aptos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P3.  </a:t>
            </a:r>
            <a:r>
              <a:rPr sz="1300" spc="-15" dirty="0">
                <a:solidFill>
                  <a:srgbClr val="FFFFFF"/>
                </a:solidFill>
                <a:latin typeface="Calibri"/>
                <a:cs typeface="Calibri"/>
              </a:rPr>
              <a:t>Tratamiento </a:t>
            </a: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(amplio):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N°=619 </a:t>
            </a: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formados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con  </a:t>
            </a: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notas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disponibles.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Control: </a:t>
            </a: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N°=300 docentes  sin formación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P3 </a:t>
            </a:r>
            <a:r>
              <a:rPr sz="1300" spc="-10" dirty="0">
                <a:solidFill>
                  <a:srgbClr val="FFFFFF"/>
                </a:solidFill>
                <a:latin typeface="Calibri"/>
                <a:cs typeface="Calibri"/>
              </a:rPr>
              <a:t>con </a:t>
            </a: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notas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en 2023–2025.  </a:t>
            </a: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Los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316 </a:t>
            </a:r>
            <a:r>
              <a:rPr lang="es-CL" sz="1300" dirty="0">
                <a:solidFill>
                  <a:srgbClr val="FFFFFF"/>
                </a:solidFill>
                <a:latin typeface="Calibri"/>
                <a:cs typeface="Calibri"/>
              </a:rPr>
              <a:t>docentes corresponden a un </a:t>
            </a:r>
            <a:r>
              <a:rPr sz="1300" spc="-5" dirty="0" err="1">
                <a:solidFill>
                  <a:srgbClr val="FFFFFF"/>
                </a:solidFill>
                <a:latin typeface="Calibri"/>
                <a:cs typeface="Calibri"/>
              </a:rPr>
              <a:t>subconjunto</a:t>
            </a: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de los</a:t>
            </a:r>
            <a:r>
              <a:rPr sz="13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619.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001000" y="2417006"/>
            <a:ext cx="2957449" cy="36497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965" indent="-228600" algn="just">
              <a:spcBef>
                <a:spcPts val="100"/>
              </a:spcBef>
              <a:buFont typeface="+mj-lt"/>
              <a:buAutoNum type="arabicPeriod"/>
              <a:tabLst>
                <a:tab pos="172720" algn="l"/>
              </a:tabLst>
            </a:pPr>
            <a:r>
              <a:rPr lang="es-ES" sz="1300" dirty="0">
                <a:solidFill>
                  <a:schemeClr val="bg1"/>
                </a:solidFill>
              </a:rPr>
              <a:t>Los docentes que recibieron formación mantienen consistentemente un z-score SAT positivo (promedio +0.061) a lo largo de los seis períodos analizados (2023-01 a 2025-02).</a:t>
            </a:r>
          </a:p>
          <a:p>
            <a:pPr marL="227965" indent="-228600" algn="just">
              <a:spcBef>
                <a:spcPts val="100"/>
              </a:spcBef>
              <a:buFont typeface="+mj-lt"/>
              <a:buAutoNum type="arabicPeriod"/>
              <a:tabLst>
                <a:tab pos="172720" algn="l"/>
              </a:tabLst>
            </a:pPr>
            <a:r>
              <a:rPr lang="es-ES" sz="1300" dirty="0">
                <a:solidFill>
                  <a:schemeClr val="bg1"/>
                </a:solidFill>
              </a:rPr>
              <a:t>El % de Recomendación Estudiantil) confirma y extiende el hallazgo SAT: los formados obtienen 89,6% de recomendación en 2025 (control: 86,9%), con una brecha creciente de +0,5 </a:t>
            </a:r>
            <a:r>
              <a:rPr lang="es-ES" sz="1300" dirty="0" err="1">
                <a:solidFill>
                  <a:schemeClr val="bg1"/>
                </a:solidFill>
              </a:rPr>
              <a:t>pp</a:t>
            </a:r>
            <a:r>
              <a:rPr lang="es-ES" sz="1300" dirty="0">
                <a:solidFill>
                  <a:schemeClr val="bg1"/>
                </a:solidFill>
              </a:rPr>
              <a:t> (2023) a +2,8 </a:t>
            </a:r>
            <a:r>
              <a:rPr lang="es-ES" sz="1300" dirty="0" err="1">
                <a:solidFill>
                  <a:schemeClr val="bg1"/>
                </a:solidFill>
              </a:rPr>
              <a:t>pp</a:t>
            </a:r>
            <a:r>
              <a:rPr lang="es-ES" sz="1300" dirty="0">
                <a:solidFill>
                  <a:schemeClr val="bg1"/>
                </a:solidFill>
              </a:rPr>
              <a:t> (2025).</a:t>
            </a:r>
          </a:p>
          <a:p>
            <a:pPr marL="227965" indent="-228600" algn="just">
              <a:spcBef>
                <a:spcPts val="100"/>
              </a:spcBef>
              <a:buFont typeface="+mj-lt"/>
              <a:buAutoNum type="arabicPeriod"/>
              <a:tabLst>
                <a:tab pos="172720" algn="l"/>
              </a:tabLst>
            </a:pPr>
            <a:r>
              <a:rPr lang="es-ES" sz="1300" dirty="0">
                <a:solidFill>
                  <a:schemeClr val="bg1"/>
                </a:solidFill>
              </a:rPr>
              <a:t>La formación docente no solo mejora la satisfacción estudiantil de los alumnos hacia el docente, sino que se traduce también en mejores resultados académicos concretos para los alumnos.</a:t>
            </a:r>
            <a:endParaRPr lang="es-CL" sz="1300" dirty="0">
              <a:solidFill>
                <a:schemeClr val="bg1"/>
              </a:solidFill>
            </a:endParaRPr>
          </a:p>
          <a:p>
            <a:pPr marL="227965" indent="-228600" algn="just">
              <a:spcBef>
                <a:spcPts val="100"/>
              </a:spcBef>
              <a:buFont typeface="+mj-lt"/>
              <a:buAutoNum type="arabicPeriod"/>
              <a:tabLst>
                <a:tab pos="172720" algn="l"/>
              </a:tabLst>
            </a:pPr>
            <a:endParaRPr lang="es-CL" sz="1300" dirty="0">
              <a:solidFill>
                <a:schemeClr val="bg1"/>
              </a:solidFill>
            </a:endParaRPr>
          </a:p>
          <a:p>
            <a:pPr marL="227965" indent="-228600" algn="just">
              <a:spcBef>
                <a:spcPts val="100"/>
              </a:spcBef>
              <a:buFont typeface="+mj-lt"/>
              <a:buAutoNum type="arabicPeriod"/>
              <a:tabLst>
                <a:tab pos="172720" algn="l"/>
              </a:tabLst>
            </a:pPr>
            <a:endParaRPr lang="es-CL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4137" y="1447800"/>
            <a:ext cx="10599166" cy="5776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5240" y="200990"/>
            <a:ext cx="909696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dirty="0"/>
              <a:t>Bloque II </a:t>
            </a:r>
            <a:r>
              <a:rPr spc="5" dirty="0"/>
              <a:t>— </a:t>
            </a:r>
            <a:r>
              <a:rPr lang="es-CL" spc="-10" dirty="0"/>
              <a:t>Derivación </a:t>
            </a:r>
            <a:r>
              <a:rPr dirty="0"/>
              <a:t>de Grupos: </a:t>
            </a:r>
            <a:r>
              <a:rPr lang="es-CL" dirty="0"/>
              <a:t>Evaluación de Satisfacción y Recomendación estudiantes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885240" y="973528"/>
            <a:ext cx="7725360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i="1" dirty="0" err="1">
                <a:solidFill>
                  <a:schemeClr val="bg1"/>
                </a:solidFill>
                <a:latin typeface="Calibri"/>
                <a:cs typeface="Calibri"/>
              </a:rPr>
              <a:t>Tratamiento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 B</a:t>
            </a:r>
            <a:r>
              <a:rPr lang="es-CL" sz="1000" i="1" dirty="0">
                <a:solidFill>
                  <a:schemeClr val="bg1"/>
                </a:solidFill>
                <a:latin typeface="Calibri"/>
                <a:cs typeface="Calibri"/>
              </a:rPr>
              <a:t>2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: 316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Aptos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P3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(SAT válido baseline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y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resultado)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·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Control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B</a:t>
            </a:r>
            <a:r>
              <a:rPr lang="es-CL" sz="1000" i="1" dirty="0">
                <a:solidFill>
                  <a:schemeClr val="bg1"/>
                </a:solidFill>
                <a:latin typeface="Calibri"/>
                <a:cs typeface="Calibri"/>
              </a:rPr>
              <a:t>2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: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docentes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sin</a:t>
            </a:r>
            <a:r>
              <a:rPr sz="1000" i="1" spc="14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formación con datos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de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notas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y SAT · Universo base 1.144</a:t>
            </a:r>
            <a:endParaRPr sz="10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7245" y="1546240"/>
            <a:ext cx="89916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Distribución Jornada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vs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Honorario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·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Tratamiento: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215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Jornada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(68%) + 101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Honorario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(32%) ·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Control: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120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Jornada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(40%) + 180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Honorario</a:t>
            </a:r>
            <a:r>
              <a:rPr sz="1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(60%)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3445" y="5884472"/>
            <a:ext cx="8839200" cy="539891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40665" indent="-228600" algn="just">
              <a:lnSpc>
                <a:spcPct val="100000"/>
              </a:lnSpc>
              <a:spcBef>
                <a:spcPts val="5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El Tratamiento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B3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(316 Aptos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P3) se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compone de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215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docentes Jornada (68%)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y 101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Honorarios</a:t>
            </a:r>
            <a:r>
              <a:rPr sz="1300" b="1" spc="1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(32%).</a:t>
            </a:r>
            <a:endParaRPr sz="1300" b="1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240665" indent="-228600" algn="just">
              <a:lnSpc>
                <a:spcPct val="100000"/>
              </a:lnSpc>
              <a:spcBef>
                <a:spcPts val="4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El Control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B3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(300 docentes) incluye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120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Jornada (40%)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y 180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Honorarios</a:t>
            </a:r>
            <a:r>
              <a:rPr sz="1300" b="1" spc="5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(60%).</a:t>
            </a:r>
            <a:endParaRPr sz="13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0429" y="462332"/>
            <a:ext cx="11274933" cy="61570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7724" y="200990"/>
            <a:ext cx="7664907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s-CL" dirty="0"/>
              <a:t>Bloque II </a:t>
            </a:r>
            <a:r>
              <a:rPr lang="es-CL" spc="5" dirty="0"/>
              <a:t>— </a:t>
            </a:r>
            <a:r>
              <a:rPr spc="-10" dirty="0" err="1"/>
              <a:t>Perfil</a:t>
            </a:r>
            <a:r>
              <a:rPr spc="-10" dirty="0"/>
              <a:t> </a:t>
            </a:r>
            <a:r>
              <a:rPr dirty="0"/>
              <a:t>por </a:t>
            </a:r>
            <a:r>
              <a:rPr spc="-15" dirty="0"/>
              <a:t>Facultad </a:t>
            </a:r>
            <a:r>
              <a:rPr spc="5" dirty="0"/>
              <a:t>— </a:t>
            </a:r>
            <a:r>
              <a:rPr spc="-5" dirty="0"/>
              <a:t>Aptos </a:t>
            </a:r>
            <a:r>
              <a:rPr dirty="0"/>
              <a:t>P3 vs </a:t>
            </a:r>
            <a:r>
              <a:rPr spc="-5" dirty="0"/>
              <a:t>Grupo</a:t>
            </a:r>
            <a:r>
              <a:rPr spc="-100" dirty="0"/>
              <a:t> </a:t>
            </a:r>
            <a:r>
              <a:rPr spc="-10" dirty="0"/>
              <a:t>Control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-1066800" y="872108"/>
            <a:ext cx="10591800" cy="5520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L" sz="1000" i="1" spc="-5" dirty="0">
                <a:solidFill>
                  <a:schemeClr val="bg1"/>
                </a:solidFill>
                <a:latin typeface="Calibri"/>
                <a:cs typeface="Calibri"/>
              </a:rPr>
              <a:t>                                                                    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Aptos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P3: 316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docentes (</a:t>
            </a:r>
            <a:r>
              <a:rPr lang="es-CL" sz="1000" i="1" spc="-5" dirty="0">
                <a:solidFill>
                  <a:schemeClr val="bg1"/>
                </a:solidFill>
                <a:latin typeface="Calibri"/>
                <a:cs typeface="Calibri"/>
              </a:rPr>
              <a:t>N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º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231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con facultad asignada)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·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Control: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300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docentes (</a:t>
            </a:r>
            <a:r>
              <a:rPr lang="es-CL" sz="1000" i="1" spc="-5" dirty="0">
                <a:solidFill>
                  <a:schemeClr val="bg1"/>
                </a:solidFill>
                <a:latin typeface="Calibri"/>
                <a:cs typeface="Calibri"/>
              </a:rPr>
              <a:t>N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º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111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con facultad asignada)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· % sobre evaluados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con</a:t>
            </a:r>
            <a:r>
              <a:rPr sz="1000" i="1" spc="14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dato</a:t>
            </a:r>
            <a:endParaRPr sz="1000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s-CL" sz="700" dirty="0">
                <a:latin typeface="Calibri"/>
                <a:cs typeface="Calibri"/>
              </a:rPr>
              <a:t>                    </a:t>
            </a:r>
            <a:endParaRPr sz="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00" dirty="0">
              <a:latin typeface="Calibri"/>
              <a:cs typeface="Calibri"/>
            </a:endParaRPr>
          </a:p>
          <a:p>
            <a:pPr marL="1597660">
              <a:lnSpc>
                <a:spcPct val="100000"/>
              </a:lnSpc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Distribucion por unidad/facultad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·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Izq: Aptos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P3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º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316) ·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Der: Control Bloque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II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lang="es-CL" sz="12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º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300) ·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porcentajes sobre docentes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con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facultad</a:t>
            </a:r>
            <a:r>
              <a:rPr sz="1200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registrada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7724" y="5518505"/>
            <a:ext cx="10380345" cy="8771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En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los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Aptos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P3,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Medicina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y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C. Salud concentra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la mayor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representacion (81 doc</a:t>
            </a:r>
            <a:r>
              <a:rPr lang="es-CL" sz="1300" b="1" spc="-5" dirty="0">
                <a:solidFill>
                  <a:schemeClr val="bg1"/>
                </a:solidFill>
                <a:latin typeface="Calibri"/>
                <a:cs typeface="Calibri"/>
              </a:rPr>
              <a:t>entes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.,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35%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de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los 231 con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facultad registrada). La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composicion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refleja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el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perfil de participacion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en 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iniciativas de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formacion.</a:t>
            </a:r>
            <a:endParaRPr sz="1300" b="1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240665" indent="-228600" algn="just">
              <a:lnSpc>
                <a:spcPct val="100000"/>
              </a:lnSpc>
              <a:spcBef>
                <a:spcPts val="495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En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el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grupo control, VR Investigacion lidera (32 doc</a:t>
            </a:r>
            <a:r>
              <a:rPr lang="es-CL" sz="1300" b="1" spc="-5" dirty="0">
                <a:solidFill>
                  <a:schemeClr val="bg1"/>
                </a:solidFill>
                <a:latin typeface="Calibri"/>
                <a:cs typeface="Calibri"/>
              </a:rPr>
              <a:t>entes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.,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29%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de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los 111 con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facultad registrada). La distribucion por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facultad es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comparable entre ambos</a:t>
            </a:r>
            <a:r>
              <a:rPr sz="1300" b="1" spc="1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grupos.</a:t>
            </a:r>
            <a:endParaRPr sz="13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8013" y="543705"/>
            <a:ext cx="9434703" cy="53069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8400" y="244480"/>
            <a:ext cx="6488429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s-CL" dirty="0"/>
              <a:t>Bloque II </a:t>
            </a:r>
            <a:r>
              <a:rPr lang="es-CL" spc="5" dirty="0"/>
              <a:t>— </a:t>
            </a:r>
            <a:r>
              <a:rPr spc="-60" dirty="0"/>
              <a:t>SAT </a:t>
            </a:r>
            <a:r>
              <a:rPr spc="-5" dirty="0"/>
              <a:t>z-score: Formados </a:t>
            </a:r>
            <a:r>
              <a:rPr dirty="0"/>
              <a:t>vs </a:t>
            </a:r>
            <a:r>
              <a:rPr spc="-10" dirty="0"/>
              <a:t>Control </a:t>
            </a:r>
            <a:r>
              <a:rPr spc="5" dirty="0"/>
              <a:t>— </a:t>
            </a:r>
            <a:r>
              <a:rPr dirty="0"/>
              <a:t>6</a:t>
            </a:r>
            <a:r>
              <a:rPr spc="-40" dirty="0"/>
              <a:t> </a:t>
            </a:r>
            <a:r>
              <a:rPr spc="-5" dirty="0" err="1"/>
              <a:t>Períodos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0" y="872109"/>
            <a:ext cx="9525000" cy="5520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L" sz="1000" b="1" i="1" spc="-5" dirty="0">
                <a:solidFill>
                  <a:schemeClr val="bg1"/>
                </a:solidFill>
                <a:latin typeface="Calibri"/>
                <a:cs typeface="Calibri"/>
              </a:rPr>
              <a:t>                                                 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Universo: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316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Aptos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P3 · </a:t>
            </a:r>
            <a:r>
              <a:rPr lang="es-CL" sz="1000" i="1" spc="-5" dirty="0">
                <a:solidFill>
                  <a:schemeClr val="bg1"/>
                </a:solidFill>
                <a:latin typeface="Calibri"/>
                <a:cs typeface="Calibri"/>
              </a:rPr>
              <a:t>F</a:t>
            </a:r>
            <a:r>
              <a:rPr sz="1000" i="1" spc="-5" dirty="0" err="1">
                <a:solidFill>
                  <a:schemeClr val="bg1"/>
                </a:solidFill>
                <a:latin typeface="Calibri"/>
                <a:cs typeface="Calibri"/>
              </a:rPr>
              <a:t>ormados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vs </a:t>
            </a:r>
            <a:r>
              <a:rPr lang="es-CL" sz="1000" i="1" spc="-5" dirty="0">
                <a:solidFill>
                  <a:schemeClr val="bg1"/>
                </a:solidFill>
                <a:latin typeface="Calibri"/>
                <a:cs typeface="Calibri"/>
              </a:rPr>
              <a:t>C</a:t>
            </a:r>
            <a:r>
              <a:rPr sz="1000" i="1" spc="-5" dirty="0" err="1">
                <a:solidFill>
                  <a:schemeClr val="bg1"/>
                </a:solidFill>
                <a:latin typeface="Calibri"/>
                <a:cs typeface="Calibri"/>
              </a:rPr>
              <a:t>ontrol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externo sin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formacion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·</a:t>
            </a:r>
            <a:r>
              <a:rPr sz="1000" i="1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2023–2025</a:t>
            </a:r>
            <a:endParaRPr sz="1000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00" dirty="0">
              <a:latin typeface="Calibri"/>
              <a:cs typeface="Calibri"/>
            </a:endParaRPr>
          </a:p>
          <a:p>
            <a:pPr marL="1597660">
              <a:lnSpc>
                <a:spcPct val="100000"/>
              </a:lnSpc>
            </a:pPr>
            <a:r>
              <a:rPr lang="es-CL" sz="1200" spc="-5" dirty="0">
                <a:solidFill>
                  <a:schemeClr val="bg1"/>
                </a:solidFill>
                <a:latin typeface="Calibri"/>
                <a:cs typeface="Calibri"/>
              </a:rPr>
              <a:t>                               </a:t>
            </a:r>
            <a:r>
              <a:rPr sz="1200" spc="-5" dirty="0" err="1">
                <a:solidFill>
                  <a:schemeClr val="bg1"/>
                </a:solidFill>
                <a:latin typeface="Calibri"/>
                <a:cs typeface="Calibri"/>
              </a:rPr>
              <a:t>Posición</a:t>
            </a:r>
            <a:r>
              <a:rPr sz="1200" spc="-5" dirty="0">
                <a:solidFill>
                  <a:schemeClr val="bg1"/>
                </a:solidFill>
                <a:latin typeface="Calibri"/>
                <a:cs typeface="Calibri"/>
              </a:rPr>
              <a:t> relativa en SAT (z=0 es el promedio de la facultad ese semestre) </a:t>
            </a:r>
            <a:r>
              <a:rPr sz="1200" dirty="0">
                <a:solidFill>
                  <a:schemeClr val="bg1"/>
                </a:solidFill>
                <a:latin typeface="Calibri"/>
                <a:cs typeface="Calibri"/>
              </a:rPr>
              <a:t>· n y z </a:t>
            </a:r>
            <a:r>
              <a:rPr sz="1200" spc="-5" dirty="0">
                <a:solidFill>
                  <a:schemeClr val="bg1"/>
                </a:solidFill>
                <a:latin typeface="Calibri"/>
                <a:cs typeface="Calibri"/>
              </a:rPr>
              <a:t>por período en gráfico</a:t>
            </a:r>
            <a:endParaRPr sz="12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9266" y="5167668"/>
            <a:ext cx="8796734" cy="1004121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40665" indent="-228600" algn="just">
              <a:lnSpc>
                <a:spcPct val="100000"/>
              </a:lnSpc>
              <a:spcBef>
                <a:spcPts val="5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Los docentes formados mantienen un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z-score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positivo consistente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en los 6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períodos (promedio 0.061), por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encima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del promedio </a:t>
            </a:r>
            <a:r>
              <a:rPr sz="1300" b="1" spc="10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su</a:t>
            </a:r>
            <a:r>
              <a:rPr sz="1300" b="1" spc="1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facultad.</a:t>
            </a:r>
            <a:endParaRPr sz="1300" b="1" dirty="0">
              <a:latin typeface="Calibri"/>
              <a:cs typeface="Calibri"/>
            </a:endParaRPr>
          </a:p>
          <a:p>
            <a:pPr marL="240665" indent="-228600" algn="just">
              <a:lnSpc>
                <a:spcPct val="100000"/>
              </a:lnSpc>
              <a:spcBef>
                <a:spcPts val="4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El grupo control muestra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z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promedio de -0.043. </a:t>
            </a:r>
            <a:endParaRPr lang="es-CL" sz="1300" b="1" spc="-5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240665" indent="-228600" algn="just">
              <a:lnSpc>
                <a:spcPct val="100000"/>
              </a:lnSpc>
              <a:spcBef>
                <a:spcPts val="4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La brecha Formados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−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Control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=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0.104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z, estadísticamente</a:t>
            </a:r>
            <a:r>
              <a:rPr sz="1300" b="1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significativa.</a:t>
            </a:r>
            <a:endParaRPr sz="13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9653" y="0"/>
            <a:ext cx="1219199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3000" y="200990"/>
            <a:ext cx="8659572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L" dirty="0"/>
              <a:t>Bloque II </a:t>
            </a:r>
            <a:r>
              <a:rPr lang="es-CL" spc="5" dirty="0"/>
              <a:t>— </a:t>
            </a:r>
            <a:r>
              <a:rPr dirty="0"/>
              <a:t>% de </a:t>
            </a:r>
            <a:r>
              <a:rPr spc="-5" dirty="0"/>
              <a:t>Recomendación Estudiantil </a:t>
            </a:r>
            <a:r>
              <a:rPr spc="5" dirty="0"/>
              <a:t>— </a:t>
            </a:r>
            <a:r>
              <a:rPr spc="-5" dirty="0"/>
              <a:t>Formados </a:t>
            </a:r>
            <a:r>
              <a:rPr dirty="0"/>
              <a:t>P3 vs No</a:t>
            </a:r>
            <a:r>
              <a:rPr spc="-110" dirty="0"/>
              <a:t> </a:t>
            </a:r>
            <a:r>
              <a:rPr spc="-5" dirty="0"/>
              <a:t>Formados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3400" y="918952"/>
            <a:ext cx="9269172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i="1" dirty="0" err="1">
                <a:solidFill>
                  <a:schemeClr val="bg1"/>
                </a:solidFill>
                <a:latin typeface="Calibri"/>
                <a:cs typeface="Calibri"/>
              </a:rPr>
              <a:t>Pregunta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s-CL" sz="1000" i="1" dirty="0">
                <a:solidFill>
                  <a:schemeClr val="bg1"/>
                </a:solidFill>
                <a:latin typeface="Calibri"/>
                <a:cs typeface="Calibri"/>
              </a:rPr>
              <a:t>: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«¿Recomendaría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a este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profesor/a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a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otro/a estudiante que quiera lograr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un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real aprendizaje?»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· </a:t>
            </a:r>
            <a:r>
              <a:rPr sz="1000" i="1" dirty="0" err="1">
                <a:solidFill>
                  <a:schemeClr val="bg1"/>
                </a:solidFill>
                <a:latin typeface="Calibri"/>
                <a:cs typeface="Calibri"/>
              </a:rPr>
              <a:t>Tratamiento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s-CL" sz="1000" i="1" spc="10" dirty="0">
                <a:solidFill>
                  <a:schemeClr val="bg1"/>
                </a:solidFill>
                <a:latin typeface="Calibri"/>
                <a:cs typeface="Calibri"/>
              </a:rPr>
              <a:t>N</a:t>
            </a:r>
            <a:r>
              <a:rPr sz="1000" i="1" spc="10" dirty="0">
                <a:solidFill>
                  <a:schemeClr val="bg1"/>
                </a:solidFill>
                <a:latin typeface="Calibri"/>
                <a:cs typeface="Calibri"/>
              </a:rPr>
              <a:t>º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314 ·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Control </a:t>
            </a:r>
            <a:r>
              <a:rPr lang="es-CL" sz="1000" i="1" spc="-5" dirty="0">
                <a:solidFill>
                  <a:schemeClr val="bg1"/>
                </a:solidFill>
                <a:latin typeface="Calibri"/>
                <a:cs typeface="Calibri"/>
              </a:rPr>
              <a:t>N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º 306</a:t>
            </a:r>
            <a:r>
              <a:rPr sz="1000" i="1" spc="8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· </a:t>
            </a:r>
            <a:r>
              <a:rPr sz="1000" i="1" spc="-5" dirty="0" err="1">
                <a:solidFill>
                  <a:schemeClr val="bg1"/>
                </a:solidFill>
                <a:latin typeface="Calibri"/>
                <a:cs typeface="Calibri"/>
              </a:rPr>
              <a:t>Período</a:t>
            </a:r>
            <a:r>
              <a:rPr lang="es-CL" sz="1000" i="1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2023–2025</a:t>
            </a:r>
            <a:endParaRPr sz="10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8200" y="5153577"/>
            <a:ext cx="10352405" cy="677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8600" algn="just">
              <a:lnSpc>
                <a:spcPct val="100000"/>
              </a:lnSpc>
              <a:spcBef>
                <a:spcPts val="105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Los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docentes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Formados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P3 muestran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un porcentaje de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recomendación consistentemente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superior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al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grupo control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en todos los años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analizados (diferencia +0.5 pp </a:t>
            </a:r>
            <a:r>
              <a:rPr sz="1300" b="1" dirty="0" err="1">
                <a:solidFill>
                  <a:schemeClr val="bg1"/>
                </a:solidFill>
                <a:latin typeface="Calibri"/>
                <a:cs typeface="Calibri"/>
              </a:rPr>
              <a:t>en</a:t>
            </a:r>
            <a:r>
              <a:rPr sz="1300" b="1" spc="9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2023</a:t>
            </a:r>
            <a:r>
              <a:rPr lang="es-CL" sz="1300" b="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y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+2.8 pp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en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2025).</a:t>
            </a:r>
            <a:endParaRPr sz="1300" b="1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240665" indent="-228600" algn="just">
              <a:lnSpc>
                <a:spcPct val="100000"/>
              </a:lnSpc>
              <a:spcBef>
                <a:spcPts val="495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Tendencia Formados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P3: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88.1%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→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89.6% (+1.6 pp de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2023 a 2025).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Tendencia Control: 87.6%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→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86.9% </a:t>
            </a:r>
            <a:r>
              <a:rPr sz="1300" b="1" spc="10" dirty="0">
                <a:solidFill>
                  <a:schemeClr val="bg1"/>
                </a:solidFill>
                <a:latin typeface="Calibri"/>
                <a:cs typeface="Calibri"/>
              </a:rPr>
              <a:t>(-0.7</a:t>
            </a:r>
            <a:r>
              <a:rPr sz="1300" b="1" spc="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chemeClr val="bg1"/>
                </a:solidFill>
                <a:latin typeface="Calibri"/>
                <a:cs typeface="Calibri"/>
              </a:rPr>
              <a:t>pp).</a:t>
            </a:r>
            <a:endParaRPr sz="13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66925" y="1099947"/>
            <a:ext cx="7358633" cy="40761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1160" y="202514"/>
            <a:ext cx="73069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/>
              <a:t>Bloque II — </a:t>
            </a:r>
            <a:r>
              <a:rPr sz="1800" spc="-60" dirty="0"/>
              <a:t>SAT </a:t>
            </a:r>
            <a:r>
              <a:rPr sz="1800" dirty="0"/>
              <a:t>— </a:t>
            </a:r>
            <a:r>
              <a:rPr sz="1800" spc="-5" dirty="0"/>
              <a:t>Grupo Selecto: Mejores vs </a:t>
            </a:r>
            <a:r>
              <a:rPr sz="1800" spc="-10" dirty="0"/>
              <a:t>Peores </a:t>
            </a:r>
            <a:r>
              <a:rPr sz="1800" dirty="0"/>
              <a:t>por </a:t>
            </a:r>
            <a:r>
              <a:rPr sz="1800" spc="-5" dirty="0"/>
              <a:t>Quintil </a:t>
            </a:r>
            <a:r>
              <a:rPr sz="1800" spc="-60" dirty="0"/>
              <a:t>SAT</a:t>
            </a:r>
            <a:r>
              <a:rPr sz="1800" spc="-85" dirty="0"/>
              <a:t> </a:t>
            </a:r>
            <a:r>
              <a:rPr sz="1800" spc="-5" dirty="0"/>
              <a:t>Baseline</a:t>
            </a:r>
            <a:endParaRPr sz="1800" dirty="0"/>
          </a:p>
        </p:txBody>
      </p:sp>
      <p:sp>
        <p:nvSpPr>
          <p:cNvPr id="4" name="object 4"/>
          <p:cNvSpPr txBox="1"/>
          <p:nvPr/>
        </p:nvSpPr>
        <p:spPr>
          <a:xfrm>
            <a:off x="729115" y="985195"/>
            <a:ext cx="8735772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i="1" spc="-5" dirty="0">
                <a:solidFill>
                  <a:schemeClr val="bg1"/>
                </a:solidFill>
                <a:latin typeface="Calibri"/>
                <a:cs typeface="Calibri"/>
              </a:rPr>
              <a:t>Quintiles</a:t>
            </a:r>
            <a:r>
              <a:rPr sz="1000" b="1" i="1" spc="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b="1" i="1" spc="-5" dirty="0">
                <a:solidFill>
                  <a:schemeClr val="bg1"/>
                </a:solidFill>
                <a:latin typeface="Calibri"/>
                <a:cs typeface="Calibri"/>
              </a:rPr>
              <a:t>por</a:t>
            </a:r>
            <a:r>
              <a:rPr sz="1000" b="1" i="1" spc="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b="1" i="1" spc="-5" dirty="0">
                <a:solidFill>
                  <a:schemeClr val="bg1"/>
                </a:solidFill>
                <a:latin typeface="Calibri"/>
                <a:cs typeface="Calibri"/>
              </a:rPr>
              <a:t>SAT</a:t>
            </a:r>
            <a:r>
              <a:rPr sz="1000" b="1" i="1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b="1" i="1" dirty="0">
                <a:solidFill>
                  <a:schemeClr val="bg1"/>
                </a:solidFill>
                <a:latin typeface="Calibri"/>
                <a:cs typeface="Calibri"/>
              </a:rPr>
              <a:t>PRE</a:t>
            </a:r>
            <a:r>
              <a:rPr sz="1000" b="1" i="1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b="1" i="1" dirty="0">
                <a:solidFill>
                  <a:schemeClr val="bg1"/>
                </a:solidFill>
                <a:latin typeface="Calibri"/>
                <a:cs typeface="Calibri"/>
              </a:rPr>
              <a:t>·</a:t>
            </a:r>
            <a:r>
              <a:rPr sz="1000" b="1" i="1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b="1" i="1" dirty="0">
                <a:solidFill>
                  <a:schemeClr val="bg1"/>
                </a:solidFill>
                <a:latin typeface="Calibri"/>
                <a:cs typeface="Calibri"/>
              </a:rPr>
              <a:t>3</a:t>
            </a:r>
            <a:r>
              <a:rPr sz="1000" b="1" i="1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b="1" i="1" spc="-5" dirty="0">
                <a:solidFill>
                  <a:schemeClr val="bg1"/>
                </a:solidFill>
                <a:latin typeface="Calibri"/>
                <a:cs typeface="Calibri"/>
              </a:rPr>
              <a:t>docentes/quintil</a:t>
            </a:r>
            <a:r>
              <a:rPr sz="1000" b="1" i="1" spc="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b="1" i="1" spc="-5" dirty="0">
                <a:solidFill>
                  <a:schemeClr val="bg1"/>
                </a:solidFill>
                <a:latin typeface="Calibri"/>
                <a:cs typeface="Calibri"/>
              </a:rPr>
              <a:t>(1 Diplomado</a:t>
            </a:r>
            <a:r>
              <a:rPr sz="1000" b="1" i="1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b="1" i="1" dirty="0">
                <a:solidFill>
                  <a:schemeClr val="bg1"/>
                </a:solidFill>
                <a:latin typeface="Calibri"/>
                <a:cs typeface="Calibri"/>
              </a:rPr>
              <a:t>+</a:t>
            </a:r>
            <a:r>
              <a:rPr sz="1000" b="1" i="1" spc="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b="1" i="1" dirty="0">
                <a:solidFill>
                  <a:schemeClr val="bg1"/>
                </a:solidFill>
                <a:latin typeface="Calibri"/>
                <a:cs typeface="Calibri"/>
              </a:rPr>
              <a:t>2</a:t>
            </a:r>
            <a:r>
              <a:rPr sz="1000" b="1" i="1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b="1" i="1" dirty="0">
                <a:solidFill>
                  <a:schemeClr val="bg1"/>
                </a:solidFill>
                <a:latin typeface="Calibri"/>
                <a:cs typeface="Calibri"/>
              </a:rPr>
              <a:t>Oferta</a:t>
            </a:r>
            <a:r>
              <a:rPr sz="1000" b="1" i="1" spc="-5" dirty="0">
                <a:solidFill>
                  <a:schemeClr val="bg1"/>
                </a:solidFill>
                <a:latin typeface="Calibri"/>
                <a:cs typeface="Calibri"/>
              </a:rPr>
              <a:t> formativa)</a:t>
            </a:r>
            <a:r>
              <a:rPr sz="1000" b="1" i="1" spc="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b="1" i="1" dirty="0">
                <a:solidFill>
                  <a:schemeClr val="bg1"/>
                </a:solidFill>
                <a:latin typeface="Calibri"/>
                <a:cs typeface="Calibri"/>
              </a:rPr>
              <a:t>·</a:t>
            </a:r>
            <a:r>
              <a:rPr sz="1000" b="1" i="1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b="1" i="1" dirty="0">
                <a:solidFill>
                  <a:schemeClr val="bg1"/>
                </a:solidFill>
                <a:latin typeface="Calibri"/>
                <a:cs typeface="Calibri"/>
              </a:rPr>
              <a:t>Dorado=PRE</a:t>
            </a:r>
            <a:r>
              <a:rPr sz="1000" b="1" i="1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b="1" i="1" dirty="0">
                <a:solidFill>
                  <a:schemeClr val="bg1"/>
                </a:solidFill>
                <a:latin typeface="Calibri"/>
                <a:cs typeface="Calibri"/>
              </a:rPr>
              <a:t>·</a:t>
            </a:r>
            <a:r>
              <a:rPr sz="1000" b="1" i="1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b="1" i="1" spc="-5" dirty="0">
                <a:solidFill>
                  <a:schemeClr val="bg1"/>
                </a:solidFill>
                <a:latin typeface="Calibri"/>
                <a:cs typeface="Calibri"/>
              </a:rPr>
              <a:t>Azul=DURANTE</a:t>
            </a:r>
            <a:r>
              <a:rPr sz="1000" b="1" i="1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b="1" i="1" dirty="0">
                <a:solidFill>
                  <a:schemeClr val="bg1"/>
                </a:solidFill>
                <a:latin typeface="Calibri"/>
                <a:cs typeface="Calibri"/>
              </a:rPr>
              <a:t>·</a:t>
            </a:r>
            <a:r>
              <a:rPr sz="1000" b="1" i="1" spc="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b="1" i="1" dirty="0">
                <a:solidFill>
                  <a:schemeClr val="bg1"/>
                </a:solidFill>
                <a:latin typeface="Calibri"/>
                <a:cs typeface="Calibri"/>
              </a:rPr>
              <a:t>Verde=POST</a:t>
            </a:r>
            <a:r>
              <a:rPr sz="1000" b="1" i="1" spc="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b="1" i="1" dirty="0">
                <a:solidFill>
                  <a:schemeClr val="bg1"/>
                </a:solidFill>
                <a:latin typeface="Calibri"/>
                <a:cs typeface="Calibri"/>
              </a:rPr>
              <a:t>·</a:t>
            </a:r>
            <a:r>
              <a:rPr sz="1000" b="1" i="1" spc="5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b="1" i="1" spc="-5" dirty="0">
                <a:solidFill>
                  <a:schemeClr val="bg1"/>
                </a:solidFill>
                <a:latin typeface="Calibri"/>
                <a:cs typeface="Calibri"/>
              </a:rPr>
              <a:t>Naranja=Diplomado</a:t>
            </a:r>
            <a:r>
              <a:rPr sz="1000" b="1" i="1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b="1" i="1" dirty="0">
                <a:solidFill>
                  <a:schemeClr val="bg1"/>
                </a:solidFill>
                <a:latin typeface="Calibri"/>
                <a:cs typeface="Calibri"/>
              </a:rPr>
              <a:t>·</a:t>
            </a:r>
            <a:r>
              <a:rPr sz="1000" b="1" i="1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b="1" i="1" spc="-5" dirty="0">
                <a:solidFill>
                  <a:schemeClr val="bg1"/>
                </a:solidFill>
                <a:latin typeface="Calibri"/>
                <a:cs typeface="Calibri"/>
              </a:rPr>
              <a:t>Blanca=Oferta</a:t>
            </a:r>
            <a:r>
              <a:rPr sz="1000" b="1" i="1" spc="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b="1" i="1" spc="-5" dirty="0">
                <a:solidFill>
                  <a:schemeClr val="bg1"/>
                </a:solidFill>
                <a:latin typeface="Calibri"/>
                <a:cs typeface="Calibri"/>
              </a:rPr>
              <a:t>formativa</a:t>
            </a:r>
            <a:endParaRPr sz="1000" b="1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00" dirty="0">
              <a:latin typeface="Calibri"/>
              <a:cs typeface="Calibri"/>
            </a:endParaRPr>
          </a:p>
          <a:p>
            <a:pPr marL="412750">
              <a:lnSpc>
                <a:spcPct val="100000"/>
              </a:lnSpc>
            </a:pPr>
            <a:r>
              <a:rPr lang="es-CL" sz="900" spc="-5" dirty="0">
                <a:solidFill>
                  <a:srgbClr val="FFFFFF"/>
                </a:solidFill>
                <a:latin typeface="Calibri"/>
                <a:cs typeface="Calibri"/>
              </a:rPr>
              <a:t>                                                                                   </a:t>
            </a:r>
            <a:r>
              <a:rPr sz="900" spc="-5" dirty="0" err="1">
                <a:solidFill>
                  <a:srgbClr val="FFFFFF"/>
                </a:solidFill>
                <a:latin typeface="Calibri"/>
                <a:cs typeface="Calibri"/>
              </a:rPr>
              <a:t>Izq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: nº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15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docentes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con mayor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mejora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SAT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en su quintil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Der: </a:t>
            </a:r>
            <a:r>
              <a:rPr lang="es-CL" sz="9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º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15 con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menor mejora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SAT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en su</a:t>
            </a:r>
            <a:r>
              <a:rPr sz="9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quintil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6800" y="5166201"/>
            <a:ext cx="10341610" cy="14132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48895" indent="-228600" algn="just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El panel izquierdo revela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que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los 15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docentes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con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mayor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mejora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SAT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en su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quintil muestran trayectorias consistentemente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ascendentes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desde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PRE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hasta POST,  independiente del tipo de formación (Oferta formativa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o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Diplomado),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lo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que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sugiere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que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disposición individual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al aprendizaje es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un factor determinante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en la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magnitud del  cambio.</a:t>
            </a:r>
            <a:endParaRPr sz="1300" b="1" dirty="0">
              <a:latin typeface="Calibri"/>
              <a:cs typeface="Calibri"/>
            </a:endParaRPr>
          </a:p>
          <a:p>
            <a:pPr marL="228600" indent="-228600" algn="just">
              <a:lnSpc>
                <a:spcPct val="100000"/>
              </a:lnSpc>
              <a:spcBef>
                <a:spcPts val="35"/>
              </a:spcBef>
              <a:buClr>
                <a:srgbClr val="FFFFFF"/>
              </a:buClr>
              <a:buFont typeface="+mj-lt"/>
              <a:buAutoNum type="arabicPeriod"/>
            </a:pPr>
            <a:endParaRPr sz="1300" b="1" dirty="0">
              <a:latin typeface="Calibri"/>
              <a:cs typeface="Calibri"/>
            </a:endParaRPr>
          </a:p>
          <a:p>
            <a:pPr marL="241300" marR="5080" indent="-228600" algn="just">
              <a:lnSpc>
                <a:spcPct val="100000"/>
              </a:lnSpc>
              <a:buFont typeface="+mj-lt"/>
              <a:buAutoNum type="arabicPeriod"/>
              <a:tabLst>
                <a:tab pos="153035" algn="l"/>
              </a:tabLst>
            </a:pP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El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contraste entre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ambos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paneles evidencia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alta dispersión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intra-quintil: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docentes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que parten de niveles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SAT similares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(mismo quintil baseline) terminan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en extremos 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opuestos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al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final del período,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lo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que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indica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que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el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quintil de entrada no predice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el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resultado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—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otros factores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como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continuidad, motivación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o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contexto </a:t>
            </a:r>
            <a:r>
              <a:rPr sz="1300" b="1" spc="-5" dirty="0" err="1">
                <a:solidFill>
                  <a:srgbClr val="FFFFFF"/>
                </a:solidFill>
                <a:latin typeface="Calibri"/>
                <a:cs typeface="Calibri"/>
              </a:rPr>
              <a:t>pedagógico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s-CL" sz="1300" b="1" spc="-5" dirty="0">
                <a:solidFill>
                  <a:srgbClr val="FFFFFF"/>
                </a:solidFill>
                <a:latin typeface="Calibri"/>
                <a:cs typeface="Calibri"/>
              </a:rPr>
              <a:t>podrían </a:t>
            </a:r>
            <a:r>
              <a:rPr sz="1300" b="1" dirty="0" err="1">
                <a:solidFill>
                  <a:srgbClr val="FFFFFF"/>
                </a:solidFill>
                <a:latin typeface="Calibri"/>
                <a:cs typeface="Calibri"/>
              </a:rPr>
              <a:t>explica</a:t>
            </a:r>
            <a:r>
              <a:rPr lang="es-CL" sz="1300" b="1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 la 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divergencia.</a:t>
            </a:r>
            <a:endParaRPr sz="13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0394" y="429844"/>
            <a:ext cx="66605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800" dirty="0"/>
              <a:t>Bloque III —</a:t>
            </a:r>
            <a:r>
              <a:rPr sz="1800" spc="-10" dirty="0" err="1"/>
              <a:t>Rendimiento</a:t>
            </a:r>
            <a:r>
              <a:rPr sz="1800" spc="-10" dirty="0"/>
              <a:t> </a:t>
            </a:r>
            <a:r>
              <a:rPr sz="1800" spc="-5" dirty="0" err="1"/>
              <a:t>Académico</a:t>
            </a:r>
            <a:endParaRPr sz="1800" dirty="0"/>
          </a:p>
        </p:txBody>
      </p:sp>
      <p:grpSp>
        <p:nvGrpSpPr>
          <p:cNvPr id="3" name="object 3"/>
          <p:cNvGrpSpPr/>
          <p:nvPr/>
        </p:nvGrpSpPr>
        <p:grpSpPr>
          <a:xfrm>
            <a:off x="603504" y="1999487"/>
            <a:ext cx="10443058" cy="4059681"/>
            <a:chOff x="603504" y="1999488"/>
            <a:chExt cx="10690860" cy="2901950"/>
          </a:xfrm>
        </p:grpSpPr>
        <p:sp>
          <p:nvSpPr>
            <p:cNvPr id="4" name="object 4"/>
            <p:cNvSpPr/>
            <p:nvPr/>
          </p:nvSpPr>
          <p:spPr>
            <a:xfrm>
              <a:off x="603504" y="1999488"/>
              <a:ext cx="10690860" cy="29016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51586" y="2025269"/>
              <a:ext cx="10599420" cy="2809240"/>
            </a:xfrm>
            <a:custGeom>
              <a:avLst/>
              <a:gdLst/>
              <a:ahLst/>
              <a:cxnLst/>
              <a:rect l="l" t="t" r="r" b="b"/>
              <a:pathLst>
                <a:path w="10599420" h="2809240">
                  <a:moveTo>
                    <a:pt x="10599166" y="0"/>
                  </a:moveTo>
                  <a:lnTo>
                    <a:pt x="0" y="0"/>
                  </a:lnTo>
                  <a:lnTo>
                    <a:pt x="0" y="2809112"/>
                  </a:lnTo>
                  <a:lnTo>
                    <a:pt x="10599166" y="2809112"/>
                  </a:lnTo>
                  <a:lnTo>
                    <a:pt x="10599166" y="0"/>
                  </a:lnTo>
                  <a:close/>
                </a:path>
              </a:pathLst>
            </a:custGeom>
            <a:solidFill>
              <a:srgbClr val="001C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1586" y="2025269"/>
              <a:ext cx="10599420" cy="2809240"/>
            </a:xfrm>
            <a:custGeom>
              <a:avLst/>
              <a:gdLst/>
              <a:ahLst/>
              <a:cxnLst/>
              <a:rect l="l" t="t" r="r" b="b"/>
              <a:pathLst>
                <a:path w="10599420" h="2809240">
                  <a:moveTo>
                    <a:pt x="0" y="2809112"/>
                  </a:moveTo>
                  <a:lnTo>
                    <a:pt x="10599166" y="2809112"/>
                  </a:lnTo>
                  <a:lnTo>
                    <a:pt x="10599166" y="0"/>
                  </a:lnTo>
                  <a:lnTo>
                    <a:pt x="0" y="0"/>
                  </a:lnTo>
                  <a:lnTo>
                    <a:pt x="0" y="2809112"/>
                  </a:lnTo>
                  <a:close/>
                </a:path>
              </a:pathLst>
            </a:custGeom>
            <a:ln w="11999">
              <a:solidFill>
                <a:srgbClr val="1E5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176526" y="2046477"/>
            <a:ext cx="6711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ni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er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so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43712" y="2394215"/>
            <a:ext cx="10410825" cy="99060"/>
            <a:chOff x="743712" y="2394215"/>
            <a:chExt cx="10410825" cy="99060"/>
          </a:xfrm>
        </p:grpSpPr>
        <p:sp>
          <p:nvSpPr>
            <p:cNvPr id="9" name="object 9"/>
            <p:cNvSpPr/>
            <p:nvPr/>
          </p:nvSpPr>
          <p:spPr>
            <a:xfrm>
              <a:off x="743712" y="2394215"/>
              <a:ext cx="3424428" cy="9892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6587" y="2413542"/>
              <a:ext cx="3343275" cy="18415"/>
            </a:xfrm>
            <a:custGeom>
              <a:avLst/>
              <a:gdLst/>
              <a:ahLst/>
              <a:cxnLst/>
              <a:rect l="l" t="t" r="r" b="b"/>
              <a:pathLst>
                <a:path w="3343275" h="18414">
                  <a:moveTo>
                    <a:pt x="3343021" y="0"/>
                  </a:moveTo>
                  <a:lnTo>
                    <a:pt x="0" y="0"/>
                  </a:lnTo>
                  <a:lnTo>
                    <a:pt x="0" y="17999"/>
                  </a:lnTo>
                  <a:lnTo>
                    <a:pt x="3343021" y="17999"/>
                  </a:lnTo>
                  <a:lnTo>
                    <a:pt x="3343021" y="0"/>
                  </a:lnTo>
                  <a:close/>
                </a:path>
              </a:pathLst>
            </a:custGeom>
            <a:solidFill>
              <a:srgbClr val="1E5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36720" y="2394215"/>
              <a:ext cx="3424428" cy="9892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79646" y="2413542"/>
              <a:ext cx="3343275" cy="18415"/>
            </a:xfrm>
            <a:custGeom>
              <a:avLst/>
              <a:gdLst/>
              <a:ahLst/>
              <a:cxnLst/>
              <a:rect l="l" t="t" r="r" b="b"/>
              <a:pathLst>
                <a:path w="3343275" h="18414">
                  <a:moveTo>
                    <a:pt x="3343021" y="0"/>
                  </a:moveTo>
                  <a:lnTo>
                    <a:pt x="0" y="0"/>
                  </a:lnTo>
                  <a:lnTo>
                    <a:pt x="0" y="17999"/>
                  </a:lnTo>
                  <a:lnTo>
                    <a:pt x="3343021" y="17999"/>
                  </a:lnTo>
                  <a:lnTo>
                    <a:pt x="3343021" y="0"/>
                  </a:lnTo>
                  <a:close/>
                </a:path>
              </a:pathLst>
            </a:custGeom>
            <a:solidFill>
              <a:srgbClr val="1E5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29728" y="2394215"/>
              <a:ext cx="3424428" cy="9892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772654" y="2413542"/>
              <a:ext cx="3343275" cy="18415"/>
            </a:xfrm>
            <a:custGeom>
              <a:avLst/>
              <a:gdLst/>
              <a:ahLst/>
              <a:cxnLst/>
              <a:rect l="l" t="t" r="r" b="b"/>
              <a:pathLst>
                <a:path w="3343275" h="18414">
                  <a:moveTo>
                    <a:pt x="3343021" y="0"/>
                  </a:moveTo>
                  <a:lnTo>
                    <a:pt x="0" y="0"/>
                  </a:lnTo>
                  <a:lnTo>
                    <a:pt x="0" y="17999"/>
                  </a:lnTo>
                  <a:lnTo>
                    <a:pt x="3343021" y="17999"/>
                  </a:lnTo>
                  <a:lnTo>
                    <a:pt x="3343021" y="0"/>
                  </a:lnTo>
                  <a:close/>
                </a:path>
              </a:pathLst>
            </a:custGeom>
            <a:solidFill>
              <a:srgbClr val="1E5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727191" y="2046477"/>
            <a:ext cx="46100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Índice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610600" y="2135232"/>
            <a:ext cx="128930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spcBef>
                <a:spcPts val="105"/>
              </a:spcBef>
            </a:pPr>
            <a:r>
              <a:rPr lang="es-CL" sz="1400" dirty="0">
                <a:solidFill>
                  <a:schemeClr val="bg1"/>
                </a:solidFill>
                <a:cs typeface="Calibri"/>
              </a:rPr>
              <a:t>Hallazgos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03522" y="2460566"/>
            <a:ext cx="3126232" cy="2628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 indent="-228600">
              <a:spcBef>
                <a:spcPts val="100"/>
              </a:spcBef>
              <a:buFont typeface="+mj-lt"/>
              <a:buAutoNum type="arabicPeriod"/>
            </a:pP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(D2</a:t>
            </a:r>
            <a:r>
              <a:rPr lang="es-CL" sz="1100" spc="-5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)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-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Derivación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Grupos: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5" dirty="0" err="1">
                <a:solidFill>
                  <a:srgbClr val="FFFFFF"/>
                </a:solidFill>
                <a:latin typeface="Calibri"/>
                <a:cs typeface="Calibri"/>
              </a:rPr>
              <a:t>Rendimiento</a:t>
            </a:r>
            <a:r>
              <a:rPr lang="es-CL" sz="1100" spc="-5" dirty="0">
                <a:solidFill>
                  <a:srgbClr val="FFFFFF"/>
                </a:solidFill>
                <a:latin typeface="Calibri"/>
                <a:cs typeface="Calibri"/>
              </a:rPr>
              <a:t> Académico </a:t>
            </a:r>
          </a:p>
          <a:p>
            <a:pPr marL="228600" indent="-228600">
              <a:spcBef>
                <a:spcPts val="100"/>
              </a:spcBef>
              <a:buFont typeface="+mj-lt"/>
              <a:buAutoNum type="arabicPeriod"/>
            </a:pPr>
            <a:r>
              <a:rPr lang="es-CL" sz="1100" dirty="0">
                <a:solidFill>
                  <a:schemeClr val="bg1"/>
                </a:solidFill>
                <a:cs typeface="Calibri"/>
              </a:rPr>
              <a:t>(D24) - </a:t>
            </a:r>
            <a:r>
              <a:rPr lang="es-CL" sz="1100" spc="-10" dirty="0">
                <a:solidFill>
                  <a:schemeClr val="bg1"/>
                </a:solidFill>
              </a:rPr>
              <a:t>Perfil Demográfico: </a:t>
            </a:r>
            <a:r>
              <a:rPr lang="es-CL" sz="1100" spc="-5" dirty="0">
                <a:solidFill>
                  <a:schemeClr val="bg1"/>
                </a:solidFill>
              </a:rPr>
              <a:t>Formados vs </a:t>
            </a:r>
            <a:r>
              <a:rPr lang="es-CL" sz="1100" spc="-10" dirty="0">
                <a:solidFill>
                  <a:schemeClr val="bg1"/>
                </a:solidFill>
              </a:rPr>
              <a:t>Control </a:t>
            </a:r>
            <a:r>
              <a:rPr lang="es-CL" sz="1100" spc="-5" dirty="0">
                <a:solidFill>
                  <a:schemeClr val="bg1"/>
                </a:solidFill>
              </a:rPr>
              <a:t>(Rendimiento</a:t>
            </a:r>
            <a:r>
              <a:rPr lang="es-CL" sz="1100" spc="-80" dirty="0">
                <a:solidFill>
                  <a:schemeClr val="bg1"/>
                </a:solidFill>
              </a:rPr>
              <a:t> </a:t>
            </a:r>
            <a:r>
              <a:rPr lang="es-CL" sz="1100" spc="-5" dirty="0">
                <a:solidFill>
                  <a:schemeClr val="bg1"/>
                </a:solidFill>
              </a:rPr>
              <a:t>Académico) </a:t>
            </a:r>
          </a:p>
          <a:p>
            <a:pPr marL="228600" indent="-228600">
              <a:spcBef>
                <a:spcPts val="100"/>
              </a:spcBef>
              <a:buFont typeface="+mj-lt"/>
              <a:buAutoNum type="arabicPeriod"/>
            </a:pPr>
            <a:r>
              <a:rPr lang="es-CL" sz="1100" dirty="0">
                <a:solidFill>
                  <a:schemeClr val="bg1"/>
                </a:solidFill>
                <a:cs typeface="Calibri"/>
              </a:rPr>
              <a:t>(D25) - </a:t>
            </a:r>
            <a:r>
              <a:rPr lang="es-ES" sz="1100" dirty="0">
                <a:solidFill>
                  <a:schemeClr val="bg1"/>
                </a:solidFill>
              </a:rPr>
              <a:t>— </a:t>
            </a:r>
            <a:r>
              <a:rPr lang="es-ES" sz="1100" spc="-5" dirty="0">
                <a:solidFill>
                  <a:schemeClr val="bg1"/>
                </a:solidFill>
              </a:rPr>
              <a:t>Incidencia del Plan de Formación </a:t>
            </a:r>
            <a:r>
              <a:rPr lang="es-ES" sz="1100" dirty="0">
                <a:solidFill>
                  <a:schemeClr val="bg1"/>
                </a:solidFill>
              </a:rPr>
              <a:t>en </a:t>
            </a:r>
            <a:r>
              <a:rPr lang="es-ES" sz="1100" spc="-5" dirty="0">
                <a:solidFill>
                  <a:schemeClr val="bg1"/>
                </a:solidFill>
              </a:rPr>
              <a:t>el </a:t>
            </a:r>
            <a:r>
              <a:rPr lang="es-ES" sz="1100" spc="-10" dirty="0">
                <a:solidFill>
                  <a:schemeClr val="bg1"/>
                </a:solidFill>
              </a:rPr>
              <a:t>Rendimiento </a:t>
            </a:r>
            <a:r>
              <a:rPr lang="es-ES" sz="1100" spc="-5" dirty="0">
                <a:solidFill>
                  <a:schemeClr val="bg1"/>
                </a:solidFill>
              </a:rPr>
              <a:t>Académico </a:t>
            </a:r>
            <a:r>
              <a:rPr lang="es-ES" sz="1100" dirty="0">
                <a:solidFill>
                  <a:schemeClr val="bg1"/>
                </a:solidFill>
              </a:rPr>
              <a:t>de Estudiantes (</a:t>
            </a:r>
          </a:p>
          <a:p>
            <a:pPr marL="228600" indent="-228600">
              <a:spcBef>
                <a:spcPts val="100"/>
              </a:spcBef>
              <a:buFont typeface="+mj-lt"/>
              <a:buAutoNum type="arabicPeriod"/>
            </a:pPr>
            <a:r>
              <a:rPr lang="es-ES" sz="1100" dirty="0">
                <a:solidFill>
                  <a:schemeClr val="bg1"/>
                </a:solidFill>
                <a:cs typeface="Calibri"/>
              </a:rPr>
              <a:t>(</a:t>
            </a:r>
            <a:r>
              <a:rPr lang="es-CL" sz="1100" dirty="0">
                <a:solidFill>
                  <a:schemeClr val="bg1"/>
                </a:solidFill>
                <a:cs typeface="Calibri"/>
              </a:rPr>
              <a:t>D26) -</a:t>
            </a:r>
            <a:r>
              <a:rPr lang="es-ES" sz="1100" spc="-10" dirty="0">
                <a:solidFill>
                  <a:srgbClr val="FFFFFF"/>
                </a:solidFill>
                <a:cs typeface="Calibri"/>
              </a:rPr>
              <a:t>Correlación</a:t>
            </a:r>
            <a:r>
              <a:rPr lang="es-ES" sz="1100" spc="50" dirty="0">
                <a:solidFill>
                  <a:srgbClr val="FFFFFF"/>
                </a:solidFill>
                <a:cs typeface="Calibri"/>
              </a:rPr>
              <a:t> </a:t>
            </a:r>
            <a:r>
              <a:rPr lang="es-ES" sz="1100" spc="-10" dirty="0">
                <a:solidFill>
                  <a:srgbClr val="FFFFFF"/>
                </a:solidFill>
                <a:cs typeface="Calibri"/>
              </a:rPr>
              <a:t>Satisfacción</a:t>
            </a:r>
            <a:r>
              <a:rPr lang="es-ES" sz="1100" spc="60" dirty="0">
                <a:solidFill>
                  <a:srgbClr val="FFFFFF"/>
                </a:solidFill>
                <a:cs typeface="Calibri"/>
              </a:rPr>
              <a:t> </a:t>
            </a:r>
            <a:r>
              <a:rPr lang="es-ES" sz="1100" spc="-15" dirty="0">
                <a:solidFill>
                  <a:srgbClr val="FFFFFF"/>
                </a:solidFill>
                <a:cs typeface="Calibri"/>
              </a:rPr>
              <a:t>Docente</a:t>
            </a:r>
            <a:r>
              <a:rPr lang="es-ES" sz="1100" spc="50" dirty="0">
                <a:solidFill>
                  <a:srgbClr val="FFFFFF"/>
                </a:solidFill>
                <a:cs typeface="Calibri"/>
              </a:rPr>
              <a:t> </a:t>
            </a:r>
            <a:r>
              <a:rPr lang="es-ES" sz="1100" spc="-5" dirty="0">
                <a:solidFill>
                  <a:srgbClr val="FFFFFF"/>
                </a:solidFill>
                <a:cs typeface="Calibri"/>
              </a:rPr>
              <a:t>y</a:t>
            </a:r>
            <a:r>
              <a:rPr lang="es-ES" sz="1100" spc="10" dirty="0">
                <a:solidFill>
                  <a:srgbClr val="FFFFFF"/>
                </a:solidFill>
                <a:cs typeface="Calibri"/>
              </a:rPr>
              <a:t> </a:t>
            </a:r>
            <a:r>
              <a:rPr lang="es-ES" sz="1100" spc="-10" dirty="0">
                <a:solidFill>
                  <a:srgbClr val="FFFFFF"/>
                </a:solidFill>
                <a:cs typeface="Calibri"/>
              </a:rPr>
              <a:t>Desempeño</a:t>
            </a:r>
            <a:r>
              <a:rPr lang="es-ES" sz="1100" spc="35" dirty="0">
                <a:solidFill>
                  <a:srgbClr val="FFFFFF"/>
                </a:solidFill>
                <a:cs typeface="Calibri"/>
              </a:rPr>
              <a:t> </a:t>
            </a:r>
            <a:r>
              <a:rPr lang="es-ES" sz="1100" spc="-10" dirty="0">
                <a:solidFill>
                  <a:srgbClr val="FFFFFF"/>
                </a:solidFill>
                <a:cs typeface="Calibri"/>
              </a:rPr>
              <a:t>Académico</a:t>
            </a:r>
            <a:r>
              <a:rPr lang="es-ES" sz="1100" spc="75" dirty="0">
                <a:solidFill>
                  <a:srgbClr val="FFFFFF"/>
                </a:solidFill>
                <a:cs typeface="Calibri"/>
              </a:rPr>
              <a:t> </a:t>
            </a:r>
            <a:r>
              <a:rPr lang="es-ES" sz="1100" spc="-10" dirty="0">
                <a:solidFill>
                  <a:srgbClr val="FFFFFF"/>
                </a:solidFill>
                <a:cs typeface="Calibri"/>
              </a:rPr>
              <a:t>Estudiantes</a:t>
            </a:r>
            <a:r>
              <a:rPr lang="es-ES" sz="1100" spc="35" dirty="0">
                <a:solidFill>
                  <a:srgbClr val="FFFFFF"/>
                </a:solidFill>
                <a:cs typeface="Calibri"/>
              </a:rPr>
              <a:t> </a:t>
            </a:r>
            <a:r>
              <a:rPr lang="es-ES" sz="1100" spc="-10" dirty="0">
                <a:solidFill>
                  <a:srgbClr val="FFFFFF"/>
                </a:solidFill>
                <a:cs typeface="Calibri"/>
              </a:rPr>
              <a:t>según</a:t>
            </a:r>
            <a:r>
              <a:rPr lang="es-ES" sz="1100" spc="10" dirty="0">
                <a:solidFill>
                  <a:srgbClr val="FFFFFF"/>
                </a:solidFill>
                <a:cs typeface="Calibri"/>
              </a:rPr>
              <a:t> </a:t>
            </a:r>
            <a:r>
              <a:rPr lang="es-ES" sz="1100" spc="-10" dirty="0">
                <a:solidFill>
                  <a:srgbClr val="FFFFFF"/>
                </a:solidFill>
                <a:cs typeface="Calibri"/>
              </a:rPr>
              <a:t>Nota</a:t>
            </a:r>
            <a:r>
              <a:rPr lang="es-ES" sz="1100" spc="35" dirty="0">
                <a:solidFill>
                  <a:srgbClr val="FFFFFF"/>
                </a:solidFill>
                <a:cs typeface="Calibri"/>
              </a:rPr>
              <a:t> </a:t>
            </a:r>
            <a:r>
              <a:rPr lang="es-ES" sz="1100" spc="-10" dirty="0">
                <a:solidFill>
                  <a:srgbClr val="FFFFFF"/>
                </a:solidFill>
                <a:cs typeface="Calibri"/>
              </a:rPr>
              <a:t>Promedio</a:t>
            </a:r>
            <a:r>
              <a:rPr lang="es-ES" sz="1100" spc="45" dirty="0">
                <a:solidFill>
                  <a:srgbClr val="FFFFFF"/>
                </a:solidFill>
                <a:cs typeface="Calibri"/>
              </a:rPr>
              <a:t> </a:t>
            </a:r>
            <a:r>
              <a:rPr lang="es-ES" sz="1100" spc="-5" dirty="0">
                <a:solidFill>
                  <a:srgbClr val="FFFFFF"/>
                </a:solidFill>
                <a:cs typeface="Calibri"/>
              </a:rPr>
              <a:t>de</a:t>
            </a:r>
            <a:r>
              <a:rPr lang="es-ES" sz="1100" spc="20" dirty="0">
                <a:solidFill>
                  <a:srgbClr val="FFFFFF"/>
                </a:solidFill>
                <a:cs typeface="Calibri"/>
              </a:rPr>
              <a:t> </a:t>
            </a:r>
            <a:r>
              <a:rPr lang="es-ES" sz="1100" spc="-10" dirty="0">
                <a:solidFill>
                  <a:srgbClr val="FFFFFF"/>
                </a:solidFill>
                <a:cs typeface="Calibri"/>
              </a:rPr>
              <a:t>Año </a:t>
            </a:r>
          </a:p>
          <a:p>
            <a:pPr marL="228600" indent="-228600">
              <a:spcBef>
                <a:spcPts val="100"/>
              </a:spcBef>
              <a:buFont typeface="+mj-lt"/>
              <a:buAutoNum type="arabicPeriod"/>
            </a:pPr>
            <a:r>
              <a:rPr lang="es-ES" sz="1100" spc="-10" dirty="0">
                <a:solidFill>
                  <a:srgbClr val="FFFFFF"/>
                </a:solidFill>
                <a:cs typeface="Calibri"/>
              </a:rPr>
              <a:t>(</a:t>
            </a:r>
            <a:r>
              <a:rPr lang="es-CL" sz="1100" dirty="0">
                <a:solidFill>
                  <a:schemeClr val="bg1"/>
                </a:solidFill>
                <a:cs typeface="Calibri"/>
              </a:rPr>
              <a:t>D27) -</a:t>
            </a:r>
            <a:r>
              <a:rPr lang="es-ES" sz="1100" spc="-5" dirty="0">
                <a:solidFill>
                  <a:schemeClr val="bg1"/>
                </a:solidFill>
              </a:rPr>
              <a:t>Incidencia </a:t>
            </a:r>
            <a:r>
              <a:rPr lang="es-ES" sz="1100" dirty="0">
                <a:solidFill>
                  <a:schemeClr val="bg1"/>
                </a:solidFill>
              </a:rPr>
              <a:t>del </a:t>
            </a:r>
            <a:r>
              <a:rPr lang="es-ES" sz="1100" spc="-5" dirty="0">
                <a:solidFill>
                  <a:schemeClr val="bg1"/>
                </a:solidFill>
              </a:rPr>
              <a:t>Plan </a:t>
            </a:r>
            <a:r>
              <a:rPr lang="es-ES" sz="1100" dirty="0">
                <a:solidFill>
                  <a:schemeClr val="bg1"/>
                </a:solidFill>
              </a:rPr>
              <a:t>de </a:t>
            </a:r>
            <a:r>
              <a:rPr lang="es-ES" sz="1100" spc="-5" dirty="0">
                <a:solidFill>
                  <a:schemeClr val="bg1"/>
                </a:solidFill>
              </a:rPr>
              <a:t>Formación </a:t>
            </a:r>
            <a:r>
              <a:rPr lang="es-ES" sz="1100" dirty="0">
                <a:solidFill>
                  <a:schemeClr val="bg1"/>
                </a:solidFill>
              </a:rPr>
              <a:t>en </a:t>
            </a:r>
            <a:r>
              <a:rPr lang="es-ES" sz="1100" spc="-5" dirty="0">
                <a:solidFill>
                  <a:schemeClr val="bg1"/>
                </a:solidFill>
              </a:rPr>
              <a:t>el </a:t>
            </a:r>
            <a:r>
              <a:rPr lang="es-ES" sz="1100" spc="-10" dirty="0">
                <a:solidFill>
                  <a:schemeClr val="bg1"/>
                </a:solidFill>
              </a:rPr>
              <a:t>Rendimiento</a:t>
            </a:r>
            <a:r>
              <a:rPr lang="es-ES" sz="1100" spc="-60" dirty="0">
                <a:solidFill>
                  <a:schemeClr val="bg1"/>
                </a:solidFill>
              </a:rPr>
              <a:t> </a:t>
            </a:r>
            <a:r>
              <a:rPr lang="es-ES" sz="1100" spc="-5" dirty="0">
                <a:solidFill>
                  <a:schemeClr val="bg1"/>
                </a:solidFill>
              </a:rPr>
              <a:t>Académico</a:t>
            </a:r>
            <a:r>
              <a:rPr lang="es-ES" sz="1100" spc="-10" dirty="0">
                <a:solidFill>
                  <a:srgbClr val="FFFFFF"/>
                </a:solidFill>
                <a:cs typeface="Calibri"/>
              </a:rPr>
              <a:t> </a:t>
            </a:r>
          </a:p>
          <a:p>
            <a:pPr marL="228600" indent="-228600">
              <a:spcBef>
                <a:spcPts val="100"/>
              </a:spcBef>
              <a:buFont typeface="+mj-lt"/>
              <a:buAutoNum type="arabicPeriod"/>
            </a:pPr>
            <a:r>
              <a:rPr lang="es-ES" sz="1100" spc="-10" dirty="0">
                <a:solidFill>
                  <a:srgbClr val="FFFFFF"/>
                </a:solidFill>
                <a:cs typeface="Calibri"/>
              </a:rPr>
              <a:t>(</a:t>
            </a:r>
            <a:r>
              <a:rPr lang="es-CL" sz="1100" dirty="0">
                <a:solidFill>
                  <a:schemeClr val="bg1"/>
                </a:solidFill>
                <a:cs typeface="Calibri"/>
              </a:rPr>
              <a:t>D28) -</a:t>
            </a:r>
            <a:r>
              <a:rPr lang="es-CL" sz="1100" spc="-10" dirty="0">
                <a:solidFill>
                  <a:schemeClr val="bg1"/>
                </a:solidFill>
              </a:rPr>
              <a:t>Rendimiento </a:t>
            </a:r>
            <a:r>
              <a:rPr lang="es-CL" sz="1100" spc="-5" dirty="0">
                <a:solidFill>
                  <a:schemeClr val="bg1"/>
                </a:solidFill>
              </a:rPr>
              <a:t>Académico </a:t>
            </a:r>
            <a:r>
              <a:rPr lang="es-CL" sz="1100" dirty="0">
                <a:solidFill>
                  <a:schemeClr val="bg1"/>
                </a:solidFill>
              </a:rPr>
              <a:t>por </a:t>
            </a:r>
            <a:r>
              <a:rPr lang="es-CL" sz="1100" spc="-15" dirty="0">
                <a:solidFill>
                  <a:schemeClr val="bg1"/>
                </a:solidFill>
              </a:rPr>
              <a:t>Facultad </a:t>
            </a:r>
            <a:r>
              <a:rPr lang="es-CL" sz="1100" spc="5" dirty="0">
                <a:solidFill>
                  <a:schemeClr val="bg1"/>
                </a:solidFill>
              </a:rPr>
              <a:t>— </a:t>
            </a:r>
            <a:r>
              <a:rPr lang="es-CL" sz="1100" spc="-5" dirty="0">
                <a:solidFill>
                  <a:schemeClr val="bg1"/>
                </a:solidFill>
              </a:rPr>
              <a:t>Formados </a:t>
            </a:r>
            <a:r>
              <a:rPr lang="es-CL" sz="1100" dirty="0">
                <a:solidFill>
                  <a:schemeClr val="bg1"/>
                </a:solidFill>
              </a:rPr>
              <a:t>vs</a:t>
            </a:r>
            <a:r>
              <a:rPr lang="es-CL" sz="1100" spc="-40" dirty="0">
                <a:solidFill>
                  <a:schemeClr val="bg1"/>
                </a:solidFill>
              </a:rPr>
              <a:t> </a:t>
            </a:r>
            <a:r>
              <a:rPr lang="es-CL" sz="1100" spc="-10" dirty="0">
                <a:solidFill>
                  <a:schemeClr val="bg1"/>
                </a:solidFill>
              </a:rPr>
              <a:t>Control </a:t>
            </a:r>
          </a:p>
          <a:p>
            <a:pPr marL="228600" indent="-228600">
              <a:spcBef>
                <a:spcPts val="100"/>
              </a:spcBef>
              <a:buFont typeface="+mj-lt"/>
              <a:buAutoNum type="arabicPeriod"/>
            </a:pPr>
            <a:r>
              <a:rPr lang="es-ES" sz="1100" spc="-10" dirty="0">
                <a:solidFill>
                  <a:schemeClr val="bg1"/>
                </a:solidFill>
                <a:cs typeface="Calibri"/>
              </a:rPr>
              <a:t>(</a:t>
            </a:r>
            <a:r>
              <a:rPr lang="es-CL" sz="1100" dirty="0">
                <a:solidFill>
                  <a:schemeClr val="bg1"/>
                </a:solidFill>
                <a:cs typeface="Calibri"/>
              </a:rPr>
              <a:t>D29) -</a:t>
            </a:r>
            <a:r>
              <a:rPr lang="es-ES" sz="1100" spc="-10" dirty="0">
                <a:solidFill>
                  <a:schemeClr val="bg1"/>
                </a:solidFill>
              </a:rPr>
              <a:t> Evolución </a:t>
            </a:r>
            <a:r>
              <a:rPr lang="es-ES" sz="1100" spc="-5" dirty="0">
                <a:solidFill>
                  <a:schemeClr val="bg1"/>
                </a:solidFill>
              </a:rPr>
              <a:t>Nota Promedio Alumnos </a:t>
            </a:r>
            <a:r>
              <a:rPr lang="es-ES" sz="1100" dirty="0">
                <a:solidFill>
                  <a:schemeClr val="bg1"/>
                </a:solidFill>
              </a:rPr>
              <a:t>— </a:t>
            </a:r>
            <a:r>
              <a:rPr lang="es-ES" sz="1100" spc="-5" dirty="0">
                <a:solidFill>
                  <a:schemeClr val="bg1"/>
                </a:solidFill>
              </a:rPr>
              <a:t>Aptos P3 vs</a:t>
            </a:r>
            <a:r>
              <a:rPr lang="es-ES" sz="1100" spc="-120" dirty="0">
                <a:solidFill>
                  <a:schemeClr val="bg1"/>
                </a:solidFill>
              </a:rPr>
              <a:t> </a:t>
            </a:r>
            <a:r>
              <a:rPr lang="es-ES" sz="1100" spc="-10" dirty="0">
                <a:solidFill>
                  <a:schemeClr val="bg1"/>
                </a:solidFill>
              </a:rPr>
              <a:t>Control</a:t>
            </a:r>
            <a:endParaRPr sz="11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29067" y="2529202"/>
            <a:ext cx="2759075" cy="10669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 marR="5080" indent="-228600" algn="just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Tratamiento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(perfil):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N°=316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Aptos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P3.  </a:t>
            </a:r>
            <a:endParaRPr lang="es-CL" sz="11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228600" marR="5080" indent="-228600" algn="just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r>
              <a:rPr sz="1100" spc="-15" dirty="0" err="1">
                <a:solidFill>
                  <a:srgbClr val="FFFFFF"/>
                </a:solidFill>
                <a:latin typeface="Calibri"/>
                <a:cs typeface="Calibri"/>
              </a:rPr>
              <a:t>Tratamiento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(amplio):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N°=619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formados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con 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notas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disponibles. </a:t>
            </a:r>
            <a:endParaRPr lang="es-CL" sz="11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228600" marR="5080" indent="-228600" algn="just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Control: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N°=300 docentes  sin formación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P3 </a:t>
            </a:r>
            <a:r>
              <a:rPr sz="1100" spc="-10" dirty="0">
                <a:solidFill>
                  <a:srgbClr val="FFFFFF"/>
                </a:solidFill>
                <a:latin typeface="Calibri"/>
                <a:cs typeface="Calibri"/>
              </a:rPr>
              <a:t>con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notas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en 2023–2025.  </a:t>
            </a:r>
            <a:endParaRPr lang="es-CL" sz="11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228600" marR="5080" indent="-228600" algn="just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Los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316 </a:t>
            </a:r>
            <a:r>
              <a:rPr sz="1100" spc="-5" dirty="0">
                <a:solidFill>
                  <a:srgbClr val="FFFFFF"/>
                </a:solidFill>
                <a:latin typeface="Calibri"/>
                <a:cs typeface="Calibri"/>
              </a:rPr>
              <a:t>son subconjunto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 los</a:t>
            </a:r>
            <a:r>
              <a:rPr sz="11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619.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04957" y="2487167"/>
            <a:ext cx="2424049" cy="22442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 lvl="0" indent="-228600" algn="just">
              <a:buFont typeface="+mj-lt"/>
              <a:buAutoNum type="arabicPeriod"/>
            </a:pPr>
            <a:r>
              <a:rPr lang="es-ES" sz="1100" dirty="0">
                <a:solidFill>
                  <a:schemeClr val="bg1"/>
                </a:solidFill>
              </a:rPr>
              <a:t>Los docentes formados obtienen mayor rendimiento académico en sus alumnos (89.5%) y nota promedio superior al control (5.30 vs 5.22). </a:t>
            </a:r>
          </a:p>
          <a:p>
            <a:pPr marL="228600" lvl="0" indent="-228600" algn="just">
              <a:buFont typeface="+mj-lt"/>
              <a:buAutoNum type="arabicPeriod"/>
            </a:pPr>
            <a:endParaRPr lang="es-ES" sz="1100" dirty="0">
              <a:solidFill>
                <a:schemeClr val="bg1"/>
              </a:solidFill>
            </a:endParaRPr>
          </a:p>
          <a:p>
            <a:pPr marL="228600" indent="-228600" algn="just">
              <a:buFont typeface="+mj-lt"/>
              <a:buAutoNum type="arabicPeriod"/>
            </a:pPr>
            <a:r>
              <a:rPr lang="es-ES" sz="1100" spc="-5" dirty="0">
                <a:solidFill>
                  <a:srgbClr val="FFFFFF"/>
                </a:solidFill>
                <a:cs typeface="Calibri"/>
              </a:rPr>
              <a:t>Correlación positiva </a:t>
            </a:r>
            <a:r>
              <a:rPr lang="es-ES" sz="1100" dirty="0">
                <a:solidFill>
                  <a:srgbClr val="FFFFFF"/>
                </a:solidFill>
                <a:cs typeface="Calibri"/>
              </a:rPr>
              <a:t>y estadísticamente </a:t>
            </a:r>
            <a:r>
              <a:rPr lang="es-ES" sz="1100" spc="-5" dirty="0">
                <a:solidFill>
                  <a:srgbClr val="FFFFFF"/>
                </a:solidFill>
                <a:cs typeface="Calibri"/>
              </a:rPr>
              <a:t>significativa entre SAT docente </a:t>
            </a:r>
            <a:r>
              <a:rPr lang="es-ES" sz="1100" dirty="0">
                <a:solidFill>
                  <a:srgbClr val="FFFFFF"/>
                </a:solidFill>
                <a:cs typeface="Calibri"/>
              </a:rPr>
              <a:t>y </a:t>
            </a:r>
            <a:r>
              <a:rPr lang="es-ES" sz="1100" spc="-5" dirty="0">
                <a:solidFill>
                  <a:srgbClr val="FFFFFF"/>
                </a:solidFill>
                <a:cs typeface="Calibri"/>
              </a:rPr>
              <a:t>nota promedio de alumnos </a:t>
            </a:r>
            <a:r>
              <a:rPr lang="es-ES" sz="1100" dirty="0">
                <a:solidFill>
                  <a:srgbClr val="FFFFFF"/>
                </a:solidFill>
                <a:cs typeface="Calibri"/>
              </a:rPr>
              <a:t>en los </a:t>
            </a:r>
            <a:r>
              <a:rPr lang="es-ES" sz="1100" spc="-5" dirty="0">
                <a:solidFill>
                  <a:srgbClr val="FFFFFF"/>
                </a:solidFill>
                <a:cs typeface="Calibri"/>
              </a:rPr>
              <a:t>tres años </a:t>
            </a:r>
            <a:r>
              <a:rPr lang="es-ES" sz="1100" dirty="0">
                <a:solidFill>
                  <a:srgbClr val="FFFFFF"/>
                </a:solidFill>
                <a:cs typeface="Calibri"/>
              </a:rPr>
              <a:t>(r≈0.21 en 2023, </a:t>
            </a:r>
            <a:r>
              <a:rPr lang="es-ES" sz="1100" spc="-5" dirty="0">
                <a:solidFill>
                  <a:srgbClr val="FFFFFF"/>
                </a:solidFill>
                <a:cs typeface="Calibri"/>
              </a:rPr>
              <a:t>r≈0.3 </a:t>
            </a:r>
            <a:r>
              <a:rPr lang="es-ES" sz="1100" dirty="0">
                <a:solidFill>
                  <a:srgbClr val="FFFFFF"/>
                </a:solidFill>
                <a:cs typeface="Calibri"/>
              </a:rPr>
              <a:t>en 2024, </a:t>
            </a:r>
            <a:r>
              <a:rPr lang="es-ES" sz="1100" spc="-5" dirty="0">
                <a:solidFill>
                  <a:srgbClr val="FFFFFF"/>
                </a:solidFill>
                <a:cs typeface="Calibri"/>
              </a:rPr>
              <a:t>r≈0.23 </a:t>
            </a:r>
            <a:r>
              <a:rPr lang="es-ES" sz="1100" dirty="0">
                <a:solidFill>
                  <a:srgbClr val="FFFFFF"/>
                </a:solidFill>
                <a:cs typeface="Calibri"/>
              </a:rPr>
              <a:t>en</a:t>
            </a:r>
            <a:r>
              <a:rPr lang="es-ES" sz="1100" spc="155" dirty="0">
                <a:solidFill>
                  <a:srgbClr val="FFFFFF"/>
                </a:solidFill>
                <a:cs typeface="Calibri"/>
              </a:rPr>
              <a:t> </a:t>
            </a:r>
            <a:r>
              <a:rPr lang="es-ES" sz="1100" dirty="0">
                <a:solidFill>
                  <a:srgbClr val="FFFFFF"/>
                </a:solidFill>
                <a:cs typeface="Calibri"/>
              </a:rPr>
              <a:t>2025; </a:t>
            </a:r>
            <a:r>
              <a:rPr lang="es-ES" sz="1100" spc="-5" dirty="0">
                <a:solidFill>
                  <a:srgbClr val="FFFFFF"/>
                </a:solidFill>
                <a:cs typeface="Calibri"/>
              </a:rPr>
              <a:t>p&lt;0.001 </a:t>
            </a:r>
            <a:r>
              <a:rPr lang="es-ES" sz="1100" dirty="0">
                <a:solidFill>
                  <a:srgbClr val="FFFFFF"/>
                </a:solidFill>
                <a:cs typeface="Calibri"/>
              </a:rPr>
              <a:t>en todos los</a:t>
            </a:r>
            <a:r>
              <a:rPr lang="es-ES" sz="1100" spc="-5" dirty="0">
                <a:solidFill>
                  <a:srgbClr val="FFFFFF"/>
                </a:solidFill>
                <a:cs typeface="Calibri"/>
              </a:rPr>
              <a:t> cortes).</a:t>
            </a:r>
            <a:endParaRPr lang="es-ES" sz="1100" dirty="0">
              <a:cs typeface="Calibri"/>
            </a:endParaRPr>
          </a:p>
          <a:p>
            <a:pPr marL="228600" lvl="0" indent="-228600" algn="just">
              <a:buFont typeface="+mj-lt"/>
              <a:buAutoNum type="arabicPeriod"/>
            </a:pPr>
            <a:endParaRPr lang="es-ES" sz="1200" dirty="0">
              <a:solidFill>
                <a:schemeClr val="bg1"/>
              </a:solidFill>
            </a:endParaRPr>
          </a:p>
          <a:p>
            <a:pPr marL="228600" lvl="0" indent="-228600" algn="just">
              <a:buFont typeface="+mj-lt"/>
              <a:buAutoNum type="arabicPeriod"/>
            </a:pPr>
            <a:endParaRPr lang="es-CL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1884" y="1081020"/>
            <a:ext cx="10599166" cy="5776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14269" y="200990"/>
            <a:ext cx="634365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Bloque III </a:t>
            </a:r>
            <a:r>
              <a:rPr spc="5" dirty="0"/>
              <a:t>— </a:t>
            </a:r>
            <a:r>
              <a:rPr lang="es-CL" spc="5" dirty="0"/>
              <a:t>Muestra </a:t>
            </a:r>
            <a:r>
              <a:rPr dirty="0"/>
              <a:t>de Grupos: </a:t>
            </a:r>
            <a:r>
              <a:rPr spc="-10" dirty="0"/>
              <a:t>Rendimiento</a:t>
            </a:r>
            <a:r>
              <a:rPr spc="-35" dirty="0"/>
              <a:t> </a:t>
            </a:r>
            <a:r>
              <a:rPr spc="-5" dirty="0"/>
              <a:t>Académico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5240" y="830326"/>
            <a:ext cx="8487360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i="1" dirty="0">
                <a:solidFill>
                  <a:schemeClr val="bg1"/>
                </a:solidFill>
                <a:latin typeface="Calibri"/>
                <a:cs typeface="Calibri"/>
              </a:rPr>
              <a:t>Tratamiento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 B3: 316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Aptos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P3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(SAT válido baseline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y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resultado)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·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Control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B3: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docentes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sin</a:t>
            </a:r>
            <a:r>
              <a:rPr sz="1000" i="1" spc="14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formación con datos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de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notas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y SAT · Universo base 1.144</a:t>
            </a:r>
            <a:endParaRPr sz="10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50719" y="1247013"/>
            <a:ext cx="67373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Distribución Jornada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vs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Honorario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Tratamiento: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215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Jornada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(68%) + 101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Honorario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(32%) ·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Control: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120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Jornada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(40%) + 180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Honorario</a:t>
            </a:r>
            <a:r>
              <a:rPr sz="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(60%)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3132" y="5658103"/>
            <a:ext cx="8589468" cy="539891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4965" indent="-342900" algn="just">
              <a:lnSpc>
                <a:spcPct val="100000"/>
              </a:lnSpc>
              <a:spcBef>
                <a:spcPts val="5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El Tratamiento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B3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(316 Aptos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P3) se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compone de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215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docentes Jornada (68%)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y 101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Honorarios</a:t>
            </a:r>
            <a:r>
              <a:rPr sz="1300" b="1" spc="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(32%).</a:t>
            </a:r>
            <a:endParaRPr sz="1300" b="1" dirty="0">
              <a:latin typeface="Calibri"/>
              <a:cs typeface="Calibri"/>
            </a:endParaRPr>
          </a:p>
          <a:p>
            <a:pPr marL="354965" indent="-342900" algn="just">
              <a:lnSpc>
                <a:spcPct val="100000"/>
              </a:lnSpc>
              <a:spcBef>
                <a:spcPts val="4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El Control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B3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(300 docentes) incluye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120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Jornada (40%)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y 180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Honorarios</a:t>
            </a:r>
            <a:r>
              <a:rPr sz="1300" b="1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(60%).</a:t>
            </a:r>
            <a:endParaRPr sz="13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199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93645" y="204343"/>
            <a:ext cx="7185659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/>
              <a:t>Bloque III — </a:t>
            </a:r>
            <a:r>
              <a:rPr sz="1700" spc="-10" dirty="0"/>
              <a:t>Perfil Demográfico: </a:t>
            </a:r>
            <a:r>
              <a:rPr sz="1700" spc="-5" dirty="0"/>
              <a:t>Formados vs </a:t>
            </a:r>
            <a:r>
              <a:rPr sz="1700" spc="-10" dirty="0"/>
              <a:t>Control </a:t>
            </a:r>
            <a:r>
              <a:rPr sz="1700" spc="-5" dirty="0"/>
              <a:t>(Rendimiento</a:t>
            </a:r>
            <a:r>
              <a:rPr sz="1700" spc="-80" dirty="0"/>
              <a:t> </a:t>
            </a:r>
            <a:r>
              <a:rPr sz="1700" spc="-5" dirty="0"/>
              <a:t>Académico)</a:t>
            </a:r>
            <a:endParaRPr sz="1700" dirty="0"/>
          </a:p>
        </p:txBody>
      </p:sp>
      <p:sp>
        <p:nvSpPr>
          <p:cNvPr id="4" name="object 4"/>
          <p:cNvSpPr txBox="1"/>
          <p:nvPr/>
        </p:nvSpPr>
        <p:spPr>
          <a:xfrm>
            <a:off x="865428" y="872109"/>
            <a:ext cx="4392372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i="1" spc="-5" dirty="0">
                <a:solidFill>
                  <a:schemeClr val="bg1"/>
                </a:solidFill>
                <a:latin typeface="Calibri"/>
                <a:cs typeface="Calibri"/>
              </a:rPr>
              <a:t>Formados Aptos </a:t>
            </a:r>
            <a:r>
              <a:rPr sz="1000" b="1" i="1" dirty="0">
                <a:solidFill>
                  <a:schemeClr val="bg1"/>
                </a:solidFill>
                <a:latin typeface="Calibri"/>
                <a:cs typeface="Calibri"/>
              </a:rPr>
              <a:t>P3: </a:t>
            </a:r>
            <a:r>
              <a:rPr lang="es-CL" sz="1000" b="1" i="1" dirty="0">
                <a:solidFill>
                  <a:schemeClr val="bg1"/>
                </a:solidFill>
                <a:latin typeface="Calibri"/>
                <a:cs typeface="Calibri"/>
              </a:rPr>
              <a:t>N</a:t>
            </a:r>
            <a:r>
              <a:rPr sz="1000" b="1" i="1" dirty="0">
                <a:solidFill>
                  <a:schemeClr val="bg1"/>
                </a:solidFill>
                <a:latin typeface="Calibri"/>
                <a:cs typeface="Calibri"/>
              </a:rPr>
              <a:t>º 316 · Grupo </a:t>
            </a:r>
            <a:r>
              <a:rPr sz="1000" b="1" i="1" spc="-5" dirty="0">
                <a:solidFill>
                  <a:schemeClr val="bg1"/>
                </a:solidFill>
                <a:latin typeface="Calibri"/>
                <a:cs typeface="Calibri"/>
              </a:rPr>
              <a:t>Control </a:t>
            </a:r>
            <a:r>
              <a:rPr sz="1000" b="1" i="1" dirty="0">
                <a:solidFill>
                  <a:schemeClr val="bg1"/>
                </a:solidFill>
                <a:latin typeface="Calibri"/>
                <a:cs typeface="Calibri"/>
              </a:rPr>
              <a:t>sin </a:t>
            </a:r>
            <a:r>
              <a:rPr sz="1000" b="1" i="1" spc="-5" dirty="0">
                <a:solidFill>
                  <a:schemeClr val="bg1"/>
                </a:solidFill>
                <a:latin typeface="Calibri"/>
                <a:cs typeface="Calibri"/>
              </a:rPr>
              <a:t>formación: </a:t>
            </a:r>
            <a:r>
              <a:rPr lang="es-CL" sz="1000" b="1" i="1" spc="-5" dirty="0">
                <a:solidFill>
                  <a:schemeClr val="bg1"/>
                </a:solidFill>
                <a:latin typeface="Calibri"/>
                <a:cs typeface="Calibri"/>
              </a:rPr>
              <a:t>N</a:t>
            </a:r>
            <a:r>
              <a:rPr sz="1000" b="1" i="1" dirty="0">
                <a:solidFill>
                  <a:schemeClr val="bg1"/>
                </a:solidFill>
                <a:latin typeface="Calibri"/>
                <a:cs typeface="Calibri"/>
              </a:rPr>
              <a:t>º</a:t>
            </a:r>
            <a:r>
              <a:rPr sz="1000" b="1" i="1" spc="4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b="1" i="1" dirty="0">
                <a:solidFill>
                  <a:schemeClr val="bg1"/>
                </a:solidFill>
                <a:latin typeface="Calibri"/>
                <a:cs typeface="Calibri"/>
              </a:rPr>
              <a:t>300</a:t>
            </a:r>
            <a:endParaRPr sz="10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6149" y="5181600"/>
            <a:ext cx="10280650" cy="8778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900" algn="just">
              <a:lnSpc>
                <a:spcPct val="100000"/>
              </a:lnSpc>
              <a:spcBef>
                <a:spcPts val="105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Jerarquía: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'Asoc. Docente'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tiene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la </a:t>
            </a:r>
            <a:r>
              <a:rPr lang="es-ES" sz="1300" b="1" dirty="0">
                <a:solidFill>
                  <a:schemeClr val="bg1"/>
                </a:solidFill>
                <a:latin typeface="Calibri"/>
                <a:cs typeface="Calibri"/>
              </a:rPr>
              <a:t>mayor </a:t>
            </a:r>
            <a:r>
              <a:rPr lang="es-ES" sz="1300" b="1" spc="-5" dirty="0">
                <a:solidFill>
                  <a:schemeClr val="bg1"/>
                </a:solidFill>
                <a:latin typeface="Calibri"/>
                <a:cs typeface="Calibri"/>
              </a:rPr>
              <a:t>diferencia entre grupos (+7 </a:t>
            </a:r>
            <a:r>
              <a:rPr lang="es-ES" sz="1300" b="1" spc="-5" dirty="0" err="1">
                <a:solidFill>
                  <a:schemeClr val="bg1"/>
                </a:solidFill>
                <a:latin typeface="Calibri"/>
                <a:cs typeface="Calibri"/>
              </a:rPr>
              <a:t>pp</a:t>
            </a:r>
            <a:r>
              <a:rPr lang="es-ES" sz="1300" b="1" spc="-5" dirty="0">
                <a:solidFill>
                  <a:schemeClr val="bg1"/>
                </a:solidFill>
                <a:latin typeface="Calibri"/>
                <a:cs typeface="Calibri"/>
              </a:rPr>
              <a:t>). Las barras </a:t>
            </a:r>
            <a:r>
              <a:rPr lang="es-ES" sz="1300" b="1" dirty="0">
                <a:solidFill>
                  <a:schemeClr val="bg1"/>
                </a:solidFill>
                <a:latin typeface="Calibri"/>
                <a:cs typeface="Calibri"/>
              </a:rPr>
              <a:t>muestran % </a:t>
            </a:r>
            <a:r>
              <a:rPr lang="es-ES" sz="1300" b="1" spc="-5" dirty="0">
                <a:solidFill>
                  <a:schemeClr val="bg1"/>
                </a:solidFill>
                <a:latin typeface="Calibri"/>
                <a:cs typeface="Calibri"/>
              </a:rPr>
              <a:t>dentro de cada grupo </a:t>
            </a:r>
            <a:r>
              <a:rPr lang="es-ES" sz="1300" b="1" dirty="0">
                <a:solidFill>
                  <a:schemeClr val="bg1"/>
                </a:solidFill>
                <a:latin typeface="Calibri"/>
                <a:cs typeface="Calibri"/>
              </a:rPr>
              <a:t>— </a:t>
            </a:r>
            <a:r>
              <a:rPr lang="es-ES" sz="1300" b="1" spc="-5" dirty="0">
                <a:solidFill>
                  <a:schemeClr val="bg1"/>
                </a:solidFill>
                <a:latin typeface="Calibri"/>
                <a:cs typeface="Calibri"/>
              </a:rPr>
              <a:t>no </a:t>
            </a:r>
            <a:r>
              <a:rPr lang="es-ES" sz="1300" b="1" dirty="0">
                <a:solidFill>
                  <a:schemeClr val="bg1"/>
                </a:solidFill>
                <a:latin typeface="Calibri"/>
                <a:cs typeface="Calibri"/>
              </a:rPr>
              <a:t>volumen </a:t>
            </a:r>
            <a:r>
              <a:rPr lang="es-ES" sz="1300" b="1" spc="-5" dirty="0">
                <a:solidFill>
                  <a:schemeClr val="bg1"/>
                </a:solidFill>
                <a:latin typeface="Calibri"/>
                <a:cs typeface="Calibri"/>
              </a:rPr>
              <a:t>absoluto </a:t>
            </a:r>
            <a:r>
              <a:rPr lang="es-ES" sz="1300" b="1" dirty="0">
                <a:solidFill>
                  <a:schemeClr val="bg1"/>
                </a:solidFill>
                <a:latin typeface="Calibri"/>
                <a:cs typeface="Calibri"/>
              </a:rPr>
              <a:t>— </a:t>
            </a:r>
            <a:r>
              <a:rPr lang="es-ES" sz="1300" b="1" spc="-5" dirty="0">
                <a:solidFill>
                  <a:schemeClr val="bg1"/>
                </a:solidFill>
                <a:latin typeface="Calibri"/>
                <a:cs typeface="Calibri"/>
              </a:rPr>
              <a:t>para </a:t>
            </a:r>
            <a:r>
              <a:rPr lang="es-ES" sz="1300" b="1" dirty="0">
                <a:solidFill>
                  <a:schemeClr val="bg1"/>
                </a:solidFill>
                <a:latin typeface="Calibri"/>
                <a:cs typeface="Calibri"/>
              </a:rPr>
              <a:t>hacer</a:t>
            </a:r>
            <a:r>
              <a:rPr lang="es-ES" sz="1300" b="1" spc="16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s-ES" sz="1300" b="1" dirty="0">
                <a:solidFill>
                  <a:schemeClr val="bg1"/>
                </a:solidFill>
                <a:latin typeface="Calibri"/>
                <a:cs typeface="Calibri"/>
              </a:rPr>
              <a:t>comparables </a:t>
            </a:r>
            <a:r>
              <a:rPr lang="es-ES" sz="1300" b="1" spc="-5" dirty="0">
                <a:solidFill>
                  <a:schemeClr val="bg1"/>
                </a:solidFill>
                <a:latin typeface="Calibri"/>
                <a:cs typeface="Calibri"/>
              </a:rPr>
              <a:t>grupos de distinto</a:t>
            </a:r>
            <a:r>
              <a:rPr lang="es-ES" sz="1300" b="1" spc="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s-ES" sz="1300" b="1" dirty="0">
                <a:solidFill>
                  <a:schemeClr val="bg1"/>
                </a:solidFill>
                <a:latin typeface="Calibri"/>
                <a:cs typeface="Calibri"/>
              </a:rPr>
              <a:t>tamaño.</a:t>
            </a:r>
          </a:p>
          <a:p>
            <a:pPr marL="354965" indent="-342900" algn="just">
              <a:lnSpc>
                <a:spcPct val="100000"/>
              </a:lnSpc>
              <a:spcBef>
                <a:spcPts val="495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Edad: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'45–54' es el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tramo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más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diferenciado (-13 </a:t>
            </a:r>
            <a:r>
              <a:rPr sz="1300" b="1" spc="-10" dirty="0">
                <a:solidFill>
                  <a:schemeClr val="bg1"/>
                </a:solidFill>
                <a:latin typeface="Calibri"/>
                <a:cs typeface="Calibri"/>
              </a:rPr>
              <a:t>pp).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Si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los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grupos difieren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en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composición, parte de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la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brecha de aprobación puede deberse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a eso y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no </a:t>
            </a:r>
            <a:r>
              <a:rPr sz="1300" b="1" dirty="0">
                <a:solidFill>
                  <a:schemeClr val="bg1"/>
                </a:solidFill>
                <a:latin typeface="Calibri"/>
                <a:cs typeface="Calibri"/>
              </a:rPr>
              <a:t>solo a la</a:t>
            </a:r>
            <a:r>
              <a:rPr sz="1300" b="1" spc="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Calibri"/>
                <a:cs typeface="Calibri"/>
              </a:rPr>
              <a:t>formación.</a:t>
            </a:r>
            <a:endParaRPr sz="13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8491" y="585487"/>
            <a:ext cx="9786620" cy="55049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601" y="236536"/>
            <a:ext cx="1005840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L" dirty="0"/>
              <a:t>Bloque III — </a:t>
            </a:r>
            <a:r>
              <a:rPr spc="-5" dirty="0" err="1"/>
              <a:t>Incidencia</a:t>
            </a:r>
            <a:r>
              <a:rPr spc="-5" dirty="0"/>
              <a:t> </a:t>
            </a:r>
            <a:r>
              <a:rPr lang="es-CL" spc="-5" dirty="0"/>
              <a:t>del Plan de Formación </a:t>
            </a:r>
            <a:r>
              <a:rPr dirty="0" err="1"/>
              <a:t>en</a:t>
            </a:r>
            <a:r>
              <a:rPr dirty="0"/>
              <a:t> </a:t>
            </a:r>
            <a:r>
              <a:rPr spc="-5" dirty="0"/>
              <a:t>el </a:t>
            </a:r>
            <a:r>
              <a:rPr spc="-10" dirty="0"/>
              <a:t>Rendimiento </a:t>
            </a:r>
            <a:r>
              <a:rPr spc="-5" dirty="0"/>
              <a:t>Académico </a:t>
            </a:r>
            <a:r>
              <a:rPr dirty="0"/>
              <a:t>de </a:t>
            </a:r>
            <a:r>
              <a:rPr lang="es-CL" dirty="0"/>
              <a:t>Estudiantes 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865428" y="872109"/>
            <a:ext cx="5992572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Aptos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P3: 316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docentes con SAT valido baseline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y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resultado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·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Control: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300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docentes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sin</a:t>
            </a:r>
            <a:r>
              <a:rPr sz="1000" i="1" spc="9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formacion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· 2023–2025</a:t>
            </a:r>
            <a:endParaRPr sz="10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7800" y="5029200"/>
            <a:ext cx="8587105" cy="786113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40665" indent="-228600" algn="just">
              <a:lnSpc>
                <a:spcPct val="100000"/>
              </a:lnSpc>
              <a:spcBef>
                <a:spcPts val="5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Los Aptos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P3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obtienen mayor rendimiento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academico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de alumnos (89.5%) que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el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grupo control (87.6%). Diferencia: +1.9 puntos</a:t>
            </a:r>
            <a:r>
              <a:rPr sz="14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porcentuales.</a:t>
            </a:r>
            <a:endParaRPr sz="1400" b="1" dirty="0">
              <a:latin typeface="Calibri"/>
              <a:cs typeface="Calibri"/>
            </a:endParaRPr>
          </a:p>
          <a:p>
            <a:pPr marL="240665" indent="-228600" algn="just">
              <a:lnSpc>
                <a:spcPct val="100000"/>
              </a:lnSpc>
              <a:spcBef>
                <a:spcPts val="4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La nota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promedio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 de alumnos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tambien es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mayor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en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Aptos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P3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(5.30)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vs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control (5.22). Diferencia: +0.08</a:t>
            </a:r>
            <a:r>
              <a:rPr sz="1400" b="1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puntos.</a:t>
            </a:r>
            <a:endParaRPr sz="14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5614" y="304907"/>
            <a:ext cx="10640772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CL" sz="2000" dirty="0">
                <a:solidFill>
                  <a:schemeClr val="bg1"/>
                </a:solidFill>
              </a:rPr>
              <a:t>Bloque III — </a:t>
            </a:r>
            <a:r>
              <a:rPr sz="2000" spc="-10" dirty="0" err="1">
                <a:solidFill>
                  <a:srgbClr val="FFFFFF"/>
                </a:solidFill>
                <a:latin typeface="Calibri"/>
                <a:cs typeface="Calibri"/>
              </a:rPr>
              <a:t>Correlación</a:t>
            </a:r>
            <a:r>
              <a:rPr sz="2000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Satisfacción</a:t>
            </a:r>
            <a:r>
              <a:rPr sz="2000" spc="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Docente</a:t>
            </a:r>
            <a:r>
              <a:rPr sz="2000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Desempeño</a:t>
            </a:r>
            <a:r>
              <a:rPr sz="20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Académico</a:t>
            </a:r>
            <a:r>
              <a:rPr sz="2000" spc="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Estudiantes</a:t>
            </a:r>
            <a:r>
              <a:rPr sz="20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según</a:t>
            </a:r>
            <a:r>
              <a:rPr sz="20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Nota</a:t>
            </a:r>
            <a:r>
              <a:rPr sz="20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Promedio</a:t>
            </a:r>
            <a:r>
              <a:rPr sz="200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20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Año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5428" y="1066800"/>
            <a:ext cx="7897572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Universo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con evaluaciones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de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satisfacción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y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calificaciones disponibles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| 2023-01 a 2025-02 |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Cada punto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=</a:t>
            </a:r>
            <a:r>
              <a:rPr sz="1000" i="1" spc="114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1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sección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|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Aptos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P3: </a:t>
            </a:r>
            <a:r>
              <a:rPr lang="es-CL" sz="1000" i="1" dirty="0">
                <a:solidFill>
                  <a:schemeClr val="bg1"/>
                </a:solidFill>
                <a:latin typeface="Calibri"/>
                <a:cs typeface="Calibri"/>
              </a:rPr>
              <a:t>N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º 316</a:t>
            </a:r>
            <a:endParaRPr sz="10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5428" y="5443829"/>
            <a:ext cx="10337800" cy="8771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900" algn="just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Correlación positiva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y estadísticamente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significativa entre SAT docente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y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nota promedio de alumnos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en los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tres años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(r≈0.21 en 2023,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r≈0.3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en 2024,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r≈0.23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1300" b="1" spc="1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2025;</a:t>
            </a:r>
            <a:r>
              <a:rPr lang="es-CL" sz="13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p&lt;0.001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en todos los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 cortes).</a:t>
            </a:r>
            <a:endParaRPr sz="1300" b="1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495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Los Aptos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P3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(azul)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se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concentran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en la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región SAT mayor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 5 con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notas promedio superiores;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los sin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formación (naranja)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presentan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mayor dispersión hacia valores bajos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en 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ambas</a:t>
            </a:r>
            <a:r>
              <a:rPr sz="13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dimensiones.</a:t>
            </a:r>
            <a:endParaRPr sz="13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1398" y="648957"/>
            <a:ext cx="10458196" cy="58827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9414" y="278670"/>
            <a:ext cx="889266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L" dirty="0"/>
              <a:t>Bloque III — </a:t>
            </a:r>
            <a:r>
              <a:rPr spc="-5" dirty="0" err="1"/>
              <a:t>Incidencia</a:t>
            </a:r>
            <a:r>
              <a:rPr spc="-5" dirty="0"/>
              <a:t> </a:t>
            </a:r>
            <a:r>
              <a:rPr dirty="0"/>
              <a:t>del </a:t>
            </a:r>
            <a:r>
              <a:rPr spc="-5" dirty="0"/>
              <a:t>Plan </a:t>
            </a:r>
            <a:r>
              <a:rPr dirty="0"/>
              <a:t>de </a:t>
            </a:r>
            <a:r>
              <a:rPr spc="-5" dirty="0"/>
              <a:t>Formación </a:t>
            </a:r>
            <a:r>
              <a:rPr dirty="0"/>
              <a:t>en </a:t>
            </a:r>
            <a:r>
              <a:rPr spc="-5" dirty="0"/>
              <a:t>el </a:t>
            </a:r>
            <a:r>
              <a:rPr spc="-10" dirty="0"/>
              <a:t>Rendimiento</a:t>
            </a:r>
            <a:r>
              <a:rPr spc="-60" dirty="0"/>
              <a:t> </a:t>
            </a:r>
            <a:r>
              <a:rPr spc="-5" dirty="0"/>
              <a:t>Académico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5428" y="872108"/>
            <a:ext cx="8560638" cy="7829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Universo: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316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Aptos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P3 ·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SAT válido baseline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y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resultado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· vs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control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externo sin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formación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·</a:t>
            </a:r>
            <a:r>
              <a:rPr sz="1000" i="1" spc="1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2023–2025</a:t>
            </a:r>
            <a:endParaRPr sz="1000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00" dirty="0">
              <a:latin typeface="Calibri"/>
              <a:cs typeface="Calibri"/>
            </a:endParaRPr>
          </a:p>
          <a:p>
            <a:pPr marL="1597660">
              <a:lnSpc>
                <a:spcPct val="100000"/>
              </a:lnSpc>
            </a:pPr>
            <a:r>
              <a:rPr lang="es-CL" sz="900" dirty="0">
                <a:solidFill>
                  <a:srgbClr val="FFFFFF"/>
                </a:solidFill>
                <a:latin typeface="Calibri"/>
                <a:cs typeface="Calibri"/>
              </a:rPr>
              <a:t>                  </a:t>
            </a:r>
          </a:p>
          <a:p>
            <a:pPr marL="1597660">
              <a:lnSpc>
                <a:spcPct val="100000"/>
              </a:lnSpc>
            </a:pPr>
            <a:endParaRPr lang="es-CL" sz="9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1597660">
              <a:lnSpc>
                <a:spcPct val="100000"/>
              </a:lnSpc>
            </a:pPr>
            <a:r>
              <a:rPr lang="es-CL" sz="900" dirty="0">
                <a:solidFill>
                  <a:srgbClr val="FFFFFF"/>
                </a:solidFill>
                <a:latin typeface="Calibri"/>
                <a:cs typeface="Calibri"/>
              </a:rPr>
              <a:t>                   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%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rendimiento académico promedio por semestre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azul=Aptos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P3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(nº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316) ·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naranja=control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área verde=brecha</a:t>
            </a:r>
            <a:r>
              <a:rPr sz="900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positiva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2634" y="5290464"/>
            <a:ext cx="8767166" cy="539891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5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Los Aptos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P3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superan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al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control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en %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rendimiento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académico en la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mayoría de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los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períodos. Brecha promedio: +1.8</a:t>
            </a:r>
            <a:r>
              <a:rPr sz="1300" b="1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pp.</a:t>
            </a:r>
            <a:endParaRPr sz="1300" b="1" dirty="0">
              <a:latin typeface="Calibri"/>
              <a:cs typeface="Calibri"/>
            </a:endParaRPr>
          </a:p>
          <a:p>
            <a:pPr marL="240665" indent="-228600">
              <a:lnSpc>
                <a:spcPct val="100000"/>
              </a:lnSpc>
              <a:spcBef>
                <a:spcPts val="495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Los Aptos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P3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muestran rendimiento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académico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promedio de 89.4% vs 87.5% del control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 lo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largo del período de</a:t>
            </a:r>
            <a:r>
              <a:rPr sz="1300" b="1" spc="1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análisis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1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6670" y="879500"/>
            <a:ext cx="9983089" cy="56154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2165" y="386396"/>
            <a:ext cx="8883014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s-CL" dirty="0"/>
              <a:t>Bloque III — </a:t>
            </a:r>
            <a:r>
              <a:rPr spc="-10" dirty="0" err="1"/>
              <a:t>Rendimiento</a:t>
            </a:r>
            <a:r>
              <a:rPr spc="-10" dirty="0"/>
              <a:t> </a:t>
            </a:r>
            <a:r>
              <a:rPr spc="-5" dirty="0"/>
              <a:t>Académico </a:t>
            </a:r>
            <a:r>
              <a:rPr dirty="0"/>
              <a:t>por </a:t>
            </a:r>
            <a:r>
              <a:rPr spc="-15" dirty="0"/>
              <a:t>Facultad </a:t>
            </a:r>
            <a:r>
              <a:rPr spc="5" dirty="0"/>
              <a:t>— </a:t>
            </a:r>
            <a:r>
              <a:rPr spc="-5" dirty="0"/>
              <a:t>Formados </a:t>
            </a:r>
            <a:r>
              <a:rPr dirty="0"/>
              <a:t>vs</a:t>
            </a:r>
            <a:r>
              <a:rPr spc="-40" dirty="0"/>
              <a:t> </a:t>
            </a:r>
            <a:r>
              <a:rPr spc="-10" dirty="0"/>
              <a:t>Control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26166" y="1600200"/>
            <a:ext cx="49396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%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Rendimiento Académico promedio de alumnos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por Unidad/Facultad del docente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formados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900" spc="2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control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9268" y="5370982"/>
            <a:ext cx="8503285" cy="983603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40665" indent="-228600" algn="just">
              <a:lnSpc>
                <a:spcPct val="100000"/>
              </a:lnSpc>
              <a:spcBef>
                <a:spcPts val="5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En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mayoría de facultades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los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cursos de docentes formados muestran mayor rendimiento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académico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que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los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cursos del grupo</a:t>
            </a:r>
            <a:r>
              <a:rPr sz="1300" b="1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control.</a:t>
            </a:r>
            <a:endParaRPr sz="1300" b="1" dirty="0">
              <a:latin typeface="Calibri"/>
              <a:cs typeface="Calibri"/>
            </a:endParaRPr>
          </a:p>
          <a:p>
            <a:pPr marL="240665" indent="-228600" algn="just">
              <a:spcBef>
                <a:spcPts val="5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lang="es-CL" sz="1300" b="1" spc="-5" dirty="0">
                <a:solidFill>
                  <a:srgbClr val="FFFFFF"/>
                </a:solidFill>
                <a:latin typeface="Calibri"/>
                <a:cs typeface="Calibri"/>
              </a:rPr>
              <a:t>La consolidación de la política formativa genera diferencias de rendimiento más significativas en las unidades con mayor densidad de docentes formados. </a:t>
            </a:r>
            <a:endParaRPr sz="1300" b="1" spc="-5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1380" y="710984"/>
            <a:ext cx="10599166" cy="59620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46629" y="202514"/>
            <a:ext cx="66782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/>
              <a:t>Bloque III — </a:t>
            </a:r>
            <a:r>
              <a:rPr sz="1800" spc="-10" dirty="0"/>
              <a:t>Evolución </a:t>
            </a:r>
            <a:r>
              <a:rPr sz="1800" spc="-5" dirty="0"/>
              <a:t>Nota Promedio Alumnos </a:t>
            </a:r>
            <a:r>
              <a:rPr sz="1800" dirty="0"/>
              <a:t>— </a:t>
            </a:r>
            <a:r>
              <a:rPr sz="1800" spc="-5" dirty="0"/>
              <a:t>Aptos P3 vs</a:t>
            </a:r>
            <a:r>
              <a:rPr sz="1800" spc="-120" dirty="0"/>
              <a:t> </a:t>
            </a:r>
            <a:r>
              <a:rPr sz="1800" spc="-10" dirty="0"/>
              <a:t>Control</a:t>
            </a:r>
            <a:endParaRPr sz="1800" dirty="0"/>
          </a:p>
        </p:txBody>
      </p:sp>
      <p:sp>
        <p:nvSpPr>
          <p:cNvPr id="4" name="object 4"/>
          <p:cNvSpPr txBox="1"/>
          <p:nvPr/>
        </p:nvSpPr>
        <p:spPr>
          <a:xfrm>
            <a:off x="865428" y="872109"/>
            <a:ext cx="876236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Aptos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P3: nº 314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con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dato de nota ·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Control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B3: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nº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300 ·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Líneas individuales por docente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+ media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grupal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·</a:t>
            </a:r>
            <a:r>
              <a:rPr sz="1000" i="1" spc="14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2023–2025</a:t>
            </a:r>
            <a:endParaRPr sz="1000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00" dirty="0">
              <a:latin typeface="Calibri"/>
              <a:cs typeface="Calibri"/>
            </a:endParaRPr>
          </a:p>
          <a:p>
            <a:pPr marL="987425">
              <a:lnSpc>
                <a:spcPct val="100000"/>
              </a:lnSpc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Nota promedio de alumnos por semestre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Aptos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P3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(azul, </a:t>
            </a:r>
            <a:r>
              <a:rPr lang="es-CL" sz="9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º </a:t>
            </a:r>
            <a:r>
              <a:rPr lang="es-CL" sz="900" spc="-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314) ·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Control sin formacion (naranja, </a:t>
            </a:r>
            <a:r>
              <a:rPr lang="es-CL" sz="9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º </a:t>
            </a:r>
            <a:r>
              <a:rPr lang="es-CL" sz="900" spc="-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300) ·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media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calculada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sobre secciones agregadas por</a:t>
            </a:r>
            <a:r>
              <a:rPr sz="900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docente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9268" y="5290921"/>
            <a:ext cx="9961245" cy="940001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40665" indent="-228600" algn="just">
              <a:lnSpc>
                <a:spcPct val="100000"/>
              </a:lnSpc>
              <a:spcBef>
                <a:spcPts val="5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Los Aptos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P3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(linea azul) mantienen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una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nota promedio de alumnos consistentemente superior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 la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del grupo control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 lo </a:t>
            </a:r>
            <a:r>
              <a:rPr sz="1300" b="1" spc="5" dirty="0">
                <a:solidFill>
                  <a:srgbClr val="FFFFFF"/>
                </a:solidFill>
                <a:latin typeface="Calibri"/>
                <a:cs typeface="Calibri"/>
              </a:rPr>
              <a:t>largo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los 6</a:t>
            </a:r>
            <a:r>
              <a:rPr sz="1300" b="1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semestres.</a:t>
            </a:r>
            <a:endParaRPr sz="1300" b="1" dirty="0">
              <a:latin typeface="Calibri"/>
              <a:cs typeface="Calibri"/>
            </a:endParaRPr>
          </a:p>
          <a:p>
            <a:pPr marL="241300" marR="5080" indent="-228600" algn="just">
              <a:lnSpc>
                <a:spcPct val="100000"/>
              </a:lnSpc>
              <a:spcBef>
                <a:spcPts val="4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La dispersion individual (lineas finas) muestra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alta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variabilidad dentro de cada grupo, pero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la media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grupal permite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comparar la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tendencia central entre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tratamiento y 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control.</a:t>
            </a:r>
            <a:endParaRPr sz="13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4792" y="202514"/>
            <a:ext cx="709993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/>
              <a:t>Bloque IV —</a:t>
            </a:r>
            <a:r>
              <a:rPr sz="1800" spc="-10" dirty="0" err="1"/>
              <a:t>Evaluación</a:t>
            </a:r>
            <a:r>
              <a:rPr sz="1800" spc="-10" dirty="0"/>
              <a:t> </a:t>
            </a:r>
            <a:r>
              <a:rPr sz="1800" dirty="0"/>
              <a:t>de </a:t>
            </a:r>
            <a:r>
              <a:rPr sz="1800" spc="-5" dirty="0"/>
              <a:t>Desempeño </a:t>
            </a:r>
            <a:r>
              <a:rPr sz="1800" spc="-10" dirty="0"/>
              <a:t>Docente</a:t>
            </a:r>
            <a:r>
              <a:rPr sz="1800" spc="-175" dirty="0"/>
              <a:t> </a:t>
            </a:r>
            <a:r>
              <a:rPr sz="1800" dirty="0"/>
              <a:t>(EDD)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70916" y="2046477"/>
            <a:ext cx="10690860" cy="4194812"/>
            <a:chOff x="603504" y="1999488"/>
            <a:chExt cx="10690860" cy="2901950"/>
          </a:xfrm>
        </p:grpSpPr>
        <p:sp>
          <p:nvSpPr>
            <p:cNvPr id="4" name="object 4"/>
            <p:cNvSpPr/>
            <p:nvPr/>
          </p:nvSpPr>
          <p:spPr>
            <a:xfrm>
              <a:off x="603504" y="1999488"/>
              <a:ext cx="10690860" cy="29016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51586" y="2025269"/>
              <a:ext cx="10599420" cy="2809240"/>
            </a:xfrm>
            <a:custGeom>
              <a:avLst/>
              <a:gdLst/>
              <a:ahLst/>
              <a:cxnLst/>
              <a:rect l="l" t="t" r="r" b="b"/>
              <a:pathLst>
                <a:path w="10599420" h="2809240">
                  <a:moveTo>
                    <a:pt x="10599166" y="0"/>
                  </a:moveTo>
                  <a:lnTo>
                    <a:pt x="0" y="0"/>
                  </a:lnTo>
                  <a:lnTo>
                    <a:pt x="0" y="2809112"/>
                  </a:lnTo>
                  <a:lnTo>
                    <a:pt x="10599166" y="2809112"/>
                  </a:lnTo>
                  <a:lnTo>
                    <a:pt x="10599166" y="0"/>
                  </a:lnTo>
                  <a:close/>
                </a:path>
              </a:pathLst>
            </a:custGeom>
            <a:solidFill>
              <a:srgbClr val="001C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1586" y="2025269"/>
              <a:ext cx="10599420" cy="2809240"/>
            </a:xfrm>
            <a:custGeom>
              <a:avLst/>
              <a:gdLst/>
              <a:ahLst/>
              <a:cxnLst/>
              <a:rect l="l" t="t" r="r" b="b"/>
              <a:pathLst>
                <a:path w="10599420" h="2809240">
                  <a:moveTo>
                    <a:pt x="0" y="2809112"/>
                  </a:moveTo>
                  <a:lnTo>
                    <a:pt x="10599166" y="2809112"/>
                  </a:lnTo>
                  <a:lnTo>
                    <a:pt x="10599166" y="0"/>
                  </a:lnTo>
                  <a:lnTo>
                    <a:pt x="0" y="0"/>
                  </a:lnTo>
                  <a:lnTo>
                    <a:pt x="0" y="2809112"/>
                  </a:lnTo>
                  <a:close/>
                </a:path>
              </a:pathLst>
            </a:custGeom>
            <a:ln w="11999">
              <a:solidFill>
                <a:srgbClr val="1E5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176526" y="2046477"/>
            <a:ext cx="6711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ni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er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so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43712" y="2394215"/>
            <a:ext cx="10410825" cy="99060"/>
            <a:chOff x="743712" y="2394215"/>
            <a:chExt cx="10410825" cy="99060"/>
          </a:xfrm>
        </p:grpSpPr>
        <p:sp>
          <p:nvSpPr>
            <p:cNvPr id="9" name="object 9"/>
            <p:cNvSpPr/>
            <p:nvPr/>
          </p:nvSpPr>
          <p:spPr>
            <a:xfrm>
              <a:off x="743712" y="2394215"/>
              <a:ext cx="3424428" cy="9892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6587" y="2413542"/>
              <a:ext cx="3343275" cy="18415"/>
            </a:xfrm>
            <a:custGeom>
              <a:avLst/>
              <a:gdLst/>
              <a:ahLst/>
              <a:cxnLst/>
              <a:rect l="l" t="t" r="r" b="b"/>
              <a:pathLst>
                <a:path w="3343275" h="18414">
                  <a:moveTo>
                    <a:pt x="3343021" y="0"/>
                  </a:moveTo>
                  <a:lnTo>
                    <a:pt x="0" y="0"/>
                  </a:lnTo>
                  <a:lnTo>
                    <a:pt x="0" y="17999"/>
                  </a:lnTo>
                  <a:lnTo>
                    <a:pt x="3343021" y="17999"/>
                  </a:lnTo>
                  <a:lnTo>
                    <a:pt x="3343021" y="0"/>
                  </a:lnTo>
                  <a:close/>
                </a:path>
              </a:pathLst>
            </a:custGeom>
            <a:solidFill>
              <a:srgbClr val="1E5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236720" y="2394215"/>
              <a:ext cx="3424428" cy="9892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79646" y="2413542"/>
              <a:ext cx="3343275" cy="18415"/>
            </a:xfrm>
            <a:custGeom>
              <a:avLst/>
              <a:gdLst/>
              <a:ahLst/>
              <a:cxnLst/>
              <a:rect l="l" t="t" r="r" b="b"/>
              <a:pathLst>
                <a:path w="3343275" h="18414">
                  <a:moveTo>
                    <a:pt x="3343021" y="0"/>
                  </a:moveTo>
                  <a:lnTo>
                    <a:pt x="0" y="0"/>
                  </a:lnTo>
                  <a:lnTo>
                    <a:pt x="0" y="17999"/>
                  </a:lnTo>
                  <a:lnTo>
                    <a:pt x="3343021" y="17999"/>
                  </a:lnTo>
                  <a:lnTo>
                    <a:pt x="3343021" y="0"/>
                  </a:lnTo>
                  <a:close/>
                </a:path>
              </a:pathLst>
            </a:custGeom>
            <a:solidFill>
              <a:srgbClr val="1E5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29728" y="2394215"/>
              <a:ext cx="3424428" cy="9892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772654" y="2413542"/>
              <a:ext cx="3343275" cy="18415"/>
            </a:xfrm>
            <a:custGeom>
              <a:avLst/>
              <a:gdLst/>
              <a:ahLst/>
              <a:cxnLst/>
              <a:rect l="l" t="t" r="r" b="b"/>
              <a:pathLst>
                <a:path w="3343275" h="18414">
                  <a:moveTo>
                    <a:pt x="3343021" y="0"/>
                  </a:moveTo>
                  <a:lnTo>
                    <a:pt x="0" y="0"/>
                  </a:lnTo>
                  <a:lnTo>
                    <a:pt x="0" y="17999"/>
                  </a:lnTo>
                  <a:lnTo>
                    <a:pt x="3343021" y="17999"/>
                  </a:lnTo>
                  <a:lnTo>
                    <a:pt x="3343021" y="0"/>
                  </a:lnTo>
                  <a:close/>
                </a:path>
              </a:pathLst>
            </a:custGeom>
            <a:solidFill>
              <a:srgbClr val="1E50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727191" y="2046477"/>
            <a:ext cx="46100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Índice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19601" y="2592451"/>
            <a:ext cx="3048000" cy="1910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 indent="-2286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r>
              <a:rPr sz="1200" spc="-5" dirty="0">
                <a:solidFill>
                  <a:schemeClr val="bg1"/>
                </a:solidFill>
                <a:latin typeface="Calibri"/>
                <a:cs typeface="Calibri"/>
              </a:rPr>
              <a:t>(D</a:t>
            </a:r>
            <a:r>
              <a:rPr lang="es-CL" sz="1200" spc="-5" dirty="0">
                <a:solidFill>
                  <a:schemeClr val="bg1"/>
                </a:solidFill>
                <a:latin typeface="Calibri"/>
                <a:cs typeface="Calibri"/>
              </a:rPr>
              <a:t>31</a:t>
            </a:r>
            <a:r>
              <a:rPr sz="1200" spc="-5" dirty="0">
                <a:solidFill>
                  <a:schemeClr val="bg1"/>
                </a:solidFill>
                <a:latin typeface="Calibri"/>
                <a:cs typeface="Calibri"/>
              </a:rPr>
              <a:t>) </a:t>
            </a:r>
            <a:r>
              <a:rPr sz="1200" dirty="0">
                <a:solidFill>
                  <a:schemeClr val="bg1"/>
                </a:solidFill>
                <a:latin typeface="Calibri"/>
                <a:cs typeface="Calibri"/>
              </a:rPr>
              <a:t>- </a:t>
            </a:r>
            <a:r>
              <a:rPr lang="es-ES" sz="1200" spc="5" dirty="0">
                <a:solidFill>
                  <a:schemeClr val="bg1"/>
                </a:solidFill>
              </a:rPr>
              <a:t>Muestra </a:t>
            </a:r>
            <a:r>
              <a:rPr lang="es-ES" sz="1200" dirty="0">
                <a:solidFill>
                  <a:schemeClr val="bg1"/>
                </a:solidFill>
              </a:rPr>
              <a:t>de Grupos: </a:t>
            </a:r>
            <a:r>
              <a:rPr lang="es-ES" sz="1200" spc="-10" dirty="0">
                <a:solidFill>
                  <a:schemeClr val="bg1"/>
                </a:solidFill>
              </a:rPr>
              <a:t>Evaluación </a:t>
            </a:r>
            <a:r>
              <a:rPr lang="es-ES" sz="1200" dirty="0">
                <a:solidFill>
                  <a:schemeClr val="bg1"/>
                </a:solidFill>
              </a:rPr>
              <a:t>de </a:t>
            </a:r>
            <a:r>
              <a:rPr lang="es-ES" sz="1200" spc="-5" dirty="0">
                <a:solidFill>
                  <a:schemeClr val="bg1"/>
                </a:solidFill>
              </a:rPr>
              <a:t>Desempeño</a:t>
            </a:r>
            <a:r>
              <a:rPr lang="es-ES" sz="1200" spc="-35" dirty="0">
                <a:solidFill>
                  <a:schemeClr val="bg1"/>
                </a:solidFill>
              </a:rPr>
              <a:t> </a:t>
            </a:r>
            <a:r>
              <a:rPr lang="es-ES" sz="1200" spc="-10" dirty="0">
                <a:solidFill>
                  <a:schemeClr val="bg1"/>
                </a:solidFill>
              </a:rPr>
              <a:t>Docente (EDD)</a:t>
            </a:r>
            <a:r>
              <a:rPr lang="es-CL" sz="1200" dirty="0">
                <a:solidFill>
                  <a:srgbClr val="FFFFFF"/>
                </a:solidFill>
                <a:cs typeface="Calibri"/>
              </a:rPr>
              <a:t> </a:t>
            </a:r>
          </a:p>
          <a:p>
            <a:pPr marL="228600" indent="-2286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es-CL" sz="1200" dirty="0">
                <a:solidFill>
                  <a:srgbClr val="FFFFFF"/>
                </a:solidFill>
                <a:cs typeface="Calibri"/>
              </a:rPr>
              <a:t>(D32) </a:t>
            </a:r>
            <a:r>
              <a:rPr lang="es-CL" sz="1200" dirty="0">
                <a:solidFill>
                  <a:schemeClr val="bg1"/>
                </a:solidFill>
                <a:cs typeface="Calibri"/>
              </a:rPr>
              <a:t>- </a:t>
            </a:r>
            <a:r>
              <a:rPr lang="es-CL" sz="1200" spc="-10" dirty="0">
                <a:solidFill>
                  <a:schemeClr val="bg1"/>
                </a:solidFill>
              </a:rPr>
              <a:t>Perfil </a:t>
            </a:r>
            <a:r>
              <a:rPr lang="es-CL" sz="1200" spc="-5" dirty="0">
                <a:solidFill>
                  <a:schemeClr val="bg1"/>
                </a:solidFill>
              </a:rPr>
              <a:t>Formados vs </a:t>
            </a:r>
            <a:r>
              <a:rPr lang="es-CL" sz="1200" spc="-10" dirty="0">
                <a:solidFill>
                  <a:schemeClr val="bg1"/>
                </a:solidFill>
              </a:rPr>
              <a:t>Control</a:t>
            </a:r>
            <a:r>
              <a:rPr lang="es-CL" sz="1200" spc="320" dirty="0">
                <a:solidFill>
                  <a:schemeClr val="bg1"/>
                </a:solidFill>
              </a:rPr>
              <a:t> </a:t>
            </a:r>
            <a:r>
              <a:rPr lang="es-CL" sz="1200" spc="-5" dirty="0">
                <a:solidFill>
                  <a:schemeClr val="bg1"/>
                </a:solidFill>
              </a:rPr>
              <a:t>(EDD )</a:t>
            </a:r>
          </a:p>
          <a:p>
            <a:pPr marL="228600" indent="-228600">
              <a:spcBef>
                <a:spcPts val="100"/>
              </a:spcBef>
              <a:buFont typeface="+mj-lt"/>
              <a:buAutoNum type="arabicPeriod"/>
            </a:pPr>
            <a:r>
              <a:rPr lang="es-CL" sz="1200" spc="-5" dirty="0">
                <a:solidFill>
                  <a:schemeClr val="bg1"/>
                </a:solidFill>
              </a:rPr>
              <a:t> </a:t>
            </a:r>
            <a:r>
              <a:rPr lang="es-ES" sz="1200" dirty="0">
                <a:solidFill>
                  <a:srgbClr val="FFFFFF"/>
                </a:solidFill>
                <a:cs typeface="Calibri"/>
              </a:rPr>
              <a:t>D33) - </a:t>
            </a:r>
            <a:r>
              <a:rPr lang="es-ES" sz="1200" spc="-5" dirty="0">
                <a:solidFill>
                  <a:schemeClr val="bg1"/>
                </a:solidFill>
              </a:rPr>
              <a:t>EDD </a:t>
            </a:r>
            <a:r>
              <a:rPr lang="es-ES" sz="1200" dirty="0">
                <a:solidFill>
                  <a:schemeClr val="bg1"/>
                </a:solidFill>
              </a:rPr>
              <a:t>por </a:t>
            </a:r>
            <a:r>
              <a:rPr lang="es-ES" sz="1200" spc="-5" dirty="0">
                <a:solidFill>
                  <a:schemeClr val="bg1"/>
                </a:solidFill>
              </a:rPr>
              <a:t>Tipo </a:t>
            </a:r>
            <a:r>
              <a:rPr lang="es-ES" sz="1200" dirty="0">
                <a:solidFill>
                  <a:schemeClr val="bg1"/>
                </a:solidFill>
              </a:rPr>
              <a:t>de </a:t>
            </a:r>
            <a:r>
              <a:rPr lang="es-ES" sz="1200" spc="-5" dirty="0">
                <a:solidFill>
                  <a:schemeClr val="bg1"/>
                </a:solidFill>
              </a:rPr>
              <a:t>Formación </a:t>
            </a:r>
            <a:r>
              <a:rPr lang="es-ES" sz="1200" spc="5" dirty="0">
                <a:solidFill>
                  <a:schemeClr val="bg1"/>
                </a:solidFill>
              </a:rPr>
              <a:t>— </a:t>
            </a:r>
            <a:r>
              <a:rPr lang="es-ES" sz="1200" spc="-5" dirty="0">
                <a:solidFill>
                  <a:schemeClr val="bg1"/>
                </a:solidFill>
              </a:rPr>
              <a:t>Promedio </a:t>
            </a:r>
            <a:r>
              <a:rPr lang="es-ES" sz="1200" dirty="0">
                <a:solidFill>
                  <a:schemeClr val="bg1"/>
                </a:solidFill>
              </a:rPr>
              <a:t>vs</a:t>
            </a:r>
            <a:r>
              <a:rPr lang="es-ES" sz="1200" spc="-85" dirty="0">
                <a:solidFill>
                  <a:schemeClr val="bg1"/>
                </a:solidFill>
              </a:rPr>
              <a:t> </a:t>
            </a:r>
            <a:r>
              <a:rPr lang="es-ES" sz="1200" spc="-10" dirty="0">
                <a:solidFill>
                  <a:schemeClr val="bg1"/>
                </a:solidFill>
              </a:rPr>
              <a:t>Control </a:t>
            </a:r>
            <a:r>
              <a:rPr lang="es-ES" sz="1200" spc="-5" dirty="0">
                <a:solidFill>
                  <a:schemeClr val="bg1"/>
                </a:solidFill>
              </a:rPr>
              <a:t> </a:t>
            </a:r>
          </a:p>
          <a:p>
            <a:pPr marL="228600" indent="-228600">
              <a:spcBef>
                <a:spcPts val="100"/>
              </a:spcBef>
              <a:buFont typeface="+mj-lt"/>
              <a:buAutoNum type="arabicPeriod"/>
            </a:pPr>
            <a:r>
              <a:rPr lang="es-ES" sz="1200" dirty="0">
                <a:solidFill>
                  <a:schemeClr val="bg1"/>
                </a:solidFill>
                <a:cs typeface="Calibri"/>
              </a:rPr>
              <a:t>D34) -</a:t>
            </a:r>
            <a:r>
              <a:rPr lang="es-ES" sz="1200" spc="-10" dirty="0">
                <a:solidFill>
                  <a:schemeClr val="bg1"/>
                </a:solidFill>
              </a:rPr>
              <a:t> Evolución </a:t>
            </a:r>
            <a:r>
              <a:rPr lang="es-ES" sz="1200" spc="-5" dirty="0">
                <a:solidFill>
                  <a:schemeClr val="bg1"/>
                </a:solidFill>
              </a:rPr>
              <a:t>EDD </a:t>
            </a:r>
            <a:r>
              <a:rPr lang="es-ES" sz="1200" spc="5" dirty="0">
                <a:solidFill>
                  <a:schemeClr val="bg1"/>
                </a:solidFill>
              </a:rPr>
              <a:t>— </a:t>
            </a:r>
            <a:r>
              <a:rPr lang="es-ES" sz="1200" spc="-5" dirty="0">
                <a:solidFill>
                  <a:schemeClr val="bg1"/>
                </a:solidFill>
              </a:rPr>
              <a:t>Aptos </a:t>
            </a:r>
            <a:r>
              <a:rPr lang="es-ES" sz="1200" dirty="0">
                <a:solidFill>
                  <a:schemeClr val="bg1"/>
                </a:solidFill>
              </a:rPr>
              <a:t>P3 vs </a:t>
            </a:r>
            <a:r>
              <a:rPr lang="es-ES" sz="1200" spc="-10" dirty="0">
                <a:solidFill>
                  <a:schemeClr val="bg1"/>
                </a:solidFill>
              </a:rPr>
              <a:t>Control</a:t>
            </a:r>
            <a:r>
              <a:rPr lang="es-ES" sz="1200" spc="-80" dirty="0">
                <a:solidFill>
                  <a:schemeClr val="bg1"/>
                </a:solidFill>
              </a:rPr>
              <a:t> </a:t>
            </a:r>
            <a:r>
              <a:rPr lang="es-ES" sz="1200" dirty="0">
                <a:solidFill>
                  <a:schemeClr val="bg1"/>
                </a:solidFill>
              </a:rPr>
              <a:t>(2022–2025) </a:t>
            </a:r>
          </a:p>
          <a:p>
            <a:pPr marL="228600" indent="-228600">
              <a:spcBef>
                <a:spcPts val="100"/>
              </a:spcBef>
              <a:buFont typeface="+mj-lt"/>
              <a:buAutoNum type="arabicPeriod"/>
            </a:pPr>
            <a:r>
              <a:rPr lang="es-ES" sz="1200" dirty="0">
                <a:solidFill>
                  <a:schemeClr val="bg1"/>
                </a:solidFill>
                <a:cs typeface="Calibri"/>
              </a:rPr>
              <a:t>(D35)</a:t>
            </a:r>
            <a:r>
              <a:rPr lang="es-CL" sz="1200" dirty="0">
                <a:solidFill>
                  <a:schemeClr val="bg1"/>
                </a:solidFill>
              </a:rPr>
              <a:t> </a:t>
            </a:r>
            <a:r>
              <a:rPr lang="es-ES" sz="1200" dirty="0">
                <a:solidFill>
                  <a:schemeClr val="bg1"/>
                </a:solidFill>
                <a:cs typeface="Calibri"/>
              </a:rPr>
              <a:t>-</a:t>
            </a:r>
            <a:r>
              <a:rPr lang="es-ES" sz="1200" spc="-10" dirty="0">
                <a:solidFill>
                  <a:schemeClr val="bg1"/>
                </a:solidFill>
              </a:rPr>
              <a:t> </a:t>
            </a:r>
            <a:r>
              <a:rPr lang="es-CL" sz="1200" dirty="0">
                <a:solidFill>
                  <a:schemeClr val="bg1"/>
                </a:solidFill>
              </a:rPr>
              <a:t>Seguimiento trayectorias únicas EDD</a:t>
            </a:r>
          </a:p>
          <a:p>
            <a:pPr marL="228600" indent="-228600">
              <a:spcBef>
                <a:spcPts val="100"/>
              </a:spcBef>
              <a:buFont typeface="+mj-lt"/>
              <a:buAutoNum type="arabicPeriod"/>
            </a:pPr>
            <a:r>
              <a:rPr lang="es-CL" sz="1200" dirty="0">
                <a:solidFill>
                  <a:schemeClr val="bg1"/>
                </a:solidFill>
              </a:rPr>
              <a:t>(</a:t>
            </a:r>
            <a:r>
              <a:rPr lang="es-ES" sz="1200" spc="-5" dirty="0">
                <a:solidFill>
                  <a:schemeClr val="bg1"/>
                </a:solidFill>
                <a:cs typeface="Calibri"/>
              </a:rPr>
              <a:t>D36) </a:t>
            </a:r>
            <a:r>
              <a:rPr lang="es-ES" sz="1200" dirty="0">
                <a:solidFill>
                  <a:schemeClr val="bg1"/>
                </a:solidFill>
                <a:cs typeface="Calibri"/>
              </a:rPr>
              <a:t>- </a:t>
            </a:r>
            <a:r>
              <a:rPr lang="es-CL" sz="1200" spc="-5" dirty="0">
                <a:solidFill>
                  <a:schemeClr val="bg1"/>
                </a:solidFill>
              </a:rPr>
              <a:t>EDD </a:t>
            </a:r>
            <a:r>
              <a:rPr lang="es-CL" sz="1200" dirty="0">
                <a:solidFill>
                  <a:schemeClr val="bg1"/>
                </a:solidFill>
              </a:rPr>
              <a:t>por </a:t>
            </a:r>
            <a:r>
              <a:rPr lang="es-CL" sz="1200" spc="-15" dirty="0">
                <a:solidFill>
                  <a:schemeClr val="bg1"/>
                </a:solidFill>
              </a:rPr>
              <a:t>Facultad </a:t>
            </a:r>
            <a:r>
              <a:rPr lang="es-CL" sz="1200" spc="5" dirty="0">
                <a:solidFill>
                  <a:schemeClr val="bg1"/>
                </a:solidFill>
              </a:rPr>
              <a:t>— </a:t>
            </a:r>
            <a:r>
              <a:rPr lang="es-CL" sz="1200" spc="-5" dirty="0">
                <a:solidFill>
                  <a:schemeClr val="bg1"/>
                </a:solidFill>
              </a:rPr>
              <a:t>Formados </a:t>
            </a:r>
            <a:r>
              <a:rPr lang="es-CL" sz="1200" dirty="0">
                <a:solidFill>
                  <a:schemeClr val="bg1"/>
                </a:solidFill>
              </a:rPr>
              <a:t>vs</a:t>
            </a:r>
            <a:r>
              <a:rPr lang="es-CL" sz="1200" spc="-70" dirty="0">
                <a:solidFill>
                  <a:schemeClr val="bg1"/>
                </a:solidFill>
              </a:rPr>
              <a:t> </a:t>
            </a:r>
            <a:r>
              <a:rPr lang="es-CL" sz="1200" spc="-10" dirty="0">
                <a:solidFill>
                  <a:schemeClr val="bg1"/>
                </a:solidFill>
              </a:rPr>
              <a:t>Control</a:t>
            </a:r>
            <a:endParaRPr sz="12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96053" y="3051506"/>
            <a:ext cx="26733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s-CL" sz="1200" spc="-5" dirty="0">
                <a:solidFill>
                  <a:schemeClr val="bg1"/>
                </a:solidFill>
              </a:rPr>
              <a:t>)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04514" y="4156586"/>
            <a:ext cx="326489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45438" y="2592451"/>
            <a:ext cx="275907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Tratamiento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(perfil):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N°=316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Aptos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P3.  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Tratamiento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(amplio):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N°=619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formados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con 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notas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disponibles.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Control: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N°=300 docentes  sin formación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P3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con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notas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en 2023–2025. 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Los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316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son subconjunto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de los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619.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062404" y="2560941"/>
            <a:ext cx="2834196" cy="31777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965" indent="-228600" algn="just">
              <a:spcBef>
                <a:spcPts val="100"/>
              </a:spcBef>
              <a:buFont typeface="+mj-lt"/>
              <a:buAutoNum type="arabicPeriod"/>
              <a:tabLst>
                <a:tab pos="172720" algn="l"/>
              </a:tabLst>
            </a:pPr>
            <a:r>
              <a:rPr lang="es-ES" sz="1200" dirty="0">
                <a:solidFill>
                  <a:schemeClr val="bg1"/>
                </a:solidFill>
              </a:rPr>
              <a:t>Los docentes formados obtienen una EDD promedio de 0.830 frente a 0.675 del grupo control (brecha: +0.128), con 134 formados y 130 controles con dato disponible (2022–2025). </a:t>
            </a:r>
          </a:p>
          <a:p>
            <a:pPr marL="227965" indent="-228600" algn="just">
              <a:spcBef>
                <a:spcPts val="100"/>
              </a:spcBef>
              <a:buFont typeface="+mj-lt"/>
              <a:buAutoNum type="arabicPeriod"/>
              <a:tabLst>
                <a:tab pos="172720" algn="l"/>
              </a:tabLst>
            </a:pPr>
            <a:r>
              <a:rPr lang="es-ES" sz="1200" dirty="0">
                <a:solidFill>
                  <a:schemeClr val="bg1"/>
                </a:solidFill>
              </a:rPr>
              <a:t>Los docentes que participaron en Oferta Formativa (n=554) con dato EDD) obtienen EDD de 0.830; los de Diplomado (n=22) de 0.811; y los de Proyecto (n=11) de 0.830, mientras los docentes que participan en Modalidad Mixta (n=54) de 0.843.  Los cuatro tipos superan al grupo control, confirmando que la incidencia de la formación en la percepción de los jefes es positiva independientemente de la modalidad.</a:t>
            </a:r>
            <a:endParaRPr lang="es-CL" sz="1200" dirty="0">
              <a:solidFill>
                <a:schemeClr val="bg1"/>
              </a:solidFill>
            </a:endParaRPr>
          </a:p>
          <a:p>
            <a:pPr marL="227965" indent="-228600" algn="just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  <a:tabLst>
                <a:tab pos="172720" algn="l"/>
              </a:tabLst>
            </a:pPr>
            <a:endParaRPr lang="es-ES" sz="1200" dirty="0">
              <a:solidFill>
                <a:schemeClr val="bg1"/>
              </a:solidFill>
            </a:endParaRPr>
          </a:p>
        </p:txBody>
      </p:sp>
      <p:sp>
        <p:nvSpPr>
          <p:cNvPr id="24" name="object 16">
            <a:extLst>
              <a:ext uri="{FF2B5EF4-FFF2-40B4-BE49-F238E27FC236}">
                <a16:creationId xmlns:a16="http://schemas.microsoft.com/office/drawing/2014/main" id="{1007896E-B5A8-FB36-FC6D-455D7DA1E540}"/>
              </a:ext>
            </a:extLst>
          </p:cNvPr>
          <p:cNvSpPr txBox="1"/>
          <p:nvPr/>
        </p:nvSpPr>
        <p:spPr>
          <a:xfrm>
            <a:off x="8610600" y="2135232"/>
            <a:ext cx="128930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spcBef>
                <a:spcPts val="105"/>
              </a:spcBef>
            </a:pPr>
            <a:r>
              <a:rPr lang="es-CL" sz="1400" dirty="0">
                <a:solidFill>
                  <a:schemeClr val="bg1"/>
                </a:solidFill>
                <a:cs typeface="Calibri"/>
              </a:rPr>
              <a:t>Hallazgos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07591" y="1267434"/>
            <a:ext cx="8999981" cy="50624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47801" y="200990"/>
            <a:ext cx="83794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Bloque IV </a:t>
            </a:r>
            <a:r>
              <a:rPr spc="5" dirty="0"/>
              <a:t>— </a:t>
            </a:r>
            <a:r>
              <a:rPr lang="es-CL" spc="5" dirty="0"/>
              <a:t>Muestra </a:t>
            </a:r>
            <a:r>
              <a:rPr lang="es-CL" dirty="0"/>
              <a:t>de Grupos: </a:t>
            </a:r>
            <a:r>
              <a:rPr spc="-10" dirty="0" err="1"/>
              <a:t>Evaluación</a:t>
            </a:r>
            <a:r>
              <a:rPr spc="-10" dirty="0"/>
              <a:t> </a:t>
            </a:r>
            <a:r>
              <a:rPr dirty="0"/>
              <a:t>de </a:t>
            </a:r>
            <a:r>
              <a:rPr spc="-5" dirty="0" err="1"/>
              <a:t>Desempeño</a:t>
            </a:r>
            <a:r>
              <a:rPr spc="-35" dirty="0"/>
              <a:t> </a:t>
            </a:r>
            <a:r>
              <a:rPr spc="-10" dirty="0" err="1"/>
              <a:t>Docente</a:t>
            </a:r>
            <a:r>
              <a:rPr lang="es-CL" spc="-10" dirty="0"/>
              <a:t> (EDD)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865428" y="872109"/>
            <a:ext cx="780732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Tratamiento: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206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Aptos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P3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con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EDD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disponible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·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Control: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130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docentes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sin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actividad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P3,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con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EDD</a:t>
            </a:r>
            <a:r>
              <a:rPr sz="1000" i="1" spc="4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comparable</a:t>
            </a:r>
            <a:endParaRPr sz="1000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00" dirty="0">
              <a:latin typeface="Calibri"/>
              <a:cs typeface="Calibri"/>
            </a:endParaRPr>
          </a:p>
          <a:p>
            <a:pPr marL="1597660">
              <a:lnSpc>
                <a:spcPct val="100000"/>
              </a:lnSpc>
            </a:pP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Izq.: </a:t>
            </a:r>
            <a:r>
              <a:rPr lang="es-CL" sz="1000" spc="-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000" spc="-5" dirty="0" err="1">
                <a:solidFill>
                  <a:srgbClr val="FFFFFF"/>
                </a:solidFill>
                <a:latin typeface="Calibri"/>
                <a:cs typeface="Calibri"/>
              </a:rPr>
              <a:t>erivaci</a:t>
            </a:r>
            <a:r>
              <a:rPr lang="es-CL" sz="1000" spc="-5" dirty="0" err="1">
                <a:solidFill>
                  <a:srgbClr val="FFFFFF"/>
                </a:solidFill>
                <a:latin typeface="Calibri"/>
                <a:cs typeface="Calibri"/>
              </a:rPr>
              <a:t>ó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n desde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316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Aptos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P3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hasta Tratamiento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B4 ·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Der.: composicion Jornada/Honorario Tratamiento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1000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Control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5182" y="5357317"/>
            <a:ext cx="9667240" cy="739946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5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El Tratamiento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B4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(206 Aptos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P3 con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EDD)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se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compone de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204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docentes Jornada (99%)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y 2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Honorarios (1%). (110 de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los 316 </a:t>
            </a:r>
            <a:r>
              <a:rPr sz="1300" b="1" spc="10" dirty="0">
                <a:solidFill>
                  <a:srgbClr val="FFFFFF"/>
                </a:solidFill>
                <a:latin typeface="Calibri"/>
                <a:cs typeface="Calibri"/>
              </a:rPr>
              <a:t>Aptos</a:t>
            </a:r>
            <a:r>
              <a:rPr sz="1300" b="1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P3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no tienen EDD registrada.)</a:t>
            </a:r>
            <a:endParaRPr sz="1300" b="1" dirty="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spcBef>
                <a:spcPts val="4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El Control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B4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(130 docentes) incluye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124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Jornada (95%)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y 6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Honorarios</a:t>
            </a:r>
            <a:r>
              <a:rPr sz="1300" b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(5%).</a:t>
            </a:r>
            <a:endParaRPr sz="13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174" y="51227"/>
            <a:ext cx="1219199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88233" y="204343"/>
            <a:ext cx="539369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/>
              <a:t>Bloque IV — </a:t>
            </a:r>
            <a:r>
              <a:rPr sz="1700" spc="-10" dirty="0" err="1"/>
              <a:t>Perfil</a:t>
            </a:r>
            <a:r>
              <a:rPr sz="1700" spc="-10" dirty="0"/>
              <a:t> </a:t>
            </a:r>
            <a:r>
              <a:rPr sz="1700" spc="-5" dirty="0" err="1"/>
              <a:t>Formados</a:t>
            </a:r>
            <a:r>
              <a:rPr sz="1700" spc="-5" dirty="0"/>
              <a:t> vs </a:t>
            </a:r>
            <a:r>
              <a:rPr sz="1700" spc="-10" dirty="0"/>
              <a:t>Control</a:t>
            </a:r>
            <a:r>
              <a:rPr sz="1700" spc="320" dirty="0"/>
              <a:t> </a:t>
            </a:r>
            <a:r>
              <a:rPr sz="1700" spc="-5" dirty="0"/>
              <a:t>(EDD)</a:t>
            </a:r>
            <a:endParaRPr sz="1700" dirty="0"/>
          </a:p>
        </p:txBody>
      </p:sp>
      <p:sp>
        <p:nvSpPr>
          <p:cNvPr id="4" name="object 4"/>
          <p:cNvSpPr txBox="1"/>
          <p:nvPr/>
        </p:nvSpPr>
        <p:spPr>
          <a:xfrm>
            <a:off x="865428" y="872109"/>
            <a:ext cx="4159250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i="1" spc="-5" dirty="0">
                <a:solidFill>
                  <a:srgbClr val="C7DCEF"/>
                </a:solidFill>
                <a:latin typeface="Calibri"/>
                <a:cs typeface="Calibri"/>
              </a:rPr>
              <a:t>Control </a:t>
            </a:r>
            <a:r>
              <a:rPr sz="750" i="1" dirty="0">
                <a:solidFill>
                  <a:srgbClr val="C7DCEF"/>
                </a:solidFill>
                <a:latin typeface="Calibri"/>
                <a:cs typeface="Calibri"/>
              </a:rPr>
              <a:t>B4: </a:t>
            </a:r>
            <a:r>
              <a:rPr sz="750" i="1" spc="-5" dirty="0">
                <a:solidFill>
                  <a:srgbClr val="C7DCEF"/>
                </a:solidFill>
                <a:latin typeface="Calibri"/>
                <a:cs typeface="Calibri"/>
              </a:rPr>
              <a:t>universo </a:t>
            </a:r>
            <a:r>
              <a:rPr sz="750" i="1" dirty="0">
                <a:solidFill>
                  <a:srgbClr val="C7DCEF"/>
                </a:solidFill>
                <a:latin typeface="Calibri"/>
                <a:cs typeface="Calibri"/>
              </a:rPr>
              <a:t>base sin </a:t>
            </a:r>
            <a:r>
              <a:rPr sz="750" i="1" spc="-5" dirty="0">
                <a:solidFill>
                  <a:srgbClr val="C7DCEF"/>
                </a:solidFill>
                <a:latin typeface="Calibri"/>
                <a:cs typeface="Calibri"/>
              </a:rPr>
              <a:t>ninguna actividad </a:t>
            </a:r>
            <a:r>
              <a:rPr sz="750" i="1" dirty="0">
                <a:solidFill>
                  <a:srgbClr val="C7DCEF"/>
                </a:solidFill>
                <a:latin typeface="Calibri"/>
                <a:cs typeface="Calibri"/>
              </a:rPr>
              <a:t>P3, </a:t>
            </a:r>
            <a:r>
              <a:rPr sz="750" i="1" spc="-5" dirty="0">
                <a:solidFill>
                  <a:srgbClr val="C7DCEF"/>
                </a:solidFill>
                <a:latin typeface="Calibri"/>
                <a:cs typeface="Calibri"/>
              </a:rPr>
              <a:t>con </a:t>
            </a:r>
            <a:r>
              <a:rPr sz="750" i="1" dirty="0">
                <a:solidFill>
                  <a:srgbClr val="C7DCEF"/>
                </a:solidFill>
                <a:latin typeface="Calibri"/>
                <a:cs typeface="Calibri"/>
              </a:rPr>
              <a:t>EDD </a:t>
            </a:r>
            <a:r>
              <a:rPr sz="750" i="1" spc="-5" dirty="0">
                <a:solidFill>
                  <a:srgbClr val="C7DCEF"/>
                </a:solidFill>
                <a:latin typeface="Calibri"/>
                <a:cs typeface="Calibri"/>
              </a:rPr>
              <a:t>disponible </a:t>
            </a:r>
            <a:r>
              <a:rPr sz="750" i="1" dirty="0">
                <a:solidFill>
                  <a:srgbClr val="C7DCEF"/>
                </a:solidFill>
                <a:latin typeface="Calibri"/>
                <a:cs typeface="Calibri"/>
              </a:rPr>
              <a:t>· </a:t>
            </a:r>
            <a:r>
              <a:rPr sz="750" i="1" spc="-5" dirty="0">
                <a:solidFill>
                  <a:srgbClr val="C7DCEF"/>
                </a:solidFill>
                <a:latin typeface="Calibri"/>
                <a:cs typeface="Calibri"/>
              </a:rPr>
              <a:t>formados </a:t>
            </a:r>
            <a:r>
              <a:rPr sz="750" i="1" dirty="0">
                <a:solidFill>
                  <a:srgbClr val="C7DCEF"/>
                </a:solidFill>
                <a:latin typeface="Calibri"/>
                <a:cs typeface="Calibri"/>
              </a:rPr>
              <a:t>n=206 · </a:t>
            </a:r>
            <a:r>
              <a:rPr sz="750" i="1" spc="-5" dirty="0">
                <a:solidFill>
                  <a:srgbClr val="C7DCEF"/>
                </a:solidFill>
                <a:latin typeface="Calibri"/>
                <a:cs typeface="Calibri"/>
              </a:rPr>
              <a:t>control</a:t>
            </a:r>
            <a:r>
              <a:rPr sz="750" i="1" spc="90" dirty="0">
                <a:solidFill>
                  <a:srgbClr val="C7DCEF"/>
                </a:solidFill>
                <a:latin typeface="Calibri"/>
                <a:cs typeface="Calibri"/>
              </a:rPr>
              <a:t> </a:t>
            </a:r>
            <a:r>
              <a:rPr sz="750" i="1" dirty="0">
                <a:solidFill>
                  <a:srgbClr val="C7DCEF"/>
                </a:solidFill>
                <a:latin typeface="Calibri"/>
                <a:cs typeface="Calibri"/>
              </a:rPr>
              <a:t>n=130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1600" y="5045249"/>
            <a:ext cx="9916795" cy="940642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52400" indent="-140335">
              <a:lnSpc>
                <a:spcPct val="100000"/>
              </a:lnSpc>
              <a:spcBef>
                <a:spcPts val="595"/>
              </a:spcBef>
              <a:buChar char="•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Jerarquía: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'Asist. Docente' muestra la mayor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diferencia (+13 pp).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El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control EDD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es más estricto —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excluye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 todos los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que participaron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en P3,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aunque no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sean</a:t>
            </a:r>
            <a:r>
              <a:rPr sz="1300" b="1" spc="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Aptos.</a:t>
            </a:r>
            <a:endParaRPr sz="1300" b="1" dirty="0">
              <a:latin typeface="Calibri"/>
              <a:cs typeface="Calibri"/>
            </a:endParaRPr>
          </a:p>
          <a:p>
            <a:pPr marL="152400" indent="-140335">
              <a:lnSpc>
                <a:spcPct val="100000"/>
              </a:lnSpc>
              <a:spcBef>
                <a:spcPts val="495"/>
              </a:spcBef>
              <a:buChar char="•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Edad: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'45–54' es el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tramo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más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diferenciado (-11 </a:t>
            </a:r>
            <a:r>
              <a:rPr sz="1300" b="1" spc="-10" dirty="0">
                <a:solidFill>
                  <a:srgbClr val="FFFFFF"/>
                </a:solidFill>
                <a:latin typeface="Calibri"/>
                <a:cs typeface="Calibri"/>
              </a:rPr>
              <a:t>pp).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Comparar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este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perfil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con el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del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B3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muestra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si la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definición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más estricta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de control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cambia la</a:t>
            </a:r>
            <a:r>
              <a:rPr sz="1300" b="1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composición.</a:t>
            </a:r>
            <a:endParaRPr sz="13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199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57400" y="277892"/>
            <a:ext cx="748766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L" dirty="0"/>
              <a:t>Bloque IV — </a:t>
            </a:r>
            <a:r>
              <a:rPr spc="-5" dirty="0"/>
              <a:t>EDD </a:t>
            </a:r>
            <a:r>
              <a:rPr dirty="0"/>
              <a:t>por </a:t>
            </a:r>
            <a:r>
              <a:rPr spc="-5" dirty="0"/>
              <a:t>Tipo </a:t>
            </a:r>
            <a:r>
              <a:rPr dirty="0"/>
              <a:t>de </a:t>
            </a:r>
            <a:r>
              <a:rPr spc="-5" dirty="0"/>
              <a:t>Formación </a:t>
            </a:r>
            <a:r>
              <a:rPr spc="5" dirty="0"/>
              <a:t>— </a:t>
            </a:r>
            <a:r>
              <a:rPr spc="-5" dirty="0"/>
              <a:t>Promedio </a:t>
            </a:r>
            <a:r>
              <a:rPr dirty="0"/>
              <a:t>vs</a:t>
            </a:r>
            <a:r>
              <a:rPr spc="-85" dirty="0"/>
              <a:t> </a:t>
            </a:r>
            <a:r>
              <a:rPr spc="-10" dirty="0"/>
              <a:t>Control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5427" y="872109"/>
            <a:ext cx="8679637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EDD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Total promedio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·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formados Aptos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P3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por modalidad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· vs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control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418 sin</a:t>
            </a:r>
            <a:r>
              <a:rPr sz="1000" i="1" spc="8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formación</a:t>
            </a:r>
            <a:endParaRPr sz="1000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00" dirty="0">
              <a:latin typeface="Calibri"/>
              <a:cs typeface="Calibri"/>
            </a:endParaRPr>
          </a:p>
          <a:p>
            <a:pPr marL="1597660">
              <a:lnSpc>
                <a:spcPct val="100000"/>
              </a:lnSpc>
            </a:pPr>
            <a:r>
              <a:rPr lang="es-CL" sz="900" spc="-5" dirty="0">
                <a:solidFill>
                  <a:srgbClr val="FFFFFF"/>
                </a:solidFill>
                <a:latin typeface="Calibri"/>
                <a:cs typeface="Calibri"/>
              </a:rPr>
              <a:t>                                                        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EDD promedio por tipo de formación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· n =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registros EDD deduplicados por</a:t>
            </a:r>
            <a:r>
              <a:rPr sz="900" spc="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docente-año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5428" y="5135879"/>
            <a:ext cx="10313035" cy="101694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4965" indent="-342900">
              <a:lnSpc>
                <a:spcPct val="100000"/>
              </a:lnSpc>
              <a:spcBef>
                <a:spcPts val="5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El tipo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'Participación Mixta'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obtiene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mayor EDD promedio (0.843), por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encima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del control (0.672). </a:t>
            </a:r>
            <a:endParaRPr lang="es-CL" sz="1300" b="1" spc="-5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spcBef>
                <a:spcPts val="5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Todos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los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tipos de </a:t>
            </a:r>
            <a:r>
              <a:rPr sz="1300" b="1" spc="5" dirty="0">
                <a:solidFill>
                  <a:srgbClr val="FFFFFF"/>
                </a:solidFill>
                <a:latin typeface="Calibri"/>
                <a:cs typeface="Calibri"/>
              </a:rPr>
              <a:t>formación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superan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al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grupo</a:t>
            </a:r>
            <a:r>
              <a:rPr sz="1300" b="1" spc="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control.</a:t>
            </a:r>
            <a:endParaRPr sz="1300" b="1" dirty="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spcBef>
                <a:spcPts val="495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La formación docente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se asocia con mejor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evaluación de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desempeño en todos los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tipos de modalidad,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con el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Proyecto de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Innovación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mostrando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el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mayor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impacto</a:t>
            </a:r>
            <a:r>
              <a:rPr sz="1300" b="1" spc="1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relativo.</a:t>
            </a:r>
            <a:endParaRPr sz="13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124" y="0"/>
            <a:ext cx="1219199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62200" y="275434"/>
            <a:ext cx="7217028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L" dirty="0"/>
              <a:t>Bloque IV — </a:t>
            </a:r>
            <a:r>
              <a:rPr spc="-10" dirty="0" err="1"/>
              <a:t>Evolución</a:t>
            </a:r>
            <a:r>
              <a:rPr spc="-10" dirty="0"/>
              <a:t> </a:t>
            </a:r>
            <a:r>
              <a:rPr spc="-5" dirty="0"/>
              <a:t>EDD </a:t>
            </a:r>
            <a:r>
              <a:rPr spc="5" dirty="0"/>
              <a:t>— </a:t>
            </a:r>
            <a:r>
              <a:rPr spc="-5" dirty="0"/>
              <a:t>Aptos </a:t>
            </a:r>
            <a:r>
              <a:rPr dirty="0"/>
              <a:t>P3 vs </a:t>
            </a:r>
            <a:r>
              <a:rPr spc="-10" dirty="0"/>
              <a:t>Control</a:t>
            </a:r>
            <a:r>
              <a:rPr spc="-80" dirty="0"/>
              <a:t> </a:t>
            </a:r>
            <a:r>
              <a:rPr dirty="0"/>
              <a:t>(2022–2025)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5428" y="872109"/>
            <a:ext cx="8507172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chemeClr val="bg1"/>
                </a:solidFill>
                <a:latin typeface="Calibri"/>
                <a:cs typeface="Calibri"/>
              </a:rPr>
              <a:t>EDD: </a:t>
            </a:r>
            <a:r>
              <a:rPr sz="1000" spc="-5" dirty="0">
                <a:solidFill>
                  <a:schemeClr val="bg1"/>
                </a:solidFill>
                <a:latin typeface="Calibri"/>
                <a:cs typeface="Calibri"/>
              </a:rPr>
              <a:t>Evaluación </a:t>
            </a:r>
            <a:r>
              <a:rPr sz="1000" dirty="0">
                <a:solidFill>
                  <a:schemeClr val="bg1"/>
                </a:solidFill>
                <a:latin typeface="Calibri"/>
                <a:cs typeface="Calibri"/>
              </a:rPr>
              <a:t>de Desempeño Docente · </a:t>
            </a:r>
            <a:r>
              <a:rPr sz="1000" spc="-5" dirty="0">
                <a:solidFill>
                  <a:schemeClr val="bg1"/>
                </a:solidFill>
                <a:latin typeface="Calibri"/>
                <a:cs typeface="Calibri"/>
              </a:rPr>
              <a:t>escala </a:t>
            </a:r>
            <a:r>
              <a:rPr sz="1000" dirty="0">
                <a:solidFill>
                  <a:schemeClr val="bg1"/>
                </a:solidFill>
                <a:latin typeface="Calibri"/>
                <a:cs typeface="Calibri"/>
              </a:rPr>
              <a:t>0–1 · </a:t>
            </a:r>
            <a:r>
              <a:rPr sz="1000" spc="-5" dirty="0">
                <a:solidFill>
                  <a:schemeClr val="bg1"/>
                </a:solidFill>
                <a:latin typeface="Calibri"/>
                <a:cs typeface="Calibri"/>
              </a:rPr>
              <a:t>Aptos </a:t>
            </a:r>
            <a:r>
              <a:rPr sz="1000" dirty="0">
                <a:solidFill>
                  <a:schemeClr val="bg1"/>
                </a:solidFill>
                <a:latin typeface="Calibri"/>
                <a:cs typeface="Calibri"/>
              </a:rPr>
              <a:t>P3 </a:t>
            </a:r>
            <a:r>
              <a:rPr sz="1000" spc="-5" dirty="0">
                <a:solidFill>
                  <a:schemeClr val="bg1"/>
                </a:solidFill>
                <a:latin typeface="Calibri"/>
                <a:cs typeface="Calibri"/>
              </a:rPr>
              <a:t>(206) </a:t>
            </a:r>
            <a:r>
              <a:rPr sz="1000" dirty="0">
                <a:solidFill>
                  <a:schemeClr val="bg1"/>
                </a:solidFill>
                <a:latin typeface="Calibri"/>
                <a:cs typeface="Calibri"/>
              </a:rPr>
              <a:t>vs </a:t>
            </a:r>
            <a:r>
              <a:rPr sz="1000" spc="-5" dirty="0">
                <a:solidFill>
                  <a:schemeClr val="bg1"/>
                </a:solidFill>
                <a:latin typeface="Calibri"/>
                <a:cs typeface="Calibri"/>
              </a:rPr>
              <a:t>control </a:t>
            </a:r>
            <a:r>
              <a:rPr sz="1000" dirty="0">
                <a:solidFill>
                  <a:schemeClr val="bg1"/>
                </a:solidFill>
                <a:latin typeface="Calibri"/>
                <a:cs typeface="Calibri"/>
              </a:rPr>
              <a:t>externo sin</a:t>
            </a:r>
            <a:r>
              <a:rPr sz="1000" spc="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chemeClr val="bg1"/>
                </a:solidFill>
                <a:latin typeface="Calibri"/>
                <a:cs typeface="Calibri"/>
              </a:rPr>
              <a:t>formación</a:t>
            </a:r>
            <a:endParaRPr sz="1000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00" dirty="0">
              <a:latin typeface="Calibri"/>
              <a:cs typeface="Calibri"/>
            </a:endParaRPr>
          </a:p>
          <a:p>
            <a:pPr marL="1597660">
              <a:lnSpc>
                <a:spcPct val="100000"/>
              </a:lnSpc>
            </a:pPr>
            <a:r>
              <a:rPr lang="es-CL" sz="900" spc="-5" dirty="0">
                <a:solidFill>
                  <a:srgbClr val="FFFFFF"/>
                </a:solidFill>
                <a:latin typeface="Calibri"/>
                <a:cs typeface="Calibri"/>
              </a:rPr>
              <a:t>                                                        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EDD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Total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promedio por año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Aptos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P3 </a:t>
            </a:r>
            <a:r>
              <a:rPr lang="es-CL" sz="9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º </a:t>
            </a:r>
            <a:r>
              <a:rPr lang="es-CL" sz="900" spc="-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206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doc.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con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dato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·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Control </a:t>
            </a:r>
            <a:r>
              <a:rPr lang="es-CL" sz="9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º</a:t>
            </a:r>
            <a:r>
              <a:rPr lang="es-CL" sz="900" spc="-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292</a:t>
            </a:r>
            <a:r>
              <a:rPr sz="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doc.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9268" y="5251703"/>
            <a:ext cx="9532620" cy="739946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5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Los Aptos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P3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obtienen EDD promedio de 0.830 vs 0.675 del grupo control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—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brecha de +0.155 puntos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favor de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los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Aptos</a:t>
            </a:r>
            <a:r>
              <a:rPr sz="1300" b="1" spc="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P3.</a:t>
            </a:r>
            <a:endParaRPr sz="1300" b="1" dirty="0">
              <a:latin typeface="Calibri"/>
              <a:cs typeface="Calibri"/>
            </a:endParaRPr>
          </a:p>
          <a:p>
            <a:pPr marL="240665" indent="-228600">
              <a:lnSpc>
                <a:spcPct val="100000"/>
              </a:lnSpc>
              <a:spcBef>
                <a:spcPts val="495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La brecha Aptos P3−Control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se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amplía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en 2024 y 2025,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coincidiendo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con </a:t>
            </a:r>
            <a:r>
              <a:rPr lang="es-CL" sz="1300" b="1" dirty="0">
                <a:solidFill>
                  <a:srgbClr val="FFFFFF"/>
                </a:solidFill>
                <a:latin typeface="Calibri"/>
                <a:cs typeface="Calibri"/>
              </a:rPr>
              <a:t>la implementación del modelo de perfeccionamiento docente que se traduce en un compromiso institucional docente con dicha iniciativa.</a:t>
            </a:r>
            <a:endParaRPr sz="13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200" y="711841"/>
            <a:ext cx="11385803" cy="61365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03701" y="202514"/>
            <a:ext cx="476567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/>
              <a:t>Bloque IV — </a:t>
            </a:r>
            <a:r>
              <a:rPr lang="es-CL" sz="1800" dirty="0"/>
              <a:t>Seguimiento trayectorias únicas EDD</a:t>
            </a:r>
            <a:endParaRPr sz="1800" dirty="0"/>
          </a:p>
        </p:txBody>
      </p:sp>
      <p:sp>
        <p:nvSpPr>
          <p:cNvPr id="4" name="object 4"/>
          <p:cNvSpPr txBox="1"/>
          <p:nvPr/>
        </p:nvSpPr>
        <p:spPr>
          <a:xfrm>
            <a:off x="865428" y="872108"/>
            <a:ext cx="8888172" cy="33406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1000" spc="-5" dirty="0">
                <a:solidFill>
                  <a:schemeClr val="bg1"/>
                </a:solidFill>
                <a:latin typeface="Calibri"/>
                <a:cs typeface="Calibri"/>
              </a:rPr>
              <a:t>Aptos </a:t>
            </a:r>
            <a:r>
              <a:rPr sz="1000" dirty="0">
                <a:solidFill>
                  <a:schemeClr val="bg1"/>
                </a:solidFill>
                <a:latin typeface="Calibri"/>
                <a:cs typeface="Calibri"/>
              </a:rPr>
              <a:t>P3 </a:t>
            </a:r>
            <a:r>
              <a:rPr sz="1000" spc="-5" dirty="0">
                <a:solidFill>
                  <a:schemeClr val="bg1"/>
                </a:solidFill>
                <a:latin typeface="Calibri"/>
                <a:cs typeface="Calibri"/>
              </a:rPr>
              <a:t>con </a:t>
            </a:r>
            <a:r>
              <a:rPr sz="1000" dirty="0">
                <a:solidFill>
                  <a:schemeClr val="bg1"/>
                </a:solidFill>
                <a:latin typeface="Calibri"/>
                <a:cs typeface="Calibri"/>
              </a:rPr>
              <a:t>EDD: </a:t>
            </a:r>
            <a:r>
              <a:rPr lang="es-CL" sz="1000" dirty="0">
                <a:solidFill>
                  <a:schemeClr val="bg1"/>
                </a:solidFill>
                <a:latin typeface="Calibri"/>
                <a:cs typeface="Calibri"/>
              </a:rPr>
              <a:t>N</a:t>
            </a:r>
            <a:r>
              <a:rPr sz="1000" dirty="0">
                <a:solidFill>
                  <a:schemeClr val="bg1"/>
                </a:solidFill>
                <a:latin typeface="Calibri"/>
                <a:cs typeface="Calibri"/>
              </a:rPr>
              <a:t>º</a:t>
            </a:r>
            <a:r>
              <a:rPr lang="es-CL" sz="1000" dirty="0">
                <a:solidFill>
                  <a:schemeClr val="bg1"/>
                </a:solidFill>
                <a:latin typeface="Calibri"/>
                <a:cs typeface="Calibri"/>
              </a:rPr>
              <a:t>=</a:t>
            </a:r>
            <a:r>
              <a:rPr sz="1000" dirty="0">
                <a:solidFill>
                  <a:schemeClr val="bg1"/>
                </a:solidFill>
                <a:latin typeface="Calibri"/>
                <a:cs typeface="Calibri"/>
              </a:rPr>
              <a:t> 206 · </a:t>
            </a:r>
            <a:r>
              <a:rPr sz="1000" spc="-5" dirty="0">
                <a:solidFill>
                  <a:schemeClr val="bg1"/>
                </a:solidFill>
                <a:latin typeface="Calibri"/>
                <a:cs typeface="Calibri"/>
              </a:rPr>
              <a:t>Control </a:t>
            </a:r>
            <a:r>
              <a:rPr sz="1000" dirty="0">
                <a:solidFill>
                  <a:schemeClr val="bg1"/>
                </a:solidFill>
                <a:latin typeface="Calibri"/>
                <a:cs typeface="Calibri"/>
              </a:rPr>
              <a:t>B4 </a:t>
            </a:r>
            <a:r>
              <a:rPr sz="1000" spc="-5" dirty="0">
                <a:solidFill>
                  <a:schemeClr val="bg1"/>
                </a:solidFill>
                <a:latin typeface="Calibri"/>
                <a:cs typeface="Calibri"/>
              </a:rPr>
              <a:t>(sin formacion, con </a:t>
            </a:r>
            <a:r>
              <a:rPr sz="1000" dirty="0">
                <a:solidFill>
                  <a:schemeClr val="bg1"/>
                </a:solidFill>
                <a:latin typeface="Calibri"/>
                <a:cs typeface="Calibri"/>
              </a:rPr>
              <a:t>EDD): </a:t>
            </a:r>
            <a:r>
              <a:rPr lang="es-CL" sz="1000" dirty="0">
                <a:solidFill>
                  <a:schemeClr val="bg1"/>
                </a:solidFill>
                <a:latin typeface="Calibri"/>
                <a:cs typeface="Calibri"/>
              </a:rPr>
              <a:t>N</a:t>
            </a:r>
            <a:r>
              <a:rPr sz="1000" dirty="0">
                <a:solidFill>
                  <a:schemeClr val="bg1"/>
                </a:solidFill>
                <a:latin typeface="Calibri"/>
                <a:cs typeface="Calibri"/>
              </a:rPr>
              <a:t>º 130 · </a:t>
            </a:r>
            <a:r>
              <a:rPr sz="1000" spc="-5" dirty="0">
                <a:solidFill>
                  <a:schemeClr val="bg1"/>
                </a:solidFill>
                <a:latin typeface="Calibri"/>
                <a:cs typeface="Calibri"/>
              </a:rPr>
              <a:t>Líneas individuales por docente </a:t>
            </a:r>
            <a:r>
              <a:rPr sz="1000" dirty="0">
                <a:solidFill>
                  <a:schemeClr val="bg1"/>
                </a:solidFill>
                <a:latin typeface="Calibri"/>
                <a:cs typeface="Calibri"/>
              </a:rPr>
              <a:t>+ media</a:t>
            </a:r>
            <a:r>
              <a:rPr sz="1000" spc="-4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spc="-5" dirty="0" err="1">
                <a:solidFill>
                  <a:schemeClr val="bg1"/>
                </a:solidFill>
                <a:latin typeface="Calibri"/>
                <a:cs typeface="Calibri"/>
              </a:rPr>
              <a:t>grupal</a:t>
            </a:r>
            <a:r>
              <a:rPr lang="es-CL" sz="100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</a:p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EDD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Total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(escala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0–1) </a:t>
            </a:r>
            <a:r>
              <a:rPr sz="1000" spc="-5" dirty="0" err="1">
                <a:solidFill>
                  <a:srgbClr val="FFFFFF"/>
                </a:solidFill>
                <a:latin typeface="Calibri"/>
                <a:cs typeface="Calibri"/>
              </a:rPr>
              <a:t>por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 a</a:t>
            </a:r>
            <a:r>
              <a:rPr lang="es-CL" sz="1000" spc="-5" dirty="0">
                <a:solidFill>
                  <a:srgbClr val="FFFFFF"/>
                </a:solidFill>
                <a:latin typeface="Calibri"/>
                <a:cs typeface="Calibri"/>
              </a:rPr>
              <a:t>ñ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o </a:t>
            </a:r>
            <a:r>
              <a:rPr sz="1000" spc="-5" dirty="0" err="1">
                <a:solidFill>
                  <a:srgbClr val="FFFFFF"/>
                </a:solidFill>
                <a:latin typeface="Calibri"/>
                <a:cs typeface="Calibri"/>
              </a:rPr>
              <a:t>evaluaci</a:t>
            </a:r>
            <a:r>
              <a:rPr lang="es-CL" sz="1000" spc="-5" dirty="0" err="1">
                <a:solidFill>
                  <a:srgbClr val="FFFFFF"/>
                </a:solidFill>
                <a:latin typeface="Calibri"/>
                <a:cs typeface="Calibri"/>
              </a:rPr>
              <a:t>ó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n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·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Aptos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P3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(azul, </a:t>
            </a:r>
            <a:r>
              <a:rPr lang="es-CL" sz="10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º</a:t>
            </a:r>
            <a:r>
              <a:rPr lang="es-CL" sz="1000" spc="-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206) ·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Control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B4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sin formacion (naranja, </a:t>
            </a:r>
            <a:r>
              <a:rPr lang="es-CL" sz="1000" spc="-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º</a:t>
            </a:r>
            <a:r>
              <a:rPr sz="1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s-CL" sz="1000" spc="-25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130)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7455" y="5515891"/>
            <a:ext cx="8526145" cy="940001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5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evolucion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del EDD muestra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trayectoria de evaluacion directiva de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los 206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Aptos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P3 con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registro EDD frente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a los 130</a:t>
            </a:r>
            <a:r>
              <a:rPr sz="1300" b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del grupo control.</a:t>
            </a:r>
            <a:endParaRPr sz="1300" b="1" dirty="0">
              <a:latin typeface="Calibri"/>
              <a:cs typeface="Calibri"/>
            </a:endParaRPr>
          </a:p>
          <a:p>
            <a:pPr marL="240665" indent="-228600">
              <a:lnSpc>
                <a:spcPct val="100000"/>
              </a:lnSpc>
              <a:spcBef>
                <a:spcPts val="4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Las lineas individuales permiten identificar docentes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con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trayectorias atipicas (ascendentes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o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descendentes marcadas)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dentro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3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cada grupo.</a:t>
            </a:r>
            <a:endParaRPr sz="13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4156" y="653465"/>
            <a:ext cx="9955276" cy="55998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0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29523" y="332223"/>
            <a:ext cx="6884542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L" dirty="0"/>
              <a:t>Bloque IV — </a:t>
            </a:r>
            <a:r>
              <a:rPr spc="-5" dirty="0"/>
              <a:t>EDD </a:t>
            </a:r>
            <a:r>
              <a:rPr dirty="0"/>
              <a:t>por </a:t>
            </a:r>
            <a:r>
              <a:rPr spc="-15" dirty="0"/>
              <a:t>Facultad </a:t>
            </a:r>
            <a:r>
              <a:rPr spc="5" dirty="0"/>
              <a:t>— </a:t>
            </a:r>
            <a:r>
              <a:rPr spc="-5" dirty="0"/>
              <a:t>Formados </a:t>
            </a:r>
            <a:r>
              <a:rPr dirty="0"/>
              <a:t>vs</a:t>
            </a:r>
            <a:r>
              <a:rPr spc="-70" dirty="0"/>
              <a:t> </a:t>
            </a:r>
            <a:r>
              <a:rPr spc="-10" dirty="0"/>
              <a:t>Control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9262" y="907160"/>
            <a:ext cx="4626737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EDD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Total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Promedio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·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por Unidad/Facultad del docente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·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formados </a:t>
            </a:r>
            <a:r>
              <a:rPr sz="1000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100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spc="-5" dirty="0">
                <a:solidFill>
                  <a:srgbClr val="FFFFFF"/>
                </a:solidFill>
                <a:latin typeface="Calibri"/>
                <a:cs typeface="Calibri"/>
              </a:rPr>
              <a:t>control</a:t>
            </a:r>
            <a:endParaRPr sz="1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0" y="5181600"/>
            <a:ext cx="8547405" cy="539891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4965" indent="-342900" algn="just">
              <a:lnSpc>
                <a:spcPct val="100000"/>
              </a:lnSpc>
              <a:spcBef>
                <a:spcPts val="590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Comparación de evaluación de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desempeño </a:t>
            </a: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docente (EDD) por facultad entre formados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y </a:t>
            </a: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grupo</a:t>
            </a:r>
            <a:r>
              <a:rPr sz="1300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control.</a:t>
            </a:r>
            <a:endParaRPr sz="1300" dirty="0">
              <a:latin typeface="Calibri"/>
              <a:cs typeface="Calibri"/>
            </a:endParaRPr>
          </a:p>
          <a:p>
            <a:pPr marL="354965" indent="-342900" algn="just">
              <a:lnSpc>
                <a:spcPct val="100000"/>
              </a:lnSpc>
              <a:spcBef>
                <a:spcPts val="495"/>
              </a:spcBef>
              <a:buFont typeface="+mj-lt"/>
              <a:buAutoNum type="arabicPeriod"/>
              <a:tabLst>
                <a:tab pos="153035" algn="l"/>
              </a:tabLst>
            </a:pP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Las diferencias entre unidades reflejan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el efecto </a:t>
            </a: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1300" dirty="0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formación dentro del contexto institucional propio de cada</a:t>
            </a:r>
            <a:r>
              <a:rPr sz="1300" spc="22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Calibri"/>
                <a:cs typeface="Calibri"/>
              </a:rPr>
              <a:t>facultad.</a:t>
            </a:r>
            <a:endParaRPr sz="1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7585" y="200990"/>
            <a:ext cx="35572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Conclusiones </a:t>
            </a:r>
            <a:r>
              <a:rPr dirty="0"/>
              <a:t>y</a:t>
            </a:r>
            <a:r>
              <a:rPr spc="-25" dirty="0"/>
              <a:t> </a:t>
            </a:r>
            <a:r>
              <a:rPr spc="-5" dirty="0"/>
              <a:t>Recomendaciones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3028" y="756192"/>
            <a:ext cx="4316172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Síntesis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del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análisis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de </a:t>
            </a:r>
            <a:r>
              <a:rPr sz="1000" i="1" spc="-5" dirty="0" err="1">
                <a:solidFill>
                  <a:schemeClr val="bg1"/>
                </a:solidFill>
                <a:latin typeface="Calibri"/>
                <a:cs typeface="Calibri"/>
              </a:rPr>
              <a:t>i</a:t>
            </a:r>
            <a:r>
              <a:rPr lang="es-CL" sz="1000" i="1" spc="-5" dirty="0" err="1">
                <a:solidFill>
                  <a:schemeClr val="bg1"/>
                </a:solidFill>
                <a:latin typeface="Calibri"/>
                <a:cs typeface="Calibri"/>
              </a:rPr>
              <a:t>ncidencia</a:t>
            </a:r>
            <a:r>
              <a:rPr lang="es-CL" sz="1000" i="1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·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Universo: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316 </a:t>
            </a:r>
            <a:r>
              <a:rPr sz="1000" i="1" spc="-5" dirty="0">
                <a:solidFill>
                  <a:schemeClr val="bg1"/>
                </a:solidFill>
                <a:latin typeface="Calibri"/>
                <a:cs typeface="Calibri"/>
              </a:rPr>
              <a:t>Aptos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P3 · </a:t>
            </a:r>
            <a:r>
              <a:rPr sz="1000" i="1" spc="-5" dirty="0" err="1">
                <a:solidFill>
                  <a:schemeClr val="bg1"/>
                </a:solidFill>
                <a:latin typeface="Calibri"/>
                <a:cs typeface="Calibri"/>
              </a:rPr>
              <a:t>Período</a:t>
            </a:r>
            <a:r>
              <a:rPr lang="es-CL" sz="1000" i="1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chemeClr val="bg1"/>
                </a:solidFill>
                <a:latin typeface="Calibri"/>
                <a:cs typeface="Calibri"/>
              </a:rPr>
              <a:t>2022–2025</a:t>
            </a:r>
            <a:endParaRPr sz="10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9645" y="1068881"/>
            <a:ext cx="4824371" cy="2207656"/>
          </a:xfrm>
          <a:prstGeom prst="rect">
            <a:avLst/>
          </a:prstGeom>
          <a:solidFill>
            <a:srgbClr val="002046"/>
          </a:solidFill>
        </p:spPr>
        <p:txBody>
          <a:bodyPr vert="horz" wrap="square" lIns="0" tIns="75565" rIns="0" bIns="0" rtlCol="0">
            <a:spAutoFit/>
          </a:bodyPr>
          <a:lstStyle/>
          <a:p>
            <a:pPr marL="263525" indent="-133350">
              <a:lnSpc>
                <a:spcPct val="100000"/>
              </a:lnSpc>
              <a:spcBef>
                <a:spcPts val="595"/>
              </a:spcBef>
              <a:buChar char="•"/>
              <a:tabLst>
                <a:tab pos="264160" algn="l"/>
              </a:tabLst>
            </a:pPr>
            <a:r>
              <a:rPr sz="1400" b="1" spc="-5" dirty="0">
                <a:solidFill>
                  <a:schemeClr val="bg1"/>
                </a:solidFill>
                <a:latin typeface="Calibri"/>
                <a:cs typeface="Calibri"/>
              </a:rPr>
              <a:t>Impacto en SAT</a:t>
            </a:r>
            <a:r>
              <a:rPr sz="1400" b="1" spc="-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chemeClr val="bg1"/>
                </a:solidFill>
                <a:latin typeface="Calibri"/>
                <a:cs typeface="Calibri"/>
              </a:rPr>
              <a:t>(z-score)</a:t>
            </a:r>
            <a:endParaRPr sz="1400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 dirty="0">
              <a:latin typeface="Calibri"/>
              <a:cs typeface="Calibri"/>
            </a:endParaRPr>
          </a:p>
          <a:p>
            <a:pPr marL="473074" indent="-342900">
              <a:lnSpc>
                <a:spcPct val="100000"/>
              </a:lnSpc>
              <a:buFont typeface="+mj-lt"/>
              <a:buAutoNum type="arabicPeriod"/>
              <a:tabLst>
                <a:tab pos="218440" algn="l"/>
              </a:tabLst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Los formados mantienen z-score positivo y sostenido (6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períodos)</a:t>
            </a:r>
            <a:endParaRPr sz="1400" dirty="0">
              <a:latin typeface="Calibri"/>
              <a:cs typeface="Calibri"/>
            </a:endParaRPr>
          </a:p>
          <a:p>
            <a:pPr marL="473074" indent="-342900">
              <a:lnSpc>
                <a:spcPct val="100000"/>
              </a:lnSpc>
              <a:spcBef>
                <a:spcPts val="300"/>
              </a:spcBef>
              <a:buFont typeface="+mj-lt"/>
              <a:buAutoNum type="arabicPeriod"/>
              <a:tabLst>
                <a:tab pos="218440" algn="l"/>
              </a:tabLst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Brecha Formados − Control estadísticamente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significativa</a:t>
            </a:r>
            <a:endParaRPr sz="1400" dirty="0">
              <a:latin typeface="Calibri"/>
              <a:cs typeface="Calibri"/>
            </a:endParaRPr>
          </a:p>
          <a:p>
            <a:pPr marL="473074" indent="-342900">
              <a:lnSpc>
                <a:spcPct val="100000"/>
              </a:lnSpc>
              <a:spcBef>
                <a:spcPts val="300"/>
              </a:spcBef>
              <a:buFont typeface="+mj-lt"/>
              <a:buAutoNum type="arabicPeriod"/>
              <a:tabLst>
                <a:tab pos="218440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El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Diplomado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produce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mayor Δz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que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la </a:t>
            </a:r>
            <a:r>
              <a:rPr sz="1400" spc="-10" dirty="0" err="1">
                <a:solidFill>
                  <a:srgbClr val="FFFFFF"/>
                </a:solidFill>
                <a:latin typeface="Calibri"/>
                <a:cs typeface="Calibri"/>
              </a:rPr>
              <a:t>Oferta</a:t>
            </a:r>
            <a:r>
              <a:rPr sz="14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s-CL" sz="1400" spc="-5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400" spc="-5" dirty="0" err="1">
                <a:solidFill>
                  <a:srgbClr val="FFFFFF"/>
                </a:solidFill>
                <a:latin typeface="Calibri"/>
                <a:cs typeface="Calibri"/>
              </a:rPr>
              <a:t>ormativa</a:t>
            </a:r>
            <a:endParaRPr sz="1400" dirty="0">
              <a:latin typeface="Calibri"/>
              <a:cs typeface="Calibri"/>
            </a:endParaRPr>
          </a:p>
          <a:p>
            <a:pPr marL="473074" indent="-342900">
              <a:lnSpc>
                <a:spcPct val="100000"/>
              </a:lnSpc>
              <a:spcBef>
                <a:spcPts val="300"/>
              </a:spcBef>
              <a:buFont typeface="+mj-lt"/>
              <a:buAutoNum type="arabicPeriod"/>
              <a:tabLst>
                <a:tab pos="218440" algn="l"/>
              </a:tabLst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La mejora es generalizada (&gt;50%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los 316</a:t>
            </a:r>
            <a:r>
              <a:rPr sz="14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 err="1">
                <a:solidFill>
                  <a:srgbClr val="FFFFFF"/>
                </a:solidFill>
                <a:latin typeface="Calibri"/>
                <a:cs typeface="Calibri"/>
              </a:rPr>
              <a:t>mejoran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lang="es-CL" sz="1400" spc="-5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473074" indent="-342900">
              <a:lnSpc>
                <a:spcPct val="100000"/>
              </a:lnSpc>
              <a:spcBef>
                <a:spcPts val="300"/>
              </a:spcBef>
              <a:buFont typeface="+mj-lt"/>
              <a:buAutoNum type="arabicPeriod"/>
              <a:tabLst>
                <a:tab pos="218440" algn="l"/>
              </a:tabLst>
            </a:pPr>
            <a:endParaRPr lang="es-CL" sz="1400" spc="-5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473074" indent="-342900">
              <a:lnSpc>
                <a:spcPct val="100000"/>
              </a:lnSpc>
              <a:spcBef>
                <a:spcPts val="300"/>
              </a:spcBef>
              <a:buFont typeface="+mj-lt"/>
              <a:buAutoNum type="arabicPeriod"/>
              <a:tabLst>
                <a:tab pos="218440" algn="l"/>
              </a:tabLst>
            </a:pPr>
            <a:endParaRPr sz="14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15000" y="1065038"/>
            <a:ext cx="3962400" cy="2600071"/>
          </a:xfrm>
          <a:prstGeom prst="rect">
            <a:avLst/>
          </a:prstGeom>
          <a:solidFill>
            <a:srgbClr val="002046"/>
          </a:solidFill>
        </p:spPr>
        <p:txBody>
          <a:bodyPr vert="horz" wrap="square" lIns="0" tIns="75565" rIns="0" bIns="0" rtlCol="0">
            <a:spAutoFit/>
          </a:bodyPr>
          <a:lstStyle/>
          <a:p>
            <a:pPr marL="264160" indent="-132715">
              <a:lnSpc>
                <a:spcPct val="100000"/>
              </a:lnSpc>
              <a:spcBef>
                <a:spcPts val="595"/>
              </a:spcBef>
              <a:buChar char="•"/>
              <a:tabLst>
                <a:tab pos="264795" algn="l"/>
              </a:tabLst>
            </a:pPr>
            <a:r>
              <a:rPr sz="1400" b="1" spc="-5" dirty="0">
                <a:solidFill>
                  <a:schemeClr val="bg1"/>
                </a:solidFill>
                <a:latin typeface="Calibri"/>
                <a:cs typeface="Calibri"/>
              </a:rPr>
              <a:t>Rendimiento </a:t>
            </a:r>
            <a:r>
              <a:rPr sz="1400" b="1" dirty="0">
                <a:solidFill>
                  <a:schemeClr val="bg1"/>
                </a:solidFill>
                <a:latin typeface="Calibri"/>
                <a:cs typeface="Calibri"/>
              </a:rPr>
              <a:t>Académico </a:t>
            </a:r>
            <a:r>
              <a:rPr sz="1400" b="1" spc="-5" dirty="0">
                <a:solidFill>
                  <a:schemeClr val="bg1"/>
                </a:solidFill>
                <a:latin typeface="Calibri"/>
                <a:cs typeface="Calibri"/>
              </a:rPr>
              <a:t>de</a:t>
            </a:r>
            <a:r>
              <a:rPr sz="1400" b="1" spc="-4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chemeClr val="bg1"/>
                </a:solidFill>
                <a:latin typeface="Calibri"/>
                <a:cs typeface="Calibri"/>
              </a:rPr>
              <a:t>Alumnos</a:t>
            </a:r>
            <a:endParaRPr sz="1400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 dirty="0">
              <a:latin typeface="Calibri"/>
              <a:cs typeface="Calibri"/>
            </a:endParaRPr>
          </a:p>
          <a:p>
            <a:pPr marL="474345" indent="-342900">
              <a:lnSpc>
                <a:spcPct val="100000"/>
              </a:lnSpc>
              <a:buFont typeface="+mj-lt"/>
              <a:buAutoNum type="arabicPeriod"/>
              <a:tabLst>
                <a:tab pos="219075" algn="l"/>
              </a:tabLst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% Rendimiento académico mayor en formados vs control en todos los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períodos</a:t>
            </a:r>
            <a:endParaRPr sz="1400" dirty="0">
              <a:latin typeface="Calibri"/>
              <a:cs typeface="Calibri"/>
            </a:endParaRPr>
          </a:p>
          <a:p>
            <a:pPr marL="474345" indent="-342900">
              <a:lnSpc>
                <a:spcPct val="100000"/>
              </a:lnSpc>
              <a:spcBef>
                <a:spcPts val="300"/>
              </a:spcBef>
              <a:buFont typeface="+mj-lt"/>
              <a:buAutoNum type="arabicPeriod"/>
              <a:tabLst>
                <a:tab pos="219075" algn="l"/>
              </a:tabLst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Nota promedio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alumnos también superior en cursos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4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formados</a:t>
            </a:r>
            <a:endParaRPr sz="1400" dirty="0">
              <a:latin typeface="Calibri"/>
              <a:cs typeface="Calibri"/>
            </a:endParaRPr>
          </a:p>
          <a:p>
            <a:pPr marL="474345" indent="-342900">
              <a:lnSpc>
                <a:spcPct val="100000"/>
              </a:lnSpc>
              <a:spcBef>
                <a:spcPts val="300"/>
              </a:spcBef>
              <a:buFont typeface="+mj-lt"/>
              <a:buAutoNum type="arabicPeriod"/>
              <a:tabLst>
                <a:tab pos="219075" algn="l"/>
              </a:tabLst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Brecha más evidente en jerarquías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entrada (Instructor,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Asistente)</a:t>
            </a:r>
            <a:endParaRPr sz="1400" dirty="0">
              <a:latin typeface="Calibri"/>
              <a:cs typeface="Calibri"/>
            </a:endParaRPr>
          </a:p>
          <a:p>
            <a:pPr marL="474345" indent="-342900">
              <a:lnSpc>
                <a:spcPct val="100000"/>
              </a:lnSpc>
              <a:spcBef>
                <a:spcPts val="300"/>
              </a:spcBef>
              <a:buFont typeface="+mj-lt"/>
              <a:buAutoNum type="arabicPeriod"/>
              <a:tabLst>
                <a:tab pos="219075" algn="l"/>
              </a:tabLst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Efecto acumulativo: más instancias → mayor </a:t>
            </a:r>
            <a:r>
              <a:rPr sz="1400" spc="-5" dirty="0" err="1">
                <a:solidFill>
                  <a:srgbClr val="FFFFFF"/>
                </a:solidFill>
                <a:latin typeface="Calibri"/>
                <a:cs typeface="Calibri"/>
              </a:rPr>
              <a:t>rendimiento</a:t>
            </a:r>
            <a:r>
              <a:rPr sz="1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 err="1">
                <a:solidFill>
                  <a:srgbClr val="FFFFFF"/>
                </a:solidFill>
                <a:latin typeface="Calibri"/>
                <a:cs typeface="Calibri"/>
              </a:rPr>
              <a:t>académico</a:t>
            </a:r>
            <a:r>
              <a:rPr lang="es-CL" sz="1400" spc="-5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</a:p>
          <a:p>
            <a:pPr marL="474345" indent="-342900">
              <a:lnSpc>
                <a:spcPct val="100000"/>
              </a:lnSpc>
              <a:spcBef>
                <a:spcPts val="300"/>
              </a:spcBef>
              <a:buFont typeface="+mj-lt"/>
              <a:buAutoNum type="arabicPeriod"/>
              <a:tabLst>
                <a:tab pos="219075" algn="l"/>
              </a:tabLst>
            </a:pPr>
            <a:endParaRPr sz="1400" dirty="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54818" y="3214051"/>
            <a:ext cx="4869198" cy="3577694"/>
            <a:chOff x="844296" y="2955561"/>
            <a:chExt cx="7266771" cy="1880091"/>
          </a:xfrm>
        </p:grpSpPr>
        <p:sp>
          <p:nvSpPr>
            <p:cNvPr id="9" name="object 9"/>
            <p:cNvSpPr/>
            <p:nvPr/>
          </p:nvSpPr>
          <p:spPr>
            <a:xfrm>
              <a:off x="844296" y="2994660"/>
              <a:ext cx="5239512" cy="184099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1194" y="2955561"/>
              <a:ext cx="7199873" cy="1819639"/>
            </a:xfrm>
            <a:custGeom>
              <a:avLst/>
              <a:gdLst/>
              <a:ahLst/>
              <a:cxnLst/>
              <a:rect l="l" t="t" r="r" b="b"/>
              <a:pathLst>
                <a:path w="5160010" h="1760220">
                  <a:moveTo>
                    <a:pt x="5159629" y="0"/>
                  </a:moveTo>
                  <a:lnTo>
                    <a:pt x="0" y="0"/>
                  </a:lnTo>
                  <a:lnTo>
                    <a:pt x="0" y="1759966"/>
                  </a:lnTo>
                  <a:lnTo>
                    <a:pt x="5159629" y="1759966"/>
                  </a:lnTo>
                  <a:lnTo>
                    <a:pt x="5159629" y="0"/>
                  </a:lnTo>
                  <a:close/>
                </a:path>
              </a:pathLst>
            </a:custGeom>
            <a:solidFill>
              <a:srgbClr val="0020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12182" y="3260897"/>
            <a:ext cx="4604845" cy="33502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3525" indent="-133350">
              <a:lnSpc>
                <a:spcPct val="100000"/>
              </a:lnSpc>
              <a:spcBef>
                <a:spcPts val="105"/>
              </a:spcBef>
              <a:buChar char="•"/>
              <a:tabLst>
                <a:tab pos="264160" algn="l"/>
              </a:tabLst>
            </a:pPr>
            <a:r>
              <a:rPr sz="1400" b="1" dirty="0">
                <a:solidFill>
                  <a:schemeClr val="bg1"/>
                </a:solidFill>
                <a:latin typeface="Calibri"/>
                <a:cs typeface="Calibri"/>
              </a:rPr>
              <a:t>EDD — </a:t>
            </a:r>
            <a:r>
              <a:rPr sz="1400" b="1" spc="-5" dirty="0">
                <a:solidFill>
                  <a:schemeClr val="bg1"/>
                </a:solidFill>
                <a:latin typeface="Calibri"/>
                <a:cs typeface="Calibri"/>
              </a:rPr>
              <a:t>Evaluación de Desempeño (Bloque</a:t>
            </a:r>
            <a:r>
              <a:rPr sz="1400" b="1" spc="-9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chemeClr val="bg1"/>
                </a:solidFill>
                <a:latin typeface="Calibri"/>
                <a:cs typeface="Calibri"/>
              </a:rPr>
              <a:t>IV)</a:t>
            </a:r>
            <a:endParaRPr sz="14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228600" indent="-228600">
              <a:lnSpc>
                <a:spcPct val="100000"/>
              </a:lnSpc>
              <a:spcBef>
                <a:spcPts val="55"/>
              </a:spcBef>
              <a:buFont typeface="+mj-lt"/>
              <a:buAutoNum type="arabicPeriod"/>
            </a:pPr>
            <a:endParaRPr sz="1400" dirty="0">
              <a:latin typeface="Calibri"/>
              <a:cs typeface="Calibri"/>
            </a:endParaRPr>
          </a:p>
          <a:p>
            <a:pPr marL="358774" indent="-228600">
              <a:lnSpc>
                <a:spcPct val="100000"/>
              </a:lnSpc>
              <a:spcBef>
                <a:spcPts val="5"/>
              </a:spcBef>
              <a:buFont typeface="+mj-lt"/>
              <a:buAutoNum type="arabicPeriod"/>
              <a:tabLst>
                <a:tab pos="218440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EDD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promedio formados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&gt;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control en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los 4 años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medidos</a:t>
            </a:r>
            <a:r>
              <a:rPr sz="14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(2022–2025)</a:t>
            </a:r>
            <a:endParaRPr sz="1400" dirty="0">
              <a:latin typeface="Calibri"/>
              <a:cs typeface="Calibri"/>
            </a:endParaRPr>
          </a:p>
          <a:p>
            <a:pPr marL="358774" indent="-228600">
              <a:lnSpc>
                <a:spcPct val="100000"/>
              </a:lnSpc>
              <a:spcBef>
                <a:spcPts val="300"/>
              </a:spcBef>
              <a:buFont typeface="+mj-lt"/>
              <a:buAutoNum type="arabicPeriod"/>
              <a:tabLst>
                <a:tab pos="218440" algn="l"/>
              </a:tabLst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Proyecto (0.83) ≥ Oferta formativa (0.83) &gt; Diplomado (0.85) &gt; Control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(0.71)</a:t>
            </a:r>
            <a:endParaRPr sz="1400" dirty="0">
              <a:latin typeface="Calibri"/>
              <a:cs typeface="Calibri"/>
            </a:endParaRPr>
          </a:p>
          <a:p>
            <a:pPr marL="358774" indent="-228600">
              <a:lnSpc>
                <a:spcPct val="100000"/>
              </a:lnSpc>
              <a:spcBef>
                <a:spcPts val="300"/>
              </a:spcBef>
              <a:buFont typeface="+mj-lt"/>
              <a:buAutoNum type="arabicPeriod"/>
              <a:tabLst>
                <a:tab pos="218440" algn="l"/>
              </a:tabLst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La brecha Formados−Control se amplía en 2024 y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2025</a:t>
            </a:r>
            <a:endParaRPr sz="1400" dirty="0">
              <a:latin typeface="Calibri"/>
              <a:cs typeface="Calibri"/>
            </a:endParaRPr>
          </a:p>
          <a:p>
            <a:pPr marL="358774" indent="-228600">
              <a:lnSpc>
                <a:spcPct val="100000"/>
              </a:lnSpc>
              <a:spcBef>
                <a:spcPts val="300"/>
              </a:spcBef>
              <a:buFont typeface="+mj-lt"/>
              <a:buAutoNum type="arabicPeriod"/>
              <a:tabLst>
                <a:tab pos="218440" algn="l"/>
              </a:tabLst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Múltiples métricas (SAT,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Aprobación,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EDD) convergen en el </a:t>
            </a:r>
            <a:r>
              <a:rPr sz="1400" spc="-5" dirty="0" err="1">
                <a:solidFill>
                  <a:srgbClr val="FFFFFF"/>
                </a:solidFill>
                <a:latin typeface="Calibri"/>
                <a:cs typeface="Calibri"/>
              </a:rPr>
              <a:t>mismo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 err="1">
                <a:solidFill>
                  <a:srgbClr val="FFFFFF"/>
                </a:solidFill>
                <a:latin typeface="Calibri"/>
                <a:cs typeface="Calibri"/>
              </a:rPr>
              <a:t>efecto</a:t>
            </a:r>
            <a:endParaRPr lang="es-CL" sz="1400" spc="-1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358774" indent="-228600">
              <a:lnSpc>
                <a:spcPct val="100000"/>
              </a:lnSpc>
              <a:spcBef>
                <a:spcPts val="300"/>
              </a:spcBef>
              <a:buFont typeface="+mj-lt"/>
              <a:buAutoNum type="arabicPeriod"/>
              <a:tabLst>
                <a:tab pos="218440" algn="l"/>
              </a:tabLst>
            </a:pPr>
            <a:endParaRPr lang="es-CL" sz="1400" spc="-1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358774" indent="-228600">
              <a:lnSpc>
                <a:spcPct val="100000"/>
              </a:lnSpc>
              <a:spcBef>
                <a:spcPts val="300"/>
              </a:spcBef>
              <a:buFont typeface="+mj-lt"/>
              <a:buAutoNum type="arabicPeriod"/>
              <a:tabLst>
                <a:tab pos="218440" algn="l"/>
              </a:tabLst>
            </a:pPr>
            <a:endParaRPr lang="es-CL" sz="1400" spc="-1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358774" indent="-228600">
              <a:lnSpc>
                <a:spcPct val="100000"/>
              </a:lnSpc>
              <a:spcBef>
                <a:spcPts val="300"/>
              </a:spcBef>
              <a:buFont typeface="+mj-lt"/>
              <a:buAutoNum type="arabicPeriod"/>
              <a:tabLst>
                <a:tab pos="218440" algn="l"/>
              </a:tabLst>
            </a:pPr>
            <a:endParaRPr lang="es-CL" sz="1400" spc="-1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358774" indent="-228600">
              <a:lnSpc>
                <a:spcPct val="100000"/>
              </a:lnSpc>
              <a:spcBef>
                <a:spcPts val="300"/>
              </a:spcBef>
              <a:buFont typeface="+mj-lt"/>
              <a:buAutoNum type="arabicPeriod"/>
              <a:tabLst>
                <a:tab pos="218440" algn="l"/>
              </a:tabLst>
            </a:pPr>
            <a:endParaRPr lang="es-CL" sz="1400" spc="-1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358774" indent="-228600">
              <a:lnSpc>
                <a:spcPct val="100000"/>
              </a:lnSpc>
              <a:spcBef>
                <a:spcPts val="300"/>
              </a:spcBef>
              <a:buFont typeface="+mj-lt"/>
              <a:buAutoNum type="arabicPeriod"/>
              <a:tabLst>
                <a:tab pos="218440" algn="l"/>
              </a:tabLst>
            </a:pPr>
            <a:endParaRPr sz="1400" dirty="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694240" y="3610252"/>
            <a:ext cx="3983160" cy="3053919"/>
            <a:chOff x="6083808" y="2994660"/>
            <a:chExt cx="5202428" cy="1841501"/>
          </a:xfrm>
        </p:grpSpPr>
        <p:sp>
          <p:nvSpPr>
            <p:cNvPr id="13" name="object 13"/>
            <p:cNvSpPr/>
            <p:nvPr/>
          </p:nvSpPr>
          <p:spPr>
            <a:xfrm>
              <a:off x="6083808" y="2994660"/>
              <a:ext cx="5160010" cy="184150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26226" y="3014979"/>
              <a:ext cx="5160010" cy="1821180"/>
            </a:xfrm>
            <a:custGeom>
              <a:avLst/>
              <a:gdLst/>
              <a:ahLst/>
              <a:cxnLst/>
              <a:rect l="l" t="t" r="r" b="b"/>
              <a:pathLst>
                <a:path w="5160009" h="1760220">
                  <a:moveTo>
                    <a:pt x="5159629" y="0"/>
                  </a:moveTo>
                  <a:lnTo>
                    <a:pt x="0" y="0"/>
                  </a:lnTo>
                  <a:lnTo>
                    <a:pt x="0" y="1759966"/>
                  </a:lnTo>
                  <a:lnTo>
                    <a:pt x="5159629" y="1759966"/>
                  </a:lnTo>
                  <a:lnTo>
                    <a:pt x="5159629" y="0"/>
                  </a:lnTo>
                  <a:close/>
                </a:path>
              </a:pathLst>
            </a:custGeom>
            <a:solidFill>
              <a:srgbClr val="0020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700170" y="3610252"/>
            <a:ext cx="3439052" cy="294247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7830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s-CL" sz="1400" b="1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400" b="1" spc="-5" dirty="0" err="1">
                <a:solidFill>
                  <a:schemeClr val="bg1"/>
                </a:solidFill>
                <a:latin typeface="Calibri"/>
                <a:cs typeface="Calibri"/>
              </a:rPr>
              <a:t>Recomendaciones</a:t>
            </a:r>
            <a:endParaRPr lang="es-CL" sz="1400" b="1" spc="-5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417830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endParaRPr sz="1400" dirty="0">
              <a:latin typeface="Calibri"/>
              <a:cs typeface="Calibri"/>
            </a:endParaRPr>
          </a:p>
          <a:p>
            <a:pPr marL="360045" indent="-228600">
              <a:lnSpc>
                <a:spcPct val="100000"/>
              </a:lnSpc>
              <a:spcBef>
                <a:spcPts val="5"/>
              </a:spcBef>
              <a:buFont typeface="+mj-lt"/>
              <a:buAutoNum type="arabicPeriod"/>
              <a:tabLst>
                <a:tab pos="219075" algn="l"/>
              </a:tabLst>
            </a:pPr>
            <a:r>
              <a:rPr sz="1400" spc="-5" dirty="0" err="1">
                <a:solidFill>
                  <a:srgbClr val="FFFFFF"/>
                </a:solidFill>
                <a:latin typeface="Calibri"/>
                <a:cs typeface="Calibri"/>
              </a:rPr>
              <a:t>Priorizar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 err="1">
                <a:solidFill>
                  <a:srgbClr val="FFFFFF"/>
                </a:solidFill>
                <a:latin typeface="Calibri"/>
                <a:cs typeface="Calibri"/>
              </a:rPr>
              <a:t>Diplomados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para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docentes con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5–15 años de</a:t>
            </a:r>
            <a:r>
              <a:rPr sz="14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antigüedad</a:t>
            </a:r>
            <a:endParaRPr sz="1400" dirty="0">
              <a:latin typeface="Calibri"/>
              <a:cs typeface="Calibri"/>
            </a:endParaRPr>
          </a:p>
          <a:p>
            <a:pPr marL="360045" indent="-228600">
              <a:lnSpc>
                <a:spcPct val="100000"/>
              </a:lnSpc>
              <a:spcBef>
                <a:spcPts val="300"/>
              </a:spcBef>
              <a:buFont typeface="+mj-lt"/>
              <a:buAutoNum type="arabicPeriod"/>
              <a:tabLst>
                <a:tab pos="219075" algn="l"/>
              </a:tabLst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Fomentar la participación repetida (multi-</a:t>
            </a:r>
            <a:r>
              <a:rPr sz="1400" spc="-5" dirty="0" err="1">
                <a:solidFill>
                  <a:srgbClr val="FFFFFF"/>
                </a:solidFill>
                <a:latin typeface="Calibri"/>
                <a:cs typeface="Calibri"/>
              </a:rPr>
              <a:t>instancia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1400" dirty="0">
              <a:latin typeface="Calibri"/>
              <a:cs typeface="Calibri"/>
            </a:endParaRPr>
          </a:p>
          <a:p>
            <a:pPr marL="360045" indent="-228600">
              <a:lnSpc>
                <a:spcPct val="100000"/>
              </a:lnSpc>
              <a:spcBef>
                <a:spcPts val="300"/>
              </a:spcBef>
              <a:buFont typeface="+mj-lt"/>
              <a:buAutoNum type="arabicPeriod"/>
              <a:tabLst>
                <a:tab pos="219075" algn="l"/>
              </a:tabLst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Monitorear la brecha Formados−Control semestralmente (SAT y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EDD)</a:t>
            </a:r>
            <a:endParaRPr lang="es-CL" sz="1400" spc="-5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360045" indent="-228600" algn="just">
              <a:lnSpc>
                <a:spcPct val="100000"/>
              </a:lnSpc>
              <a:spcBef>
                <a:spcPts val="300"/>
              </a:spcBef>
              <a:buFont typeface="+mj-lt"/>
              <a:buAutoNum type="arabicPeriod"/>
              <a:tabLst>
                <a:tab pos="219075" algn="l"/>
              </a:tabLst>
            </a:pPr>
            <a:r>
              <a:rPr lang="es-CL" sz="1400" spc="-5" dirty="0">
                <a:solidFill>
                  <a:srgbClr val="FFFFFF"/>
                </a:solidFill>
                <a:latin typeface="Calibri"/>
                <a:cs typeface="Calibri"/>
              </a:rPr>
              <a:t>Generar de manera regular, información consolidada institucional e interoperable en tiempo real acorde a los requerimientos institucionales para una gestión efectiva.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2185</TotalTime>
  <Words>4967</Words>
  <Application>Microsoft Office PowerPoint</Application>
  <PresentationFormat>Panorámica</PresentationFormat>
  <Paragraphs>359</Paragraphs>
  <Slides>37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1" baseType="lpstr">
      <vt:lpstr>Aptos</vt:lpstr>
      <vt:lpstr>Arial</vt:lpstr>
      <vt:lpstr>Calibri</vt:lpstr>
      <vt:lpstr>Office Theme</vt:lpstr>
      <vt:lpstr>Presentación de PowerPoint</vt:lpstr>
      <vt:lpstr>Marco Metodológico por Bloque (4) — Objetivo N°3</vt:lpstr>
      <vt:lpstr>Presentación de PowerPoint</vt:lpstr>
      <vt:lpstr>Bloque I —Caracterización de la muestra de docentes formados antes- durante –después (N°316)</vt:lpstr>
      <vt:lpstr>Bloque I — Universo Base: Selección y Composición de Aptos P3</vt:lpstr>
      <vt:lpstr>Bloque I — Tipos de Formación — Diagrama de Venn (nº 316 Aptos P3)</vt:lpstr>
      <vt:lpstr>Bloque I — Distribución de modalidades de formación</vt:lpstr>
      <vt:lpstr>Bloque I — Distribución de los docentes de la muestra según Tramo de Edad y Sexo</vt:lpstr>
      <vt:lpstr>Bloque I — Grado Académico Reconocido</vt:lpstr>
      <vt:lpstr>                Bloque I — Distribución por Unidad/Facultad</vt:lpstr>
      <vt:lpstr>Bloque I — Distribución de los docentes de la muestra según Antigüedad en la Institución </vt:lpstr>
      <vt:lpstr>Bloque I — Participación en iniciativas de formación según Antigüedad y Tipo de Formación</vt:lpstr>
      <vt:lpstr>Bloque I — Distribución de los docentes de la muestra según Jerarquía Académica </vt:lpstr>
      <vt:lpstr>Bloque I — Participación por Jerarquía — Composición y Tasa Real</vt:lpstr>
      <vt:lpstr>Bloque I — Intensidad de Participación en Formación</vt:lpstr>
      <vt:lpstr>Bloque II — Satisfacción y Recomendación</vt:lpstr>
      <vt:lpstr>Bloque II — Derivación de Grupos: Evaluación de Satisfacción y Recomendación estudiantes</vt:lpstr>
      <vt:lpstr>Bloque II — Perfil por Facultad — Aptos P3 vs Grupo Control</vt:lpstr>
      <vt:lpstr>Bloque II — SAT z-score: Formados vs Control — 6 Períodos</vt:lpstr>
      <vt:lpstr>Bloque II — % de Recomendación Estudiantil — Formados P3 vs No Formados</vt:lpstr>
      <vt:lpstr>Bloque II — SAT — Grupo Selecto: Mejores vs Peores por Quintil SAT Baseline</vt:lpstr>
      <vt:lpstr>Bloque III —Rendimiento Académico</vt:lpstr>
      <vt:lpstr>Bloque III — Muestra de Grupos: Rendimiento Académico</vt:lpstr>
      <vt:lpstr>Bloque III — Perfil Demográfico: Formados vs Control (Rendimiento Académico)</vt:lpstr>
      <vt:lpstr>Bloque III — Incidencia del Plan de Formación en el Rendimiento Académico de Estudiantes </vt:lpstr>
      <vt:lpstr>Presentación de PowerPoint</vt:lpstr>
      <vt:lpstr>Bloque III — Incidencia del Plan de Formación en el Rendimiento Académico</vt:lpstr>
      <vt:lpstr>Bloque III — Rendimiento Académico por Facultad — Formados vs Control</vt:lpstr>
      <vt:lpstr>Bloque III — Evolución Nota Promedio Alumnos — Aptos P3 vs Control</vt:lpstr>
      <vt:lpstr>Bloque IV —Evaluación de Desempeño Docente (EDD)</vt:lpstr>
      <vt:lpstr>Bloque IV — Muestra de Grupos: Evaluación de Desempeño Docente (EDD)</vt:lpstr>
      <vt:lpstr>Bloque IV — Perfil Formados vs Control (EDD)</vt:lpstr>
      <vt:lpstr>Bloque IV — EDD por Tipo de Formación — Promedio vs Control</vt:lpstr>
      <vt:lpstr>Bloque IV — Evolución EDD — Aptos P3 vs Control (2022–2025)</vt:lpstr>
      <vt:lpstr>Bloque IV — Seguimiento trayectorias únicas EDD</vt:lpstr>
      <vt:lpstr>Bloque IV — EDD por Facultad — Formados vs Control</vt:lpstr>
      <vt:lpstr>Conclusiones y 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Daniela Prieto</dc:creator>
  <cp:lastModifiedBy>Renato Gonzalez</cp:lastModifiedBy>
  <cp:revision>3</cp:revision>
  <dcterms:created xsi:type="dcterms:W3CDTF">2026-07-22T23:36:05Z</dcterms:created>
  <dcterms:modified xsi:type="dcterms:W3CDTF">2026-07-31T19:17:06Z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2026-07-22T00:00:00Z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2026-07-22T00:00:00Z</vt:filetime>
  </property>
</Properties>
</file>